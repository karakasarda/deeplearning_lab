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9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Aptos" charset="1" panose="020B0004020202020204"/>
      <p:regular r:id="rId22"/>
    </p:embeddedFont>
    <p:embeddedFont>
      <p:font typeface="Aptos Bold" charset="1" panose="020B0004020202020204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notesMasters/notesMaster1.xml" Type="http://schemas.openxmlformats.org/officeDocument/2006/relationships/notesMaster"/><Relationship Id="rId2" Target="presProps.xml" Type="http://schemas.openxmlformats.org/officeDocument/2006/relationships/presProps"/><Relationship Id="rId20" Target="theme/theme2.xml" Type="http://schemas.openxmlformats.org/officeDocument/2006/relationships/theme"/><Relationship Id="rId21" Target="notesSlides/notesSlide1.xml" Type="http://schemas.openxmlformats.org/officeDocument/2006/relationships/notesSlide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notesSlides/notesSlide2.xml" Type="http://schemas.openxmlformats.org/officeDocument/2006/relationships/notesSlide"/><Relationship Id="rId25" Target="notesSlides/notesSlide3.xml" Type="http://schemas.openxmlformats.org/officeDocument/2006/relationships/notesSlide"/><Relationship Id="rId26" Target="notesSlides/notesSlide4.xml" Type="http://schemas.openxmlformats.org/officeDocument/2006/relationships/notesSlide"/><Relationship Id="rId27" Target="notesSlides/notesSlide5.xml" Type="http://schemas.openxmlformats.org/officeDocument/2006/relationships/notesSlide"/><Relationship Id="rId28" Target="notesSlides/notesSlide6.xml" Type="http://schemas.openxmlformats.org/officeDocument/2006/relationships/notesSlide"/><Relationship Id="rId29" Target="notesSlides/notesSlide7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8.xml" Type="http://schemas.openxmlformats.org/officeDocument/2006/relationships/notesSlide"/><Relationship Id="rId31" Target="notesSlides/notesSlide9.xml" Type="http://schemas.openxmlformats.org/officeDocument/2006/relationships/notesSlide"/><Relationship Id="rId32" Target="notesSlides/notesSlide10.xml" Type="http://schemas.openxmlformats.org/officeDocument/2006/relationships/notesSlide"/><Relationship Id="rId33" Target="notesSlides/notesSlide11.xml" Type="http://schemas.openxmlformats.org/officeDocument/2006/relationships/notesSlide"/><Relationship Id="rId34" Target="notesSlides/notesSlide12.xml" Type="http://schemas.openxmlformats.org/officeDocument/2006/relationships/notesSlide"/><Relationship Id="rId35" Target="notesSlides/notesSlide13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Relationship Id="rId4" Target="../media/image5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Relationship Id="rId4" Target="../media/image6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jpeg" Type="http://schemas.openxmlformats.org/officeDocument/2006/relationships/image"/><Relationship Id="rId4" Target="../media/image7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1.jpeg" Type="http://schemas.openxmlformats.org/officeDocument/2006/relationships/image"/><Relationship Id="rId4" Target="../media/image8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1.jpeg" Type="http://schemas.openxmlformats.org/officeDocument/2006/relationships/image"/><Relationship Id="rId4" Target="../media/image9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449" y="-9449"/>
            <a:ext cx="18306002" cy="10305364"/>
            <a:chOff x="0" y="0"/>
            <a:chExt cx="24408003" cy="137404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573" y="12573"/>
              <a:ext cx="24382857" cy="13715364"/>
            </a:xfrm>
            <a:custGeom>
              <a:avLst/>
              <a:gdLst/>
              <a:ahLst/>
              <a:cxnLst/>
              <a:rect r="r" b="b" t="t" l="l"/>
              <a:pathLst>
                <a:path h="13715364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3715364"/>
                  </a:lnTo>
                  <a:lnTo>
                    <a:pt x="0" y="13715364"/>
                  </a:lnTo>
                  <a:close/>
                </a:path>
              </a:pathLst>
            </a:custGeom>
            <a:solidFill>
              <a:srgbClr val="F7F9FC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408003" cy="13740510"/>
            </a:xfrm>
            <a:custGeom>
              <a:avLst/>
              <a:gdLst/>
              <a:ahLst/>
              <a:cxnLst/>
              <a:rect r="r" b="b" t="t" l="l"/>
              <a:pathLst>
                <a:path h="13740510" w="24408003">
                  <a:moveTo>
                    <a:pt x="12573" y="0"/>
                  </a:moveTo>
                  <a:lnTo>
                    <a:pt x="24395430" y="0"/>
                  </a:lnTo>
                  <a:cubicBezTo>
                    <a:pt x="24402416" y="0"/>
                    <a:pt x="24408003" y="5588"/>
                    <a:pt x="24408003" y="12573"/>
                  </a:cubicBezTo>
                  <a:lnTo>
                    <a:pt x="24408003" y="13727937"/>
                  </a:lnTo>
                  <a:cubicBezTo>
                    <a:pt x="24408003" y="13734923"/>
                    <a:pt x="24402416" y="13740510"/>
                    <a:pt x="24395430" y="13740510"/>
                  </a:cubicBezTo>
                  <a:lnTo>
                    <a:pt x="12573" y="13740510"/>
                  </a:lnTo>
                  <a:cubicBezTo>
                    <a:pt x="5588" y="13740510"/>
                    <a:pt x="0" y="13734923"/>
                    <a:pt x="0" y="13727937"/>
                  </a:cubicBezTo>
                  <a:lnTo>
                    <a:pt x="0" y="12573"/>
                  </a:lnTo>
                  <a:cubicBezTo>
                    <a:pt x="0" y="5588"/>
                    <a:pt x="5588" y="0"/>
                    <a:pt x="12573" y="0"/>
                  </a:cubicBezTo>
                  <a:moveTo>
                    <a:pt x="12573" y="25146"/>
                  </a:moveTo>
                  <a:lnTo>
                    <a:pt x="12573" y="12573"/>
                  </a:lnTo>
                  <a:lnTo>
                    <a:pt x="25146" y="12573"/>
                  </a:lnTo>
                  <a:lnTo>
                    <a:pt x="25146" y="13727937"/>
                  </a:lnTo>
                  <a:lnTo>
                    <a:pt x="12573" y="13727937"/>
                  </a:lnTo>
                  <a:lnTo>
                    <a:pt x="12573" y="13715364"/>
                  </a:lnTo>
                  <a:lnTo>
                    <a:pt x="24395430" y="13715364"/>
                  </a:lnTo>
                  <a:lnTo>
                    <a:pt x="24395430" y="13727937"/>
                  </a:lnTo>
                  <a:lnTo>
                    <a:pt x="24382857" y="13727937"/>
                  </a:lnTo>
                  <a:lnTo>
                    <a:pt x="24382857" y="12573"/>
                  </a:lnTo>
                  <a:lnTo>
                    <a:pt x="24395430" y="12573"/>
                  </a:lnTo>
                  <a:lnTo>
                    <a:pt x="24395430" y="25146"/>
                  </a:lnTo>
                  <a:lnTo>
                    <a:pt x="12573" y="25146"/>
                  </a:lnTo>
                  <a:close/>
                </a:path>
              </a:pathLst>
            </a:custGeom>
            <a:solidFill>
              <a:srgbClr val="F7F9F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883977" y="9703260"/>
            <a:ext cx="16542896" cy="15659"/>
            <a:chOff x="0" y="0"/>
            <a:chExt cx="22057195" cy="2087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033" y="0"/>
              <a:ext cx="22037040" cy="20955"/>
            </a:xfrm>
            <a:custGeom>
              <a:avLst/>
              <a:gdLst/>
              <a:ahLst/>
              <a:cxnLst/>
              <a:rect r="r" b="b" t="t" l="l"/>
              <a:pathLst>
                <a:path h="20955" w="22037040">
                  <a:moveTo>
                    <a:pt x="0" y="0"/>
                  </a:moveTo>
                  <a:lnTo>
                    <a:pt x="22037040" y="762"/>
                  </a:lnTo>
                  <a:lnTo>
                    <a:pt x="22037040" y="20955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D9E3EA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891540" y="9820437"/>
            <a:ext cx="3016977" cy="273777"/>
            <a:chOff x="0" y="0"/>
            <a:chExt cx="4022636" cy="3650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022640" cy="365040"/>
            </a:xfrm>
            <a:custGeom>
              <a:avLst/>
              <a:gdLst/>
              <a:ahLst/>
              <a:cxnLst/>
              <a:rect r="r" b="b" t="t" l="l"/>
              <a:pathLst>
                <a:path h="365040" w="4022640">
                  <a:moveTo>
                    <a:pt x="0" y="0"/>
                  </a:moveTo>
                  <a:lnTo>
                    <a:pt x="4022640" y="0"/>
                  </a:lnTo>
                  <a:lnTo>
                    <a:pt x="402264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4720" r="0" b="-16471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4022636" cy="3650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170"/>
                </a:lnSpc>
              </a:pPr>
              <a:r>
                <a:rPr lang="en-US" sz="975">
                  <a:solidFill>
                    <a:srgbClr val="6B7A88"/>
                  </a:solidFill>
                  <a:latin typeface="Aptos"/>
                  <a:ea typeface="Aptos"/>
                  <a:cs typeface="Aptos"/>
                  <a:sym typeface="Aptos"/>
                </a:rPr>
                <a:t>YZM304 Project 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2424" y="-18364"/>
            <a:ext cx="18306002" cy="10305364"/>
            <a:chOff x="0" y="0"/>
            <a:chExt cx="24408003" cy="137404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12573" y="12573"/>
              <a:ext cx="24382857" cy="13715364"/>
            </a:xfrm>
            <a:custGeom>
              <a:avLst/>
              <a:gdLst/>
              <a:ahLst/>
              <a:cxnLst/>
              <a:rect r="r" b="b" t="t" l="l"/>
              <a:pathLst>
                <a:path h="13715364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3715364"/>
                  </a:lnTo>
                  <a:lnTo>
                    <a:pt x="0" y="13715364"/>
                  </a:lnTo>
                  <a:close/>
                </a:path>
              </a:pathLst>
            </a:custGeom>
            <a:solidFill>
              <a:srgbClr val="0B1F33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4408003" cy="13740510"/>
            </a:xfrm>
            <a:custGeom>
              <a:avLst/>
              <a:gdLst/>
              <a:ahLst/>
              <a:cxnLst/>
              <a:rect r="r" b="b" t="t" l="l"/>
              <a:pathLst>
                <a:path h="13740510" w="24408003">
                  <a:moveTo>
                    <a:pt x="12573" y="0"/>
                  </a:moveTo>
                  <a:lnTo>
                    <a:pt x="24395430" y="0"/>
                  </a:lnTo>
                  <a:cubicBezTo>
                    <a:pt x="24402416" y="0"/>
                    <a:pt x="24408003" y="5588"/>
                    <a:pt x="24408003" y="12573"/>
                  </a:cubicBezTo>
                  <a:lnTo>
                    <a:pt x="24408003" y="13727937"/>
                  </a:lnTo>
                  <a:cubicBezTo>
                    <a:pt x="24408003" y="13734923"/>
                    <a:pt x="24402416" y="13740510"/>
                    <a:pt x="24395430" y="13740510"/>
                  </a:cubicBezTo>
                  <a:lnTo>
                    <a:pt x="12573" y="13740510"/>
                  </a:lnTo>
                  <a:cubicBezTo>
                    <a:pt x="5588" y="13740510"/>
                    <a:pt x="0" y="13734923"/>
                    <a:pt x="0" y="13727937"/>
                  </a:cubicBezTo>
                  <a:lnTo>
                    <a:pt x="0" y="12573"/>
                  </a:lnTo>
                  <a:cubicBezTo>
                    <a:pt x="0" y="5588"/>
                    <a:pt x="5588" y="0"/>
                    <a:pt x="12573" y="0"/>
                  </a:cubicBezTo>
                  <a:moveTo>
                    <a:pt x="12573" y="25146"/>
                  </a:moveTo>
                  <a:lnTo>
                    <a:pt x="12573" y="12573"/>
                  </a:lnTo>
                  <a:lnTo>
                    <a:pt x="25146" y="12573"/>
                  </a:lnTo>
                  <a:lnTo>
                    <a:pt x="25146" y="13727937"/>
                  </a:lnTo>
                  <a:lnTo>
                    <a:pt x="12573" y="13727937"/>
                  </a:lnTo>
                  <a:lnTo>
                    <a:pt x="12573" y="13715364"/>
                  </a:lnTo>
                  <a:lnTo>
                    <a:pt x="24395430" y="13715364"/>
                  </a:lnTo>
                  <a:lnTo>
                    <a:pt x="24395430" y="13727937"/>
                  </a:lnTo>
                  <a:lnTo>
                    <a:pt x="24382857" y="13727937"/>
                  </a:lnTo>
                  <a:lnTo>
                    <a:pt x="24382857" y="12573"/>
                  </a:lnTo>
                  <a:lnTo>
                    <a:pt x="24395430" y="12573"/>
                  </a:lnTo>
                  <a:lnTo>
                    <a:pt x="24395430" y="25146"/>
                  </a:lnTo>
                  <a:lnTo>
                    <a:pt x="12573" y="25146"/>
                  </a:lnTo>
                  <a:close/>
                </a:path>
              </a:pathLst>
            </a:custGeom>
            <a:solidFill>
              <a:srgbClr val="0B1F33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891540" y="754380"/>
            <a:ext cx="3016977" cy="301323"/>
            <a:chOff x="0" y="0"/>
            <a:chExt cx="4022636" cy="40176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022640" cy="401760"/>
            </a:xfrm>
            <a:custGeom>
              <a:avLst/>
              <a:gdLst/>
              <a:ahLst/>
              <a:cxnLst/>
              <a:rect r="r" b="b" t="t" l="l"/>
              <a:pathLst>
                <a:path h="401760" w="4022640">
                  <a:moveTo>
                    <a:pt x="0" y="0"/>
                  </a:moveTo>
                  <a:lnTo>
                    <a:pt x="4022640" y="0"/>
                  </a:lnTo>
                  <a:lnTo>
                    <a:pt x="4022640" y="401760"/>
                  </a:lnTo>
                  <a:lnTo>
                    <a:pt x="0" y="401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5094" r="0" b="-145095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4022636" cy="4017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39"/>
                </a:lnSpc>
              </a:pPr>
              <a:r>
                <a:rPr lang="en-US" sz="1200" b="true">
                  <a:solidFill>
                    <a:srgbClr val="8FDCC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PROJECT 4 / YZM304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32855" y="1393854"/>
            <a:ext cx="10217877" cy="2340156"/>
            <a:chOff x="0" y="0"/>
            <a:chExt cx="13623836" cy="312020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3623840" cy="3120211"/>
            </a:xfrm>
            <a:custGeom>
              <a:avLst/>
              <a:gdLst/>
              <a:ahLst/>
              <a:cxnLst/>
              <a:rect r="r" b="b" t="t" l="l"/>
              <a:pathLst>
                <a:path h="3120211" w="13623840">
                  <a:moveTo>
                    <a:pt x="0" y="0"/>
                  </a:moveTo>
                  <a:lnTo>
                    <a:pt x="13623840" y="0"/>
                  </a:lnTo>
                  <a:lnTo>
                    <a:pt x="13623840" y="3120211"/>
                  </a:lnTo>
                  <a:lnTo>
                    <a:pt x="0" y="31202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4318" r="0" b="-15837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57150"/>
              <a:ext cx="13623836" cy="3063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268"/>
                </a:lnSpc>
              </a:pPr>
              <a:r>
                <a:rPr lang="en-US" sz="3952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Birleştirilmiş ve Dengesiz Türkçe Toksisite Verisinde Transformer Modellerin Kalibrasyon ve Eşik Politikalarıyla Değerlendirilmesi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58326" y="4191210"/>
            <a:ext cx="2809618" cy="66961"/>
            <a:chOff x="0" y="0"/>
            <a:chExt cx="3746157" cy="8928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44323" y="0"/>
              <a:ext cx="3657600" cy="89281"/>
            </a:xfrm>
            <a:custGeom>
              <a:avLst/>
              <a:gdLst/>
              <a:ahLst/>
              <a:cxnLst/>
              <a:rect r="r" b="b" t="t" l="l"/>
              <a:pathLst>
                <a:path h="89281" w="3657600">
                  <a:moveTo>
                    <a:pt x="0" y="0"/>
                  </a:moveTo>
                  <a:lnTo>
                    <a:pt x="3657600" y="762"/>
                  </a:lnTo>
                  <a:lnTo>
                    <a:pt x="3657600" y="89281"/>
                  </a:lnTo>
                  <a:lnTo>
                    <a:pt x="0" y="88519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932855" y="6271909"/>
            <a:ext cx="4539777" cy="1442088"/>
            <a:chOff x="0" y="0"/>
            <a:chExt cx="6053036" cy="192278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9271" y="3937"/>
              <a:ext cx="6034405" cy="1914927"/>
            </a:xfrm>
            <a:custGeom>
              <a:avLst/>
              <a:gdLst/>
              <a:ahLst/>
              <a:cxnLst/>
              <a:rect r="r" b="b" t="t" l="l"/>
              <a:pathLst>
                <a:path h="1914927" w="6034405">
                  <a:moveTo>
                    <a:pt x="127" y="45966"/>
                  </a:moveTo>
                  <a:cubicBezTo>
                    <a:pt x="127" y="20536"/>
                    <a:pt x="49276" y="0"/>
                    <a:pt x="109855" y="0"/>
                  </a:cubicBezTo>
                  <a:lnTo>
                    <a:pt x="5924550" y="0"/>
                  </a:lnTo>
                  <a:cubicBezTo>
                    <a:pt x="5985256" y="0"/>
                    <a:pt x="6034405" y="20589"/>
                    <a:pt x="6034405" y="45966"/>
                  </a:cubicBezTo>
                  <a:lnTo>
                    <a:pt x="6034405" y="1868961"/>
                  </a:lnTo>
                  <a:cubicBezTo>
                    <a:pt x="6034405" y="1894338"/>
                    <a:pt x="5985256" y="1914927"/>
                    <a:pt x="5924550" y="1914927"/>
                  </a:cubicBezTo>
                  <a:lnTo>
                    <a:pt x="109855" y="1914927"/>
                  </a:lnTo>
                  <a:cubicBezTo>
                    <a:pt x="49149" y="1914927"/>
                    <a:pt x="0" y="1894338"/>
                    <a:pt x="0" y="1868961"/>
                  </a:cubicBezTo>
                  <a:close/>
                </a:path>
              </a:pathLst>
            </a:custGeom>
            <a:solidFill>
              <a:srgbClr val="12304A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052947" cy="1922823"/>
            </a:xfrm>
            <a:custGeom>
              <a:avLst/>
              <a:gdLst/>
              <a:ahLst/>
              <a:cxnLst/>
              <a:rect r="r" b="b" t="t" l="l"/>
              <a:pathLst>
                <a:path h="1922823" w="6052947">
                  <a:moveTo>
                    <a:pt x="0" y="49903"/>
                  </a:moveTo>
                  <a:cubicBezTo>
                    <a:pt x="0" y="22345"/>
                    <a:pt x="53340" y="0"/>
                    <a:pt x="119126" y="0"/>
                  </a:cubicBezTo>
                  <a:lnTo>
                    <a:pt x="5933821" y="0"/>
                  </a:lnTo>
                  <a:lnTo>
                    <a:pt x="5933821" y="3937"/>
                  </a:lnTo>
                  <a:lnTo>
                    <a:pt x="5933821" y="0"/>
                  </a:lnTo>
                  <a:cubicBezTo>
                    <a:pt x="5999607" y="0"/>
                    <a:pt x="6052947" y="22345"/>
                    <a:pt x="6052947" y="49903"/>
                  </a:cubicBezTo>
                  <a:lnTo>
                    <a:pt x="6043549" y="49903"/>
                  </a:lnTo>
                  <a:lnTo>
                    <a:pt x="6052947" y="49903"/>
                  </a:lnTo>
                  <a:lnTo>
                    <a:pt x="6052947" y="1872898"/>
                  </a:lnTo>
                  <a:lnTo>
                    <a:pt x="6043549" y="1872898"/>
                  </a:lnTo>
                  <a:lnTo>
                    <a:pt x="6052947" y="1872898"/>
                  </a:lnTo>
                  <a:cubicBezTo>
                    <a:pt x="6052947" y="1900456"/>
                    <a:pt x="5999607" y="1922823"/>
                    <a:pt x="5933821" y="1922823"/>
                  </a:cubicBezTo>
                  <a:lnTo>
                    <a:pt x="5933821" y="1918864"/>
                  </a:lnTo>
                  <a:lnTo>
                    <a:pt x="5933821" y="1922823"/>
                  </a:lnTo>
                  <a:lnTo>
                    <a:pt x="119126" y="1922823"/>
                  </a:lnTo>
                  <a:lnTo>
                    <a:pt x="119126" y="1918864"/>
                  </a:lnTo>
                  <a:lnTo>
                    <a:pt x="119126" y="1922823"/>
                  </a:lnTo>
                  <a:cubicBezTo>
                    <a:pt x="53340" y="1922823"/>
                    <a:pt x="0" y="1900456"/>
                    <a:pt x="0" y="1872898"/>
                  </a:cubicBezTo>
                  <a:lnTo>
                    <a:pt x="0" y="49903"/>
                  </a:lnTo>
                  <a:lnTo>
                    <a:pt x="9398" y="49903"/>
                  </a:lnTo>
                  <a:lnTo>
                    <a:pt x="0" y="49903"/>
                  </a:lnTo>
                  <a:moveTo>
                    <a:pt x="18669" y="49903"/>
                  </a:moveTo>
                  <a:lnTo>
                    <a:pt x="18669" y="1872898"/>
                  </a:lnTo>
                  <a:lnTo>
                    <a:pt x="9398" y="1872898"/>
                  </a:lnTo>
                  <a:lnTo>
                    <a:pt x="18796" y="1872898"/>
                  </a:lnTo>
                  <a:cubicBezTo>
                    <a:pt x="18796" y="1896094"/>
                    <a:pt x="63754" y="1914927"/>
                    <a:pt x="119253" y="1914927"/>
                  </a:cubicBezTo>
                  <a:lnTo>
                    <a:pt x="5933821" y="1914927"/>
                  </a:lnTo>
                  <a:cubicBezTo>
                    <a:pt x="5989320" y="1914927"/>
                    <a:pt x="6034278" y="1896094"/>
                    <a:pt x="6034278" y="1872898"/>
                  </a:cubicBezTo>
                  <a:lnTo>
                    <a:pt x="6034278" y="49903"/>
                  </a:lnTo>
                  <a:cubicBezTo>
                    <a:pt x="6034278" y="26707"/>
                    <a:pt x="5989320" y="7874"/>
                    <a:pt x="5933821" y="7874"/>
                  </a:cubicBezTo>
                  <a:lnTo>
                    <a:pt x="119126" y="7874"/>
                  </a:lnTo>
                  <a:lnTo>
                    <a:pt x="119126" y="3937"/>
                  </a:lnTo>
                  <a:lnTo>
                    <a:pt x="119126" y="7874"/>
                  </a:lnTo>
                  <a:cubicBezTo>
                    <a:pt x="63627" y="7874"/>
                    <a:pt x="18669" y="26707"/>
                    <a:pt x="18669" y="49903"/>
                  </a:cubicBezTo>
                  <a:close/>
                </a:path>
              </a:pathLst>
            </a:custGeom>
            <a:solidFill>
              <a:srgbClr val="C9D6DF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419935" y="5600681"/>
            <a:ext cx="3771357" cy="2760069"/>
            <a:chOff x="0" y="0"/>
            <a:chExt cx="5028476" cy="368009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028480" cy="3680090"/>
            </a:xfrm>
            <a:custGeom>
              <a:avLst/>
              <a:gdLst/>
              <a:ahLst/>
              <a:cxnLst/>
              <a:rect r="r" b="b" t="t" l="l"/>
              <a:pathLst>
                <a:path h="3680090" w="5028480">
                  <a:moveTo>
                    <a:pt x="0" y="0"/>
                  </a:moveTo>
                  <a:lnTo>
                    <a:pt x="5028480" y="0"/>
                  </a:lnTo>
                  <a:lnTo>
                    <a:pt x="5028480" y="3680090"/>
                  </a:lnTo>
                  <a:lnTo>
                    <a:pt x="0" y="36800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666" r="0" b="67418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9525"/>
              <a:ext cx="5028476" cy="36705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99"/>
                </a:lnSpc>
              </a:pPr>
              <a:r>
                <a:rPr lang="en-US" sz="2499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Arda Karakaş </a:t>
              </a:r>
            </a:p>
            <a:p>
              <a:pPr algn="l">
                <a:lnSpc>
                  <a:spcPts val="2999"/>
                </a:lnSpc>
              </a:pPr>
              <a:r>
                <a:rPr lang="en-US" sz="2499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23291414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891540" y="8983980"/>
            <a:ext cx="16321497" cy="383400"/>
            <a:chOff x="0" y="0"/>
            <a:chExt cx="21761996" cy="5112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1762000" cy="511200"/>
            </a:xfrm>
            <a:custGeom>
              <a:avLst/>
              <a:gdLst/>
              <a:ahLst/>
              <a:cxnLst/>
              <a:rect r="r" b="b" t="t" l="l"/>
              <a:pathLst>
                <a:path h="511200" w="21762000">
                  <a:moveTo>
                    <a:pt x="0" y="0"/>
                  </a:moveTo>
                  <a:lnTo>
                    <a:pt x="21762000" y="0"/>
                  </a:lnTo>
                  <a:lnTo>
                    <a:pt x="21762000" y="511200"/>
                  </a:lnTo>
                  <a:lnTo>
                    <a:pt x="0" y="511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79486" r="0" b="-779486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21761996" cy="5207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55"/>
                </a:lnSpc>
              </a:pPr>
              <a:r>
                <a:rPr lang="en-US" sz="1380">
                  <a:solidFill>
                    <a:srgbClr val="BFD3DF"/>
                  </a:solidFill>
                  <a:latin typeface="Aptos"/>
                  <a:ea typeface="Aptos"/>
                  <a:cs typeface="Aptos"/>
                  <a:sym typeface="Aptos"/>
                </a:rPr>
                <a:t>77.800 satır · 5 sınıf · 3 baseline + 6 transformer koşusu · temperature scaling + threshold sweep</a:t>
              </a:r>
            </a:p>
          </p:txBody>
        </p:sp>
      </p:grpSp>
      <p:sp>
        <p:nvSpPr>
          <p:cNvPr name="Freeform 30" id="30"/>
          <p:cNvSpPr/>
          <p:nvPr/>
        </p:nvSpPr>
        <p:spPr>
          <a:xfrm flipH="false" flipV="false" rot="0">
            <a:off x="16372924" y="169328"/>
            <a:ext cx="1772751" cy="1772751"/>
          </a:xfrm>
          <a:custGeom>
            <a:avLst/>
            <a:gdLst/>
            <a:ahLst/>
            <a:cxnLst/>
            <a:rect r="r" b="b" t="t" l="l"/>
            <a:pathLst>
              <a:path h="1772751" w="1772751">
                <a:moveTo>
                  <a:pt x="0" y="0"/>
                </a:moveTo>
                <a:lnTo>
                  <a:pt x="1772752" y="0"/>
                </a:lnTo>
                <a:lnTo>
                  <a:pt x="1772752" y="1772751"/>
                </a:lnTo>
                <a:lnTo>
                  <a:pt x="0" y="177275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449" y="-9449"/>
            <a:ext cx="18306002" cy="10305364"/>
            <a:chOff x="0" y="0"/>
            <a:chExt cx="24408003" cy="137404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573" y="12573"/>
              <a:ext cx="24382857" cy="13715364"/>
            </a:xfrm>
            <a:custGeom>
              <a:avLst/>
              <a:gdLst/>
              <a:ahLst/>
              <a:cxnLst/>
              <a:rect r="r" b="b" t="t" l="l"/>
              <a:pathLst>
                <a:path h="13715364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3715364"/>
                  </a:lnTo>
                  <a:lnTo>
                    <a:pt x="0" y="13715364"/>
                  </a:lnTo>
                  <a:close/>
                </a:path>
              </a:pathLst>
            </a:custGeom>
            <a:solidFill>
              <a:srgbClr val="F7F9FC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408003" cy="13740510"/>
            </a:xfrm>
            <a:custGeom>
              <a:avLst/>
              <a:gdLst/>
              <a:ahLst/>
              <a:cxnLst/>
              <a:rect r="r" b="b" t="t" l="l"/>
              <a:pathLst>
                <a:path h="13740510" w="24408003">
                  <a:moveTo>
                    <a:pt x="12573" y="0"/>
                  </a:moveTo>
                  <a:lnTo>
                    <a:pt x="24395430" y="0"/>
                  </a:lnTo>
                  <a:cubicBezTo>
                    <a:pt x="24402416" y="0"/>
                    <a:pt x="24408003" y="5588"/>
                    <a:pt x="24408003" y="12573"/>
                  </a:cubicBezTo>
                  <a:lnTo>
                    <a:pt x="24408003" y="13727937"/>
                  </a:lnTo>
                  <a:cubicBezTo>
                    <a:pt x="24408003" y="13734923"/>
                    <a:pt x="24402416" y="13740510"/>
                    <a:pt x="24395430" y="13740510"/>
                  </a:cubicBezTo>
                  <a:lnTo>
                    <a:pt x="12573" y="13740510"/>
                  </a:lnTo>
                  <a:cubicBezTo>
                    <a:pt x="5588" y="13740510"/>
                    <a:pt x="0" y="13734923"/>
                    <a:pt x="0" y="13727937"/>
                  </a:cubicBezTo>
                  <a:lnTo>
                    <a:pt x="0" y="12573"/>
                  </a:lnTo>
                  <a:cubicBezTo>
                    <a:pt x="0" y="5588"/>
                    <a:pt x="5588" y="0"/>
                    <a:pt x="12573" y="0"/>
                  </a:cubicBezTo>
                  <a:moveTo>
                    <a:pt x="12573" y="25146"/>
                  </a:moveTo>
                  <a:lnTo>
                    <a:pt x="12573" y="12573"/>
                  </a:lnTo>
                  <a:lnTo>
                    <a:pt x="25146" y="12573"/>
                  </a:lnTo>
                  <a:lnTo>
                    <a:pt x="25146" y="13727937"/>
                  </a:lnTo>
                  <a:lnTo>
                    <a:pt x="12573" y="13727937"/>
                  </a:lnTo>
                  <a:lnTo>
                    <a:pt x="12573" y="13715364"/>
                  </a:lnTo>
                  <a:lnTo>
                    <a:pt x="24395430" y="13715364"/>
                  </a:lnTo>
                  <a:lnTo>
                    <a:pt x="24395430" y="13727937"/>
                  </a:lnTo>
                  <a:lnTo>
                    <a:pt x="24382857" y="13727937"/>
                  </a:lnTo>
                  <a:lnTo>
                    <a:pt x="24382857" y="12573"/>
                  </a:lnTo>
                  <a:lnTo>
                    <a:pt x="24395430" y="12573"/>
                  </a:lnTo>
                  <a:lnTo>
                    <a:pt x="24395430" y="25146"/>
                  </a:lnTo>
                  <a:lnTo>
                    <a:pt x="12573" y="25146"/>
                  </a:lnTo>
                  <a:close/>
                </a:path>
              </a:pathLst>
            </a:custGeom>
            <a:solidFill>
              <a:srgbClr val="F7F9F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883977" y="9703260"/>
            <a:ext cx="16542896" cy="15659"/>
            <a:chOff x="0" y="0"/>
            <a:chExt cx="22057195" cy="2087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033" y="0"/>
              <a:ext cx="22037040" cy="20955"/>
            </a:xfrm>
            <a:custGeom>
              <a:avLst/>
              <a:gdLst/>
              <a:ahLst/>
              <a:cxnLst/>
              <a:rect r="r" b="b" t="t" l="l"/>
              <a:pathLst>
                <a:path h="20955" w="22037040">
                  <a:moveTo>
                    <a:pt x="0" y="0"/>
                  </a:moveTo>
                  <a:lnTo>
                    <a:pt x="22037040" y="762"/>
                  </a:lnTo>
                  <a:lnTo>
                    <a:pt x="22037040" y="20955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D9E3EA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891540" y="9820437"/>
            <a:ext cx="3016977" cy="273777"/>
            <a:chOff x="0" y="0"/>
            <a:chExt cx="4022636" cy="3650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022640" cy="365040"/>
            </a:xfrm>
            <a:custGeom>
              <a:avLst/>
              <a:gdLst/>
              <a:ahLst/>
              <a:cxnLst/>
              <a:rect r="r" b="b" t="t" l="l"/>
              <a:pathLst>
                <a:path h="365040" w="4022640">
                  <a:moveTo>
                    <a:pt x="0" y="0"/>
                  </a:moveTo>
                  <a:lnTo>
                    <a:pt x="4022640" y="0"/>
                  </a:lnTo>
                  <a:lnTo>
                    <a:pt x="402264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4720" r="0" b="-16471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4022636" cy="3650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170"/>
                </a:lnSpc>
              </a:pPr>
              <a:r>
                <a:rPr lang="en-US" sz="975">
                  <a:solidFill>
                    <a:srgbClr val="6B7A88"/>
                  </a:solidFill>
                  <a:latin typeface="Aptos"/>
                  <a:ea typeface="Aptos"/>
                  <a:cs typeface="Aptos"/>
                  <a:sym typeface="Aptos"/>
                </a:rPr>
                <a:t>YZM304 Project 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853160" y="480060"/>
            <a:ext cx="3497037" cy="273777"/>
            <a:chOff x="0" y="0"/>
            <a:chExt cx="4662716" cy="36503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662720" cy="365040"/>
            </a:xfrm>
            <a:custGeom>
              <a:avLst/>
              <a:gdLst/>
              <a:ahLst/>
              <a:cxnLst/>
              <a:rect r="r" b="b" t="t" l="l"/>
              <a:pathLst>
                <a:path h="365040" w="4662720">
                  <a:moveTo>
                    <a:pt x="0" y="0"/>
                  </a:moveTo>
                  <a:lnTo>
                    <a:pt x="4662720" y="0"/>
                  </a:lnTo>
                  <a:lnTo>
                    <a:pt x="466272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886" r="0" b="-19888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4662716" cy="3745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INTRODUCTION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91540" y="576177"/>
            <a:ext cx="12206697" cy="603180"/>
            <a:chOff x="0" y="0"/>
            <a:chExt cx="16275596" cy="8042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6275600" cy="804240"/>
            </a:xfrm>
            <a:custGeom>
              <a:avLst/>
              <a:gdLst/>
              <a:ahLst/>
              <a:cxnLst/>
              <a:rect r="r" b="b" t="t" l="l"/>
              <a:pathLst>
                <a:path h="804240" w="16275600">
                  <a:moveTo>
                    <a:pt x="0" y="0"/>
                  </a:moveTo>
                  <a:lnTo>
                    <a:pt x="16275600" y="0"/>
                  </a:lnTo>
                  <a:lnTo>
                    <a:pt x="16275600" y="804240"/>
                  </a:lnTo>
                  <a:lnTo>
                    <a:pt x="0" y="804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4323" r="0" b="-344323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16275596" cy="804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Araştırma sorusu ve katkı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62917" y="1369981"/>
            <a:ext cx="1223096" cy="57779"/>
            <a:chOff x="0" y="0"/>
            <a:chExt cx="1630794" cy="7703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38100" y="0"/>
              <a:ext cx="1554607" cy="77089"/>
            </a:xfrm>
            <a:custGeom>
              <a:avLst/>
              <a:gdLst/>
              <a:ahLst/>
              <a:cxnLst/>
              <a:rect r="r" b="b" t="t" l="l"/>
              <a:pathLst>
                <a:path h="77089" w="1554607">
                  <a:moveTo>
                    <a:pt x="127" y="0"/>
                  </a:moveTo>
                  <a:lnTo>
                    <a:pt x="1554607" y="762"/>
                  </a:lnTo>
                  <a:lnTo>
                    <a:pt x="1554607" y="77089"/>
                  </a:lnTo>
                  <a:lnTo>
                    <a:pt x="0" y="76327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891540" y="1563843"/>
            <a:ext cx="13166817" cy="342357"/>
            <a:chOff x="0" y="0"/>
            <a:chExt cx="17555756" cy="4564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555759" cy="456480"/>
            </a:xfrm>
            <a:custGeom>
              <a:avLst/>
              <a:gdLst/>
              <a:ahLst/>
              <a:cxnLst/>
              <a:rect r="r" b="b" t="t" l="l"/>
              <a:pathLst>
                <a:path h="456480" w="17555759">
                  <a:moveTo>
                    <a:pt x="0" y="0"/>
                  </a:moveTo>
                  <a:lnTo>
                    <a:pt x="17555759" y="0"/>
                  </a:lnTo>
                  <a:lnTo>
                    <a:pt x="17555759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375" r="0" b="-69937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7555756" cy="4564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Moderasyon problemi sadece “doğru sınıflandırma” değil, güvenilir karar üretme problemidir.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021680" y="2393280"/>
            <a:ext cx="4882677" cy="2535084"/>
            <a:chOff x="0" y="0"/>
            <a:chExt cx="6510236" cy="3380112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9398" y="10041"/>
              <a:ext cx="6491478" cy="3360044"/>
            </a:xfrm>
            <a:custGeom>
              <a:avLst/>
              <a:gdLst/>
              <a:ahLst/>
              <a:cxnLst/>
              <a:rect r="r" b="b" t="t" l="l"/>
              <a:pathLst>
                <a:path h="3360044" w="6491478">
                  <a:moveTo>
                    <a:pt x="0" y="117099"/>
                  </a:moveTo>
                  <a:cubicBezTo>
                    <a:pt x="0" y="52376"/>
                    <a:pt x="49276" y="0"/>
                    <a:pt x="109982" y="0"/>
                  </a:cubicBezTo>
                  <a:lnTo>
                    <a:pt x="6381496" y="0"/>
                  </a:lnTo>
                  <a:cubicBezTo>
                    <a:pt x="6442202" y="0"/>
                    <a:pt x="6491478" y="52511"/>
                    <a:pt x="6491478" y="117234"/>
                  </a:cubicBezTo>
                  <a:lnTo>
                    <a:pt x="6491478" y="3242809"/>
                  </a:lnTo>
                  <a:cubicBezTo>
                    <a:pt x="6491478" y="3307533"/>
                    <a:pt x="6442202" y="3360044"/>
                    <a:pt x="6381496" y="3360044"/>
                  </a:cubicBezTo>
                  <a:lnTo>
                    <a:pt x="109982" y="3360044"/>
                  </a:lnTo>
                  <a:cubicBezTo>
                    <a:pt x="49276" y="3360044"/>
                    <a:pt x="0" y="3307533"/>
                    <a:pt x="0" y="3242809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510274" cy="3379990"/>
            </a:xfrm>
            <a:custGeom>
              <a:avLst/>
              <a:gdLst/>
              <a:ahLst/>
              <a:cxnLst/>
              <a:rect r="r" b="b" t="t" l="l"/>
              <a:pathLst>
                <a:path h="3379990" w="6510274">
                  <a:moveTo>
                    <a:pt x="0" y="127140"/>
                  </a:moveTo>
                  <a:cubicBezTo>
                    <a:pt x="0" y="56853"/>
                    <a:pt x="53467" y="0"/>
                    <a:pt x="119380" y="0"/>
                  </a:cubicBezTo>
                  <a:lnTo>
                    <a:pt x="6390894" y="0"/>
                  </a:lnTo>
                  <a:lnTo>
                    <a:pt x="6390894" y="10041"/>
                  </a:lnTo>
                  <a:lnTo>
                    <a:pt x="6390894" y="0"/>
                  </a:lnTo>
                  <a:cubicBezTo>
                    <a:pt x="6456807" y="0"/>
                    <a:pt x="6510274" y="56853"/>
                    <a:pt x="6510274" y="127140"/>
                  </a:cubicBezTo>
                  <a:lnTo>
                    <a:pt x="6500876" y="127140"/>
                  </a:lnTo>
                  <a:lnTo>
                    <a:pt x="6510274" y="127140"/>
                  </a:lnTo>
                  <a:lnTo>
                    <a:pt x="6510274" y="3252850"/>
                  </a:lnTo>
                  <a:lnTo>
                    <a:pt x="6500876" y="3252850"/>
                  </a:lnTo>
                  <a:lnTo>
                    <a:pt x="6510274" y="3252850"/>
                  </a:lnTo>
                  <a:cubicBezTo>
                    <a:pt x="6510274" y="3323137"/>
                    <a:pt x="6456807" y="3379990"/>
                    <a:pt x="6390894" y="3379990"/>
                  </a:cubicBezTo>
                  <a:lnTo>
                    <a:pt x="6390894" y="3369949"/>
                  </a:lnTo>
                  <a:lnTo>
                    <a:pt x="6390894" y="3379990"/>
                  </a:lnTo>
                  <a:lnTo>
                    <a:pt x="119380" y="3379990"/>
                  </a:lnTo>
                  <a:lnTo>
                    <a:pt x="119380" y="3369949"/>
                  </a:lnTo>
                  <a:lnTo>
                    <a:pt x="119380" y="3379990"/>
                  </a:lnTo>
                  <a:cubicBezTo>
                    <a:pt x="53467" y="3379990"/>
                    <a:pt x="0" y="3323137"/>
                    <a:pt x="0" y="3252850"/>
                  </a:cubicBezTo>
                  <a:lnTo>
                    <a:pt x="0" y="127140"/>
                  </a:lnTo>
                  <a:lnTo>
                    <a:pt x="9398" y="127140"/>
                  </a:lnTo>
                  <a:lnTo>
                    <a:pt x="0" y="127140"/>
                  </a:lnTo>
                  <a:moveTo>
                    <a:pt x="18669" y="127140"/>
                  </a:moveTo>
                  <a:lnTo>
                    <a:pt x="18669" y="3252850"/>
                  </a:lnTo>
                  <a:lnTo>
                    <a:pt x="9398" y="3252850"/>
                  </a:lnTo>
                  <a:lnTo>
                    <a:pt x="18796" y="3252850"/>
                  </a:lnTo>
                  <a:cubicBezTo>
                    <a:pt x="18796" y="3312011"/>
                    <a:pt x="63881" y="3360044"/>
                    <a:pt x="119507" y="3360044"/>
                  </a:cubicBezTo>
                  <a:lnTo>
                    <a:pt x="6390894" y="3360044"/>
                  </a:lnTo>
                  <a:cubicBezTo>
                    <a:pt x="6446520" y="3360044"/>
                    <a:pt x="6491605" y="3312011"/>
                    <a:pt x="6491605" y="3252850"/>
                  </a:cubicBezTo>
                  <a:lnTo>
                    <a:pt x="6491605" y="127140"/>
                  </a:lnTo>
                  <a:cubicBezTo>
                    <a:pt x="6491605" y="67980"/>
                    <a:pt x="6446520" y="19946"/>
                    <a:pt x="6390894" y="19946"/>
                  </a:cubicBezTo>
                  <a:lnTo>
                    <a:pt x="119380" y="19946"/>
                  </a:lnTo>
                  <a:lnTo>
                    <a:pt x="119380" y="10041"/>
                  </a:lnTo>
                  <a:lnTo>
                    <a:pt x="119380" y="20082"/>
                  </a:lnTo>
                  <a:cubicBezTo>
                    <a:pt x="63754" y="20082"/>
                    <a:pt x="18669" y="68115"/>
                    <a:pt x="18669" y="127275"/>
                  </a:cubicBezTo>
                  <a:close/>
                </a:path>
              </a:pathLst>
            </a:custGeom>
            <a:solidFill>
              <a:srgbClr val="C9D6DF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251718" y="2677858"/>
            <a:ext cx="48063" cy="1817103"/>
            <a:chOff x="0" y="0"/>
            <a:chExt cx="64084" cy="242280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31623"/>
              <a:ext cx="64135" cy="2359406"/>
            </a:xfrm>
            <a:custGeom>
              <a:avLst/>
              <a:gdLst/>
              <a:ahLst/>
              <a:cxnLst/>
              <a:rect r="r" b="b" t="t" l="l"/>
              <a:pathLst>
                <a:path h="2359406" w="64135">
                  <a:moveTo>
                    <a:pt x="63373" y="0"/>
                  </a:moveTo>
                  <a:lnTo>
                    <a:pt x="64135" y="2359406"/>
                  </a:lnTo>
                  <a:lnTo>
                    <a:pt x="762" y="2359406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1B4965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508760" y="2647083"/>
            <a:ext cx="4114257" cy="379767"/>
            <a:chOff x="0" y="0"/>
            <a:chExt cx="5485676" cy="50635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5485680" cy="506356"/>
            </a:xfrm>
            <a:custGeom>
              <a:avLst/>
              <a:gdLst/>
              <a:ahLst/>
              <a:cxnLst/>
              <a:rect r="r" b="b" t="t" l="l"/>
              <a:pathLst>
                <a:path h="506356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506356"/>
                  </a:lnTo>
                  <a:lnTo>
                    <a:pt x="0" y="5063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7796" r="0" b="-154391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5485676" cy="5158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29"/>
                </a:lnSpc>
              </a:pPr>
              <a:r>
                <a:rPr lang="en-US" sz="2024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Problem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474465" y="2990699"/>
            <a:ext cx="4114257" cy="1699030"/>
            <a:chOff x="0" y="0"/>
            <a:chExt cx="5485676" cy="2265373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485680" cy="2265373"/>
            </a:xfrm>
            <a:custGeom>
              <a:avLst/>
              <a:gdLst/>
              <a:ahLst/>
              <a:cxnLst/>
              <a:rect r="r" b="b" t="t" l="l"/>
              <a:pathLst>
                <a:path h="2265373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2265373"/>
                  </a:lnTo>
                  <a:lnTo>
                    <a:pt x="0" y="226537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14" r="0" b="10847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9525"/>
              <a:ext cx="5485676" cy="22558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85"/>
                </a:lnSpc>
              </a:pPr>
              <a:r>
                <a:rPr lang="en-US" sz="2154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Türkçe sosyal medya metinlerinde toksik dil, argo, hedefli hakaret ve grup temelli ayrımcı ifade biçimleri iç içe geçer. Bu durum tek skorla yorumlanamaz.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6645240" y="2393280"/>
            <a:ext cx="5156997" cy="2535084"/>
            <a:chOff x="0" y="0"/>
            <a:chExt cx="6875996" cy="3380112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9271" y="10041"/>
              <a:ext cx="6857492" cy="3360044"/>
            </a:xfrm>
            <a:custGeom>
              <a:avLst/>
              <a:gdLst/>
              <a:ahLst/>
              <a:cxnLst/>
              <a:rect r="r" b="b" t="t" l="l"/>
              <a:pathLst>
                <a:path h="3360044" w="6857492">
                  <a:moveTo>
                    <a:pt x="127" y="117099"/>
                  </a:moveTo>
                  <a:cubicBezTo>
                    <a:pt x="127" y="52376"/>
                    <a:pt x="49403" y="0"/>
                    <a:pt x="110109" y="0"/>
                  </a:cubicBezTo>
                  <a:lnTo>
                    <a:pt x="6747383" y="0"/>
                  </a:lnTo>
                  <a:cubicBezTo>
                    <a:pt x="6808216" y="0"/>
                    <a:pt x="6857492" y="52511"/>
                    <a:pt x="6857492" y="117234"/>
                  </a:cubicBezTo>
                  <a:lnTo>
                    <a:pt x="6857492" y="3242809"/>
                  </a:lnTo>
                  <a:cubicBezTo>
                    <a:pt x="6857492" y="3307533"/>
                    <a:pt x="6808216" y="3360044"/>
                    <a:pt x="6747383" y="3360044"/>
                  </a:cubicBezTo>
                  <a:lnTo>
                    <a:pt x="110109" y="3360044"/>
                  </a:lnTo>
                  <a:cubicBezTo>
                    <a:pt x="49276" y="3360044"/>
                    <a:pt x="0" y="3307533"/>
                    <a:pt x="0" y="3242809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876035" cy="3379990"/>
            </a:xfrm>
            <a:custGeom>
              <a:avLst/>
              <a:gdLst/>
              <a:ahLst/>
              <a:cxnLst/>
              <a:rect r="r" b="b" t="t" l="l"/>
              <a:pathLst>
                <a:path h="3379990" w="6876035">
                  <a:moveTo>
                    <a:pt x="0" y="127140"/>
                  </a:moveTo>
                  <a:cubicBezTo>
                    <a:pt x="0" y="56853"/>
                    <a:pt x="53467" y="0"/>
                    <a:pt x="119380" y="0"/>
                  </a:cubicBezTo>
                  <a:lnTo>
                    <a:pt x="6756654" y="0"/>
                  </a:lnTo>
                  <a:lnTo>
                    <a:pt x="6756654" y="10041"/>
                  </a:lnTo>
                  <a:lnTo>
                    <a:pt x="6756654" y="0"/>
                  </a:lnTo>
                  <a:cubicBezTo>
                    <a:pt x="6822567" y="0"/>
                    <a:pt x="6876035" y="56853"/>
                    <a:pt x="6876035" y="127140"/>
                  </a:cubicBezTo>
                  <a:lnTo>
                    <a:pt x="6866636" y="127140"/>
                  </a:lnTo>
                  <a:lnTo>
                    <a:pt x="6876035" y="127140"/>
                  </a:lnTo>
                  <a:lnTo>
                    <a:pt x="6876035" y="3252850"/>
                  </a:lnTo>
                  <a:lnTo>
                    <a:pt x="6866636" y="3252850"/>
                  </a:lnTo>
                  <a:lnTo>
                    <a:pt x="6876035" y="3252850"/>
                  </a:lnTo>
                  <a:cubicBezTo>
                    <a:pt x="6876035" y="3323137"/>
                    <a:pt x="6822567" y="3379990"/>
                    <a:pt x="6756654" y="3379990"/>
                  </a:cubicBezTo>
                  <a:lnTo>
                    <a:pt x="6756654" y="3369949"/>
                  </a:lnTo>
                  <a:lnTo>
                    <a:pt x="6756654" y="3379990"/>
                  </a:lnTo>
                  <a:lnTo>
                    <a:pt x="119380" y="3379990"/>
                  </a:lnTo>
                  <a:lnTo>
                    <a:pt x="119380" y="3369949"/>
                  </a:lnTo>
                  <a:lnTo>
                    <a:pt x="119380" y="3379990"/>
                  </a:lnTo>
                  <a:cubicBezTo>
                    <a:pt x="53467" y="3379990"/>
                    <a:pt x="0" y="3323137"/>
                    <a:pt x="0" y="3252850"/>
                  </a:cubicBezTo>
                  <a:lnTo>
                    <a:pt x="0" y="127140"/>
                  </a:lnTo>
                  <a:lnTo>
                    <a:pt x="9398" y="127140"/>
                  </a:lnTo>
                  <a:lnTo>
                    <a:pt x="0" y="127140"/>
                  </a:lnTo>
                  <a:moveTo>
                    <a:pt x="18669" y="127140"/>
                  </a:moveTo>
                  <a:lnTo>
                    <a:pt x="18669" y="3252850"/>
                  </a:lnTo>
                  <a:lnTo>
                    <a:pt x="9398" y="3252850"/>
                  </a:lnTo>
                  <a:lnTo>
                    <a:pt x="18796" y="3252850"/>
                  </a:lnTo>
                  <a:cubicBezTo>
                    <a:pt x="18796" y="3312011"/>
                    <a:pt x="63881" y="3360044"/>
                    <a:pt x="119507" y="3360044"/>
                  </a:cubicBezTo>
                  <a:lnTo>
                    <a:pt x="6756654" y="3360044"/>
                  </a:lnTo>
                  <a:cubicBezTo>
                    <a:pt x="6812280" y="3360044"/>
                    <a:pt x="6857365" y="3312011"/>
                    <a:pt x="6857365" y="3252850"/>
                  </a:cubicBezTo>
                  <a:lnTo>
                    <a:pt x="6857365" y="127140"/>
                  </a:lnTo>
                  <a:cubicBezTo>
                    <a:pt x="6857365" y="67980"/>
                    <a:pt x="6812280" y="19946"/>
                    <a:pt x="6756654" y="19946"/>
                  </a:cubicBezTo>
                  <a:lnTo>
                    <a:pt x="119380" y="19946"/>
                  </a:lnTo>
                  <a:lnTo>
                    <a:pt x="119380" y="10041"/>
                  </a:lnTo>
                  <a:lnTo>
                    <a:pt x="119380" y="20082"/>
                  </a:lnTo>
                  <a:cubicBezTo>
                    <a:pt x="63754" y="20082"/>
                    <a:pt x="18669" y="68115"/>
                    <a:pt x="18669" y="127275"/>
                  </a:cubicBezTo>
                  <a:close/>
                </a:path>
              </a:pathLst>
            </a:custGeom>
            <a:solidFill>
              <a:srgbClr val="C9D6DF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6875278" y="2677858"/>
            <a:ext cx="48063" cy="1817103"/>
            <a:chOff x="0" y="0"/>
            <a:chExt cx="64084" cy="242280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31623"/>
              <a:ext cx="64135" cy="2359406"/>
            </a:xfrm>
            <a:custGeom>
              <a:avLst/>
              <a:gdLst/>
              <a:ahLst/>
              <a:cxnLst/>
              <a:rect r="r" b="b" t="t" l="l"/>
              <a:pathLst>
                <a:path h="2359406" w="64135">
                  <a:moveTo>
                    <a:pt x="63373" y="0"/>
                  </a:moveTo>
                  <a:lnTo>
                    <a:pt x="64135" y="2359406"/>
                  </a:lnTo>
                  <a:lnTo>
                    <a:pt x="762" y="2359406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7132320" y="2647083"/>
            <a:ext cx="4388577" cy="379767"/>
            <a:chOff x="0" y="0"/>
            <a:chExt cx="5851436" cy="50635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5851440" cy="506356"/>
            </a:xfrm>
            <a:custGeom>
              <a:avLst/>
              <a:gdLst/>
              <a:ahLst/>
              <a:cxnLst/>
              <a:rect r="r" b="b" t="t" l="l"/>
              <a:pathLst>
                <a:path h="506356" w="5851440">
                  <a:moveTo>
                    <a:pt x="0" y="0"/>
                  </a:moveTo>
                  <a:lnTo>
                    <a:pt x="5851440" y="0"/>
                  </a:lnTo>
                  <a:lnTo>
                    <a:pt x="5851440" y="506356"/>
                  </a:lnTo>
                  <a:lnTo>
                    <a:pt x="0" y="5063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1870" r="0" b="-168466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9525"/>
              <a:ext cx="5851436" cy="5158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29"/>
                </a:lnSpc>
              </a:pPr>
              <a:r>
                <a:rPr lang="en-US" sz="2024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Araştırma sorusu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7094792" y="3067014"/>
            <a:ext cx="4388577" cy="1699030"/>
            <a:chOff x="0" y="0"/>
            <a:chExt cx="5851436" cy="2265373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851440" cy="2265373"/>
            </a:xfrm>
            <a:custGeom>
              <a:avLst/>
              <a:gdLst/>
              <a:ahLst/>
              <a:cxnLst/>
              <a:rect r="r" b="b" t="t" l="l"/>
              <a:pathLst>
                <a:path h="2265373" w="5851440">
                  <a:moveTo>
                    <a:pt x="0" y="0"/>
                  </a:moveTo>
                  <a:lnTo>
                    <a:pt x="5851440" y="0"/>
                  </a:lnTo>
                  <a:lnTo>
                    <a:pt x="5851440" y="2265373"/>
                  </a:lnTo>
                  <a:lnTo>
                    <a:pt x="0" y="226537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360" r="0" b="7701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9525"/>
              <a:ext cx="5851436" cy="22558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85"/>
                </a:lnSpc>
              </a:pPr>
              <a:r>
                <a:rPr lang="en-US" sz="2154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Hangi model yalnızca yüksek accuracy üretmekle kalmayıp küçük sınıflarda daha dengeli, daha kalibre ve threshold değişimine daha kontrollü davranır?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2268800" y="2393280"/>
            <a:ext cx="4882677" cy="2535084"/>
            <a:chOff x="0" y="0"/>
            <a:chExt cx="6510236" cy="3380112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9398" y="10041"/>
              <a:ext cx="6491478" cy="3360044"/>
            </a:xfrm>
            <a:custGeom>
              <a:avLst/>
              <a:gdLst/>
              <a:ahLst/>
              <a:cxnLst/>
              <a:rect r="r" b="b" t="t" l="l"/>
              <a:pathLst>
                <a:path h="3360044" w="6491478">
                  <a:moveTo>
                    <a:pt x="0" y="117099"/>
                  </a:moveTo>
                  <a:cubicBezTo>
                    <a:pt x="0" y="52376"/>
                    <a:pt x="49276" y="0"/>
                    <a:pt x="109982" y="0"/>
                  </a:cubicBezTo>
                  <a:lnTo>
                    <a:pt x="6381496" y="0"/>
                  </a:lnTo>
                  <a:cubicBezTo>
                    <a:pt x="6442202" y="0"/>
                    <a:pt x="6491478" y="52511"/>
                    <a:pt x="6491478" y="117234"/>
                  </a:cubicBezTo>
                  <a:lnTo>
                    <a:pt x="6491478" y="3242809"/>
                  </a:lnTo>
                  <a:cubicBezTo>
                    <a:pt x="6491478" y="3307533"/>
                    <a:pt x="6442202" y="3360044"/>
                    <a:pt x="6381496" y="3360044"/>
                  </a:cubicBezTo>
                  <a:lnTo>
                    <a:pt x="109982" y="3360044"/>
                  </a:lnTo>
                  <a:cubicBezTo>
                    <a:pt x="49276" y="3360044"/>
                    <a:pt x="0" y="3307533"/>
                    <a:pt x="0" y="3242809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510274" cy="3379990"/>
            </a:xfrm>
            <a:custGeom>
              <a:avLst/>
              <a:gdLst/>
              <a:ahLst/>
              <a:cxnLst/>
              <a:rect r="r" b="b" t="t" l="l"/>
              <a:pathLst>
                <a:path h="3379990" w="6510274">
                  <a:moveTo>
                    <a:pt x="0" y="127140"/>
                  </a:moveTo>
                  <a:cubicBezTo>
                    <a:pt x="0" y="56853"/>
                    <a:pt x="53467" y="0"/>
                    <a:pt x="119380" y="0"/>
                  </a:cubicBezTo>
                  <a:lnTo>
                    <a:pt x="6390894" y="0"/>
                  </a:lnTo>
                  <a:lnTo>
                    <a:pt x="6390894" y="10041"/>
                  </a:lnTo>
                  <a:lnTo>
                    <a:pt x="6390894" y="0"/>
                  </a:lnTo>
                  <a:cubicBezTo>
                    <a:pt x="6456807" y="0"/>
                    <a:pt x="6510274" y="56853"/>
                    <a:pt x="6510274" y="127140"/>
                  </a:cubicBezTo>
                  <a:lnTo>
                    <a:pt x="6500876" y="127140"/>
                  </a:lnTo>
                  <a:lnTo>
                    <a:pt x="6510274" y="127140"/>
                  </a:lnTo>
                  <a:lnTo>
                    <a:pt x="6510274" y="3252850"/>
                  </a:lnTo>
                  <a:lnTo>
                    <a:pt x="6500876" y="3252850"/>
                  </a:lnTo>
                  <a:lnTo>
                    <a:pt x="6510274" y="3252850"/>
                  </a:lnTo>
                  <a:cubicBezTo>
                    <a:pt x="6510274" y="3323137"/>
                    <a:pt x="6456807" y="3379990"/>
                    <a:pt x="6390894" y="3379990"/>
                  </a:cubicBezTo>
                  <a:lnTo>
                    <a:pt x="6390894" y="3369949"/>
                  </a:lnTo>
                  <a:lnTo>
                    <a:pt x="6390894" y="3379990"/>
                  </a:lnTo>
                  <a:lnTo>
                    <a:pt x="119380" y="3379990"/>
                  </a:lnTo>
                  <a:lnTo>
                    <a:pt x="119380" y="3369949"/>
                  </a:lnTo>
                  <a:lnTo>
                    <a:pt x="119380" y="3379990"/>
                  </a:lnTo>
                  <a:cubicBezTo>
                    <a:pt x="53467" y="3379990"/>
                    <a:pt x="0" y="3323137"/>
                    <a:pt x="0" y="3252850"/>
                  </a:cubicBezTo>
                  <a:lnTo>
                    <a:pt x="0" y="127140"/>
                  </a:lnTo>
                  <a:lnTo>
                    <a:pt x="9398" y="127140"/>
                  </a:lnTo>
                  <a:lnTo>
                    <a:pt x="0" y="127140"/>
                  </a:lnTo>
                  <a:moveTo>
                    <a:pt x="18669" y="127140"/>
                  </a:moveTo>
                  <a:lnTo>
                    <a:pt x="18669" y="3252850"/>
                  </a:lnTo>
                  <a:lnTo>
                    <a:pt x="9398" y="3252850"/>
                  </a:lnTo>
                  <a:lnTo>
                    <a:pt x="18796" y="3252850"/>
                  </a:lnTo>
                  <a:cubicBezTo>
                    <a:pt x="18796" y="3312011"/>
                    <a:pt x="63881" y="3360044"/>
                    <a:pt x="119507" y="3360044"/>
                  </a:cubicBezTo>
                  <a:lnTo>
                    <a:pt x="6390894" y="3360044"/>
                  </a:lnTo>
                  <a:cubicBezTo>
                    <a:pt x="6446520" y="3360044"/>
                    <a:pt x="6491605" y="3312011"/>
                    <a:pt x="6491605" y="3252850"/>
                  </a:cubicBezTo>
                  <a:lnTo>
                    <a:pt x="6491605" y="127140"/>
                  </a:lnTo>
                  <a:cubicBezTo>
                    <a:pt x="6491605" y="67980"/>
                    <a:pt x="6446520" y="19946"/>
                    <a:pt x="6390894" y="19946"/>
                  </a:cubicBezTo>
                  <a:lnTo>
                    <a:pt x="119380" y="19946"/>
                  </a:lnTo>
                  <a:lnTo>
                    <a:pt x="119380" y="10041"/>
                  </a:lnTo>
                  <a:lnTo>
                    <a:pt x="119380" y="20082"/>
                  </a:lnTo>
                  <a:cubicBezTo>
                    <a:pt x="63754" y="20082"/>
                    <a:pt x="18669" y="68115"/>
                    <a:pt x="18669" y="127275"/>
                  </a:cubicBezTo>
                  <a:close/>
                </a:path>
              </a:pathLst>
            </a:custGeom>
            <a:solidFill>
              <a:srgbClr val="C9D6DF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2498838" y="2677858"/>
            <a:ext cx="48063" cy="1817103"/>
            <a:chOff x="0" y="0"/>
            <a:chExt cx="64084" cy="2422804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31623"/>
              <a:ext cx="64135" cy="2359406"/>
            </a:xfrm>
            <a:custGeom>
              <a:avLst/>
              <a:gdLst/>
              <a:ahLst/>
              <a:cxnLst/>
              <a:rect r="r" b="b" t="t" l="l"/>
              <a:pathLst>
                <a:path h="2359406" w="64135">
                  <a:moveTo>
                    <a:pt x="63373" y="0"/>
                  </a:moveTo>
                  <a:lnTo>
                    <a:pt x="64135" y="2359406"/>
                  </a:lnTo>
                  <a:lnTo>
                    <a:pt x="762" y="2359406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E76F51"/>
            </a:solid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12755880" y="2647083"/>
            <a:ext cx="4114257" cy="379767"/>
            <a:chOff x="0" y="0"/>
            <a:chExt cx="5485676" cy="50635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485680" cy="506356"/>
            </a:xfrm>
            <a:custGeom>
              <a:avLst/>
              <a:gdLst/>
              <a:ahLst/>
              <a:cxnLst/>
              <a:rect r="r" b="b" t="t" l="l"/>
              <a:pathLst>
                <a:path h="506356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506356"/>
                  </a:lnTo>
                  <a:lnTo>
                    <a:pt x="0" y="5063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7796" r="0" b="-154391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9525"/>
              <a:ext cx="5485676" cy="5158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29"/>
                </a:lnSpc>
              </a:pPr>
              <a:r>
                <a:rPr lang="en-US" sz="2024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Katkı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2755880" y="3127143"/>
            <a:ext cx="4114257" cy="1426140"/>
            <a:chOff x="0" y="0"/>
            <a:chExt cx="5485676" cy="190152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485680" cy="1901520"/>
            </a:xfrm>
            <a:custGeom>
              <a:avLst/>
              <a:gdLst/>
              <a:ahLst/>
              <a:cxnLst/>
              <a:rect r="r" b="b" t="t" l="l"/>
              <a:pathLst>
                <a:path h="1901520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1901520"/>
                  </a:lnTo>
                  <a:lnTo>
                    <a:pt x="0" y="190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12" r="0" b="-6212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9525"/>
              <a:ext cx="5485676" cy="18919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85"/>
                </a:lnSpc>
              </a:pPr>
              <a:r>
                <a:rPr lang="en-US" sz="2154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Bu çalışma çok sınıflı toksisite için model karşılaştırmasını; sınıf bazlı hata, kalibrasyon ve toxic/other karar eşiği ile birlikte raporlar.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5955116" y="3486236"/>
            <a:ext cx="639899" cy="23222"/>
            <a:chOff x="0" y="0"/>
            <a:chExt cx="853199" cy="30963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15113" y="0"/>
              <a:ext cx="822960" cy="30988"/>
            </a:xfrm>
            <a:custGeom>
              <a:avLst/>
              <a:gdLst/>
              <a:ahLst/>
              <a:cxnLst/>
              <a:rect r="r" b="b" t="t" l="l"/>
              <a:pathLst>
                <a:path h="30988" w="822960">
                  <a:moveTo>
                    <a:pt x="0" y="0"/>
                  </a:moveTo>
                  <a:lnTo>
                    <a:pt x="822960" y="762"/>
                  </a:lnTo>
                  <a:lnTo>
                    <a:pt x="822960" y="30988"/>
                  </a:lnTo>
                  <a:lnTo>
                    <a:pt x="0" y="30226"/>
                  </a:lnTo>
                  <a:close/>
                </a:path>
              </a:pathLst>
            </a:custGeom>
            <a:solidFill>
              <a:srgbClr val="D9E3EA"/>
            </a:solid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1811419" y="3486236"/>
            <a:ext cx="407156" cy="23222"/>
            <a:chOff x="0" y="0"/>
            <a:chExt cx="542874" cy="30963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15113" y="0"/>
              <a:ext cx="512699" cy="30988"/>
            </a:xfrm>
            <a:custGeom>
              <a:avLst/>
              <a:gdLst/>
              <a:ahLst/>
              <a:cxnLst/>
              <a:rect r="r" b="b" t="t" l="l"/>
              <a:pathLst>
                <a:path h="30988" w="512699">
                  <a:moveTo>
                    <a:pt x="0" y="0"/>
                  </a:moveTo>
                  <a:lnTo>
                    <a:pt x="512699" y="762"/>
                  </a:lnTo>
                  <a:lnTo>
                    <a:pt x="512699" y="30988"/>
                  </a:lnTo>
                  <a:lnTo>
                    <a:pt x="0" y="30226"/>
                  </a:lnTo>
                  <a:close/>
                </a:path>
              </a:pathLst>
            </a:custGeom>
            <a:solidFill>
              <a:srgbClr val="D9E3EA"/>
            </a:solidFill>
          </p:spPr>
        </p:sp>
      </p:grpSp>
      <p:graphicFrame>
        <p:nvGraphicFramePr>
          <p:cNvPr name="Table 58" id="58"/>
          <p:cNvGraphicFramePr>
            <a:graphicFrameLocks noGrp="true"/>
          </p:cNvGraphicFramePr>
          <p:nvPr/>
        </p:nvGraphicFramePr>
        <p:xfrm>
          <a:off x="1028700" y="5365037"/>
          <a:ext cx="16078200" cy="3166423"/>
        </p:xfrm>
        <a:graphic>
          <a:graphicData uri="http://schemas.openxmlformats.org/drawingml/2006/table">
            <a:tbl>
              <a:tblPr/>
              <a:tblGrid>
                <a:gridCol w="3068824"/>
                <a:gridCol w="13009376"/>
              </a:tblGrid>
              <a:tr h="79160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Neden önemli?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Türkçe toksisite, düşük kaynaklı ve bağlama duyarlı moderasyon problemidir.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</a:tr>
              <a:tr h="79160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Nasıl test edildi?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Sabit split, ortak metrikler, baseline + transformer, kalibrasyon ve threshold sweep.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160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Ne bulundu?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BERTurk light en iyi macro-F1 ve dengeli classwise ECE verdi.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9160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Ne anlama geliyor?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Model skoru değil, karar politikası ve hata riski raporlanmalı.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fast">
    <p:fade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424" y="-9182"/>
            <a:ext cx="18306002" cy="10305364"/>
            <a:chOff x="0" y="0"/>
            <a:chExt cx="24408003" cy="137404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573" y="12573"/>
              <a:ext cx="24382857" cy="13715364"/>
            </a:xfrm>
            <a:custGeom>
              <a:avLst/>
              <a:gdLst/>
              <a:ahLst/>
              <a:cxnLst/>
              <a:rect r="r" b="b" t="t" l="l"/>
              <a:pathLst>
                <a:path h="13715364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3715364"/>
                  </a:lnTo>
                  <a:lnTo>
                    <a:pt x="0" y="13715364"/>
                  </a:lnTo>
                  <a:close/>
                </a:path>
              </a:pathLst>
            </a:custGeom>
            <a:solidFill>
              <a:srgbClr val="F7F9FC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408003" cy="13740510"/>
            </a:xfrm>
            <a:custGeom>
              <a:avLst/>
              <a:gdLst/>
              <a:ahLst/>
              <a:cxnLst/>
              <a:rect r="r" b="b" t="t" l="l"/>
              <a:pathLst>
                <a:path h="13740510" w="24408003">
                  <a:moveTo>
                    <a:pt x="12573" y="0"/>
                  </a:moveTo>
                  <a:lnTo>
                    <a:pt x="24395430" y="0"/>
                  </a:lnTo>
                  <a:cubicBezTo>
                    <a:pt x="24402416" y="0"/>
                    <a:pt x="24408003" y="5588"/>
                    <a:pt x="24408003" y="12573"/>
                  </a:cubicBezTo>
                  <a:lnTo>
                    <a:pt x="24408003" y="13727937"/>
                  </a:lnTo>
                  <a:cubicBezTo>
                    <a:pt x="24408003" y="13734923"/>
                    <a:pt x="24402416" y="13740510"/>
                    <a:pt x="24395430" y="13740510"/>
                  </a:cubicBezTo>
                  <a:lnTo>
                    <a:pt x="12573" y="13740510"/>
                  </a:lnTo>
                  <a:cubicBezTo>
                    <a:pt x="5588" y="13740510"/>
                    <a:pt x="0" y="13734923"/>
                    <a:pt x="0" y="13727937"/>
                  </a:cubicBezTo>
                  <a:lnTo>
                    <a:pt x="0" y="12573"/>
                  </a:lnTo>
                  <a:cubicBezTo>
                    <a:pt x="0" y="5588"/>
                    <a:pt x="5588" y="0"/>
                    <a:pt x="12573" y="0"/>
                  </a:cubicBezTo>
                  <a:moveTo>
                    <a:pt x="12573" y="25146"/>
                  </a:moveTo>
                  <a:lnTo>
                    <a:pt x="12573" y="12573"/>
                  </a:lnTo>
                  <a:lnTo>
                    <a:pt x="25146" y="12573"/>
                  </a:lnTo>
                  <a:lnTo>
                    <a:pt x="25146" y="13727937"/>
                  </a:lnTo>
                  <a:lnTo>
                    <a:pt x="12573" y="13727937"/>
                  </a:lnTo>
                  <a:lnTo>
                    <a:pt x="12573" y="13715364"/>
                  </a:lnTo>
                  <a:lnTo>
                    <a:pt x="24395430" y="13715364"/>
                  </a:lnTo>
                  <a:lnTo>
                    <a:pt x="24395430" y="13727937"/>
                  </a:lnTo>
                  <a:lnTo>
                    <a:pt x="24382857" y="13727937"/>
                  </a:lnTo>
                  <a:lnTo>
                    <a:pt x="24382857" y="12573"/>
                  </a:lnTo>
                  <a:lnTo>
                    <a:pt x="24395430" y="12573"/>
                  </a:lnTo>
                  <a:lnTo>
                    <a:pt x="24395430" y="25146"/>
                  </a:lnTo>
                  <a:lnTo>
                    <a:pt x="12573" y="25146"/>
                  </a:lnTo>
                  <a:close/>
                </a:path>
              </a:pathLst>
            </a:custGeom>
            <a:solidFill>
              <a:srgbClr val="F7F9F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883977" y="9703260"/>
            <a:ext cx="16542896" cy="15659"/>
            <a:chOff x="0" y="0"/>
            <a:chExt cx="22057195" cy="2087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033" y="0"/>
              <a:ext cx="22037040" cy="20955"/>
            </a:xfrm>
            <a:custGeom>
              <a:avLst/>
              <a:gdLst/>
              <a:ahLst/>
              <a:cxnLst/>
              <a:rect r="r" b="b" t="t" l="l"/>
              <a:pathLst>
                <a:path h="20955" w="22037040">
                  <a:moveTo>
                    <a:pt x="0" y="0"/>
                  </a:moveTo>
                  <a:lnTo>
                    <a:pt x="22037040" y="762"/>
                  </a:lnTo>
                  <a:lnTo>
                    <a:pt x="22037040" y="20955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D9E3EA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891540" y="9820437"/>
            <a:ext cx="3016977" cy="273777"/>
            <a:chOff x="0" y="0"/>
            <a:chExt cx="4022636" cy="3650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022640" cy="365040"/>
            </a:xfrm>
            <a:custGeom>
              <a:avLst/>
              <a:gdLst/>
              <a:ahLst/>
              <a:cxnLst/>
              <a:rect r="r" b="b" t="t" l="l"/>
              <a:pathLst>
                <a:path h="365040" w="4022640">
                  <a:moveTo>
                    <a:pt x="0" y="0"/>
                  </a:moveTo>
                  <a:lnTo>
                    <a:pt x="4022640" y="0"/>
                  </a:lnTo>
                  <a:lnTo>
                    <a:pt x="402264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4720" r="0" b="-16471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4022636" cy="3650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170"/>
                </a:lnSpc>
              </a:pPr>
              <a:r>
                <a:rPr lang="en-US" sz="975">
                  <a:solidFill>
                    <a:srgbClr val="6B7A88"/>
                  </a:solidFill>
                  <a:latin typeface="Aptos"/>
                  <a:ea typeface="Aptos"/>
                  <a:cs typeface="Aptos"/>
                  <a:sym typeface="Aptos"/>
                </a:rPr>
                <a:t>YZM304 Project 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853160" y="480060"/>
            <a:ext cx="3497037" cy="273777"/>
            <a:chOff x="0" y="0"/>
            <a:chExt cx="4662716" cy="36503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662720" cy="365040"/>
            </a:xfrm>
            <a:custGeom>
              <a:avLst/>
              <a:gdLst/>
              <a:ahLst/>
              <a:cxnLst/>
              <a:rect r="r" b="b" t="t" l="l"/>
              <a:pathLst>
                <a:path h="365040" w="4662720">
                  <a:moveTo>
                    <a:pt x="0" y="0"/>
                  </a:moveTo>
                  <a:lnTo>
                    <a:pt x="4662720" y="0"/>
                  </a:lnTo>
                  <a:lnTo>
                    <a:pt x="466272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886" r="0" b="-19888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4662716" cy="3745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INTRODUCTION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91540" y="576177"/>
            <a:ext cx="12206697" cy="603180"/>
            <a:chOff x="0" y="0"/>
            <a:chExt cx="16275596" cy="8042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6275600" cy="804240"/>
            </a:xfrm>
            <a:custGeom>
              <a:avLst/>
              <a:gdLst/>
              <a:ahLst/>
              <a:cxnLst/>
              <a:rect r="r" b="b" t="t" l="l"/>
              <a:pathLst>
                <a:path h="804240" w="16275600">
                  <a:moveTo>
                    <a:pt x="0" y="0"/>
                  </a:moveTo>
                  <a:lnTo>
                    <a:pt x="16275600" y="0"/>
                  </a:lnTo>
                  <a:lnTo>
                    <a:pt x="16275600" y="804240"/>
                  </a:lnTo>
                  <a:lnTo>
                    <a:pt x="0" y="804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4323" r="0" b="-344323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16275596" cy="804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Önceki çalışmalar: alan nereden geliyor?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62917" y="1369981"/>
            <a:ext cx="1223096" cy="57779"/>
            <a:chOff x="0" y="0"/>
            <a:chExt cx="1630794" cy="7703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38100" y="0"/>
              <a:ext cx="1554607" cy="77089"/>
            </a:xfrm>
            <a:custGeom>
              <a:avLst/>
              <a:gdLst/>
              <a:ahLst/>
              <a:cxnLst/>
              <a:rect r="r" b="b" t="t" l="l"/>
              <a:pathLst>
                <a:path h="77089" w="1554607">
                  <a:moveTo>
                    <a:pt x="127" y="0"/>
                  </a:moveTo>
                  <a:lnTo>
                    <a:pt x="1554607" y="762"/>
                  </a:lnTo>
                  <a:lnTo>
                    <a:pt x="1554607" y="77089"/>
                  </a:lnTo>
                  <a:lnTo>
                    <a:pt x="0" y="76327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891540" y="1563843"/>
            <a:ext cx="13166817" cy="342357"/>
            <a:chOff x="0" y="0"/>
            <a:chExt cx="17555756" cy="4564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555759" cy="456480"/>
            </a:xfrm>
            <a:custGeom>
              <a:avLst/>
              <a:gdLst/>
              <a:ahLst/>
              <a:cxnLst/>
              <a:rect r="r" b="b" t="t" l="l"/>
              <a:pathLst>
                <a:path h="456480" w="17555759">
                  <a:moveTo>
                    <a:pt x="0" y="0"/>
                  </a:moveTo>
                  <a:lnTo>
                    <a:pt x="17555759" y="0"/>
                  </a:lnTo>
                  <a:lnTo>
                    <a:pt x="17555759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375" r="0" b="-69937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7555756" cy="4564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Literatür çoğunlukla binary offensive/not offensive tespitine odaklandı; bu proje çok sınıflı karar güvenilirliğini öne çıkarıyor.</a:t>
              </a:r>
            </a:p>
          </p:txBody>
        </p:sp>
      </p:grpSp>
      <p:graphicFrame>
        <p:nvGraphicFramePr>
          <p:cNvPr name="Table 21" id="21"/>
          <p:cNvGraphicFramePr>
            <a:graphicFrameLocks noGrp="true"/>
          </p:cNvGraphicFramePr>
          <p:nvPr/>
        </p:nvGraphicFramePr>
        <p:xfrm>
          <a:off x="1028700" y="2400300"/>
          <a:ext cx="10619070" cy="6067917"/>
        </p:xfrm>
        <a:graphic>
          <a:graphicData uri="http://schemas.openxmlformats.org/drawingml/2006/table">
            <a:tbl>
              <a:tblPr/>
              <a:tblGrid>
                <a:gridCol w="2995710"/>
                <a:gridCol w="2995710"/>
                <a:gridCol w="4627651"/>
              </a:tblGrid>
              <a:tr h="101131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Çalışma / kaynak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Odak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Bu proje açısından çıkarım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</a:tr>
              <a:tr h="101131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Çöltekin, 2020 [1]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Türkçe offensive dil korpusu; tweet tabanlı anotasyon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Türkçe için temel benchmark ve etiketleme şeması sağlar.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1131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OffensEval 2020 [2]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5 dilde shared task; Türkçe Subtask A dahil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Karşılaştırmalı offensive language literatürünün ana referansı.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101131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BERTurk / Turkish BERT modelleri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Türkçe bağlamsal temsil öğrenimi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Klasik TF-IDF’e karşı güçlü transformer alternatifi.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1131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Model kartları: TURKCELL, atasoglu [4]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OffensEval-TR üzerinde binary sınıflandırma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Benchmark sonuçlar var; çok sınıflı toksisite + kalibrasyon daha az raporlanıyor.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101131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Kalibrasyon literatürü [6]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Güven skorlarının gerçek doğruluğu yansıtması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Moderasyon kararında olasılık kalitesi ayrı bir deney boyutu olmalı.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name="Group 22" id="22"/>
          <p:cNvGrpSpPr/>
          <p:nvPr/>
        </p:nvGrpSpPr>
        <p:grpSpPr>
          <a:xfrm rot="0">
            <a:off x="12124620" y="3082022"/>
            <a:ext cx="4882677" cy="2139477"/>
            <a:chOff x="0" y="0"/>
            <a:chExt cx="6510236" cy="285263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9398" y="9398"/>
              <a:ext cx="6491478" cy="2833878"/>
            </a:xfrm>
            <a:custGeom>
              <a:avLst/>
              <a:gdLst/>
              <a:ahLst/>
              <a:cxnLst/>
              <a:rect r="r" b="b" t="t" l="l"/>
              <a:pathLst>
                <a:path h="2833878" w="6491478">
                  <a:moveTo>
                    <a:pt x="0" y="109601"/>
                  </a:moveTo>
                  <a:cubicBezTo>
                    <a:pt x="0" y="49022"/>
                    <a:pt x="49276" y="0"/>
                    <a:pt x="110109" y="0"/>
                  </a:cubicBezTo>
                  <a:lnTo>
                    <a:pt x="6381369" y="0"/>
                  </a:lnTo>
                  <a:cubicBezTo>
                    <a:pt x="6442202" y="0"/>
                    <a:pt x="6491478" y="49149"/>
                    <a:pt x="6491478" y="109728"/>
                  </a:cubicBezTo>
                  <a:lnTo>
                    <a:pt x="6491478" y="2724150"/>
                  </a:lnTo>
                  <a:cubicBezTo>
                    <a:pt x="6491478" y="2784729"/>
                    <a:pt x="6442202" y="2833878"/>
                    <a:pt x="6381369" y="2833878"/>
                  </a:cubicBezTo>
                  <a:lnTo>
                    <a:pt x="110109" y="2833878"/>
                  </a:lnTo>
                  <a:cubicBezTo>
                    <a:pt x="49276" y="2833878"/>
                    <a:pt x="0" y="2784729"/>
                    <a:pt x="0" y="272415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510274" cy="2852547"/>
            </a:xfrm>
            <a:custGeom>
              <a:avLst/>
              <a:gdLst/>
              <a:ahLst/>
              <a:cxnLst/>
              <a:rect r="r" b="b" t="t" l="l"/>
              <a:pathLst>
                <a:path h="2852547" w="6510274">
                  <a:moveTo>
                    <a:pt x="0" y="118999"/>
                  </a:moveTo>
                  <a:cubicBezTo>
                    <a:pt x="0" y="53213"/>
                    <a:pt x="53467" y="0"/>
                    <a:pt x="119507" y="0"/>
                  </a:cubicBezTo>
                  <a:lnTo>
                    <a:pt x="6390767" y="0"/>
                  </a:lnTo>
                  <a:lnTo>
                    <a:pt x="6390767" y="9398"/>
                  </a:lnTo>
                  <a:lnTo>
                    <a:pt x="6390767" y="0"/>
                  </a:lnTo>
                  <a:cubicBezTo>
                    <a:pt x="6456680" y="0"/>
                    <a:pt x="6510274" y="53213"/>
                    <a:pt x="6510274" y="118999"/>
                  </a:cubicBezTo>
                  <a:lnTo>
                    <a:pt x="6500876" y="118999"/>
                  </a:lnTo>
                  <a:lnTo>
                    <a:pt x="6510274" y="118999"/>
                  </a:lnTo>
                  <a:lnTo>
                    <a:pt x="6510274" y="2733548"/>
                  </a:lnTo>
                  <a:lnTo>
                    <a:pt x="6500876" y="2733548"/>
                  </a:lnTo>
                  <a:lnTo>
                    <a:pt x="6510274" y="2733548"/>
                  </a:lnTo>
                  <a:cubicBezTo>
                    <a:pt x="6510274" y="2799334"/>
                    <a:pt x="6456807" y="2852547"/>
                    <a:pt x="6390767" y="2852547"/>
                  </a:cubicBezTo>
                  <a:lnTo>
                    <a:pt x="6390767" y="2843149"/>
                  </a:lnTo>
                  <a:lnTo>
                    <a:pt x="6390767" y="2852547"/>
                  </a:lnTo>
                  <a:lnTo>
                    <a:pt x="119507" y="2852547"/>
                  </a:lnTo>
                  <a:lnTo>
                    <a:pt x="119507" y="2843149"/>
                  </a:lnTo>
                  <a:lnTo>
                    <a:pt x="119507" y="2852547"/>
                  </a:lnTo>
                  <a:cubicBezTo>
                    <a:pt x="53594" y="2852547"/>
                    <a:pt x="0" y="2799334"/>
                    <a:pt x="0" y="2733548"/>
                  </a:cubicBezTo>
                  <a:lnTo>
                    <a:pt x="0" y="118999"/>
                  </a:lnTo>
                  <a:lnTo>
                    <a:pt x="9398" y="118999"/>
                  </a:lnTo>
                  <a:lnTo>
                    <a:pt x="0" y="118999"/>
                  </a:lnTo>
                  <a:moveTo>
                    <a:pt x="18669" y="118999"/>
                  </a:moveTo>
                  <a:lnTo>
                    <a:pt x="18669" y="2733548"/>
                  </a:lnTo>
                  <a:lnTo>
                    <a:pt x="9398" y="2733548"/>
                  </a:lnTo>
                  <a:lnTo>
                    <a:pt x="18796" y="2733548"/>
                  </a:lnTo>
                  <a:cubicBezTo>
                    <a:pt x="18796" y="2788920"/>
                    <a:pt x="63881" y="2833878"/>
                    <a:pt x="119507" y="2833878"/>
                  </a:cubicBezTo>
                  <a:lnTo>
                    <a:pt x="6390767" y="2833878"/>
                  </a:lnTo>
                  <a:cubicBezTo>
                    <a:pt x="6446393" y="2833878"/>
                    <a:pt x="6491478" y="2788920"/>
                    <a:pt x="6491478" y="2733548"/>
                  </a:cubicBezTo>
                  <a:lnTo>
                    <a:pt x="6491478" y="118999"/>
                  </a:lnTo>
                  <a:cubicBezTo>
                    <a:pt x="6491478" y="63627"/>
                    <a:pt x="6446393" y="18669"/>
                    <a:pt x="6390767" y="18669"/>
                  </a:cubicBezTo>
                  <a:lnTo>
                    <a:pt x="119507" y="18669"/>
                  </a:lnTo>
                  <a:lnTo>
                    <a:pt x="119507" y="9398"/>
                  </a:lnTo>
                  <a:lnTo>
                    <a:pt x="119507" y="18796"/>
                  </a:lnTo>
                  <a:cubicBezTo>
                    <a:pt x="63881" y="18796"/>
                    <a:pt x="18796" y="63754"/>
                    <a:pt x="18796" y="119126"/>
                  </a:cubicBezTo>
                  <a:close/>
                </a:path>
              </a:pathLst>
            </a:custGeom>
            <a:solidFill>
              <a:srgbClr val="C9D6DF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2354658" y="3367143"/>
            <a:ext cx="48063" cy="1583284"/>
            <a:chOff x="0" y="0"/>
            <a:chExt cx="64084" cy="211104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31623"/>
              <a:ext cx="64135" cy="2047621"/>
            </a:xfrm>
            <a:custGeom>
              <a:avLst/>
              <a:gdLst/>
              <a:ahLst/>
              <a:cxnLst/>
              <a:rect r="r" b="b" t="t" l="l"/>
              <a:pathLst>
                <a:path h="2047621" w="64135">
                  <a:moveTo>
                    <a:pt x="63373" y="0"/>
                  </a:moveTo>
                  <a:lnTo>
                    <a:pt x="64135" y="2047621"/>
                  </a:lnTo>
                  <a:lnTo>
                    <a:pt x="762" y="2047621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E76F51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2611700" y="3335815"/>
            <a:ext cx="4114257" cy="328860"/>
            <a:chOff x="0" y="0"/>
            <a:chExt cx="5485676" cy="43848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485680" cy="438480"/>
            </a:xfrm>
            <a:custGeom>
              <a:avLst/>
              <a:gdLst/>
              <a:ahLst/>
              <a:cxnLst/>
              <a:rect r="r" b="b" t="t" l="l"/>
              <a:pathLst>
                <a:path h="438480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438480"/>
                  </a:lnTo>
                  <a:lnTo>
                    <a:pt x="0" y="438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770" r="0" b="-19377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0"/>
              <a:ext cx="5485676" cy="438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Boşluk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2611700" y="3815875"/>
            <a:ext cx="4114257" cy="1192860"/>
            <a:chOff x="0" y="0"/>
            <a:chExt cx="5485676" cy="159048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485680" cy="1590476"/>
            </a:xfrm>
            <a:custGeom>
              <a:avLst/>
              <a:gdLst/>
              <a:ahLst/>
              <a:cxnLst/>
              <a:rect r="r" b="b" t="t" l="l"/>
              <a:pathLst>
                <a:path h="1590476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1590476"/>
                  </a:lnTo>
                  <a:lnTo>
                    <a:pt x="0" y="15904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205" r="0" b="-1720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5485676" cy="1590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65"/>
                </a:lnSpc>
              </a:pPr>
              <a:r>
                <a:rPr lang="en-US" sz="1554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Var olan çalışmalar genelde “model ne kadar doğru?” sorusuna cevap veriyor. Bu sunum “model ne kadar güvenilir karar veriyor?” sorusunu da ekliyor.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2124620" y="5647018"/>
            <a:ext cx="4882677" cy="2139477"/>
            <a:chOff x="0" y="0"/>
            <a:chExt cx="6510236" cy="285263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9398" y="9398"/>
              <a:ext cx="6491478" cy="2833878"/>
            </a:xfrm>
            <a:custGeom>
              <a:avLst/>
              <a:gdLst/>
              <a:ahLst/>
              <a:cxnLst/>
              <a:rect r="r" b="b" t="t" l="l"/>
              <a:pathLst>
                <a:path h="2833878" w="6491478">
                  <a:moveTo>
                    <a:pt x="0" y="109601"/>
                  </a:moveTo>
                  <a:cubicBezTo>
                    <a:pt x="0" y="49022"/>
                    <a:pt x="49276" y="0"/>
                    <a:pt x="110109" y="0"/>
                  </a:cubicBezTo>
                  <a:lnTo>
                    <a:pt x="6381369" y="0"/>
                  </a:lnTo>
                  <a:cubicBezTo>
                    <a:pt x="6442202" y="0"/>
                    <a:pt x="6491478" y="49149"/>
                    <a:pt x="6491478" y="109728"/>
                  </a:cubicBezTo>
                  <a:lnTo>
                    <a:pt x="6491478" y="2724150"/>
                  </a:lnTo>
                  <a:cubicBezTo>
                    <a:pt x="6491478" y="2784729"/>
                    <a:pt x="6442202" y="2833878"/>
                    <a:pt x="6381369" y="2833878"/>
                  </a:cubicBezTo>
                  <a:lnTo>
                    <a:pt x="110109" y="2833878"/>
                  </a:lnTo>
                  <a:cubicBezTo>
                    <a:pt x="49276" y="2833878"/>
                    <a:pt x="0" y="2784729"/>
                    <a:pt x="0" y="272415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510274" cy="2852547"/>
            </a:xfrm>
            <a:custGeom>
              <a:avLst/>
              <a:gdLst/>
              <a:ahLst/>
              <a:cxnLst/>
              <a:rect r="r" b="b" t="t" l="l"/>
              <a:pathLst>
                <a:path h="2852547" w="6510274">
                  <a:moveTo>
                    <a:pt x="0" y="118999"/>
                  </a:moveTo>
                  <a:cubicBezTo>
                    <a:pt x="0" y="53213"/>
                    <a:pt x="53467" y="0"/>
                    <a:pt x="119507" y="0"/>
                  </a:cubicBezTo>
                  <a:lnTo>
                    <a:pt x="6390767" y="0"/>
                  </a:lnTo>
                  <a:lnTo>
                    <a:pt x="6390767" y="9398"/>
                  </a:lnTo>
                  <a:lnTo>
                    <a:pt x="6390767" y="0"/>
                  </a:lnTo>
                  <a:cubicBezTo>
                    <a:pt x="6456680" y="0"/>
                    <a:pt x="6510274" y="53213"/>
                    <a:pt x="6510274" y="118999"/>
                  </a:cubicBezTo>
                  <a:lnTo>
                    <a:pt x="6500876" y="118999"/>
                  </a:lnTo>
                  <a:lnTo>
                    <a:pt x="6510274" y="118999"/>
                  </a:lnTo>
                  <a:lnTo>
                    <a:pt x="6510274" y="2733548"/>
                  </a:lnTo>
                  <a:lnTo>
                    <a:pt x="6500876" y="2733548"/>
                  </a:lnTo>
                  <a:lnTo>
                    <a:pt x="6510274" y="2733548"/>
                  </a:lnTo>
                  <a:cubicBezTo>
                    <a:pt x="6510274" y="2799334"/>
                    <a:pt x="6456807" y="2852547"/>
                    <a:pt x="6390767" y="2852547"/>
                  </a:cubicBezTo>
                  <a:lnTo>
                    <a:pt x="6390767" y="2843149"/>
                  </a:lnTo>
                  <a:lnTo>
                    <a:pt x="6390767" y="2852547"/>
                  </a:lnTo>
                  <a:lnTo>
                    <a:pt x="119507" y="2852547"/>
                  </a:lnTo>
                  <a:lnTo>
                    <a:pt x="119507" y="2843149"/>
                  </a:lnTo>
                  <a:lnTo>
                    <a:pt x="119507" y="2852547"/>
                  </a:lnTo>
                  <a:cubicBezTo>
                    <a:pt x="53594" y="2852547"/>
                    <a:pt x="0" y="2799334"/>
                    <a:pt x="0" y="2733548"/>
                  </a:cubicBezTo>
                  <a:lnTo>
                    <a:pt x="0" y="118999"/>
                  </a:lnTo>
                  <a:lnTo>
                    <a:pt x="9398" y="118999"/>
                  </a:lnTo>
                  <a:lnTo>
                    <a:pt x="0" y="118999"/>
                  </a:lnTo>
                  <a:moveTo>
                    <a:pt x="18669" y="118999"/>
                  </a:moveTo>
                  <a:lnTo>
                    <a:pt x="18669" y="2733548"/>
                  </a:lnTo>
                  <a:lnTo>
                    <a:pt x="9398" y="2733548"/>
                  </a:lnTo>
                  <a:lnTo>
                    <a:pt x="18796" y="2733548"/>
                  </a:lnTo>
                  <a:cubicBezTo>
                    <a:pt x="18796" y="2788920"/>
                    <a:pt x="63881" y="2833878"/>
                    <a:pt x="119507" y="2833878"/>
                  </a:cubicBezTo>
                  <a:lnTo>
                    <a:pt x="6390767" y="2833878"/>
                  </a:lnTo>
                  <a:cubicBezTo>
                    <a:pt x="6446393" y="2833878"/>
                    <a:pt x="6491478" y="2788920"/>
                    <a:pt x="6491478" y="2733548"/>
                  </a:cubicBezTo>
                  <a:lnTo>
                    <a:pt x="6491478" y="118999"/>
                  </a:lnTo>
                  <a:cubicBezTo>
                    <a:pt x="6491478" y="63627"/>
                    <a:pt x="6446393" y="18669"/>
                    <a:pt x="6390767" y="18669"/>
                  </a:cubicBezTo>
                  <a:lnTo>
                    <a:pt x="119507" y="18669"/>
                  </a:lnTo>
                  <a:lnTo>
                    <a:pt x="119507" y="9398"/>
                  </a:lnTo>
                  <a:lnTo>
                    <a:pt x="119507" y="18796"/>
                  </a:lnTo>
                  <a:cubicBezTo>
                    <a:pt x="63881" y="18796"/>
                    <a:pt x="18796" y="63754"/>
                    <a:pt x="18796" y="119126"/>
                  </a:cubicBezTo>
                  <a:close/>
                </a:path>
              </a:pathLst>
            </a:custGeom>
            <a:solidFill>
              <a:srgbClr val="C9D6DF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2354658" y="5931597"/>
            <a:ext cx="48063" cy="1583817"/>
            <a:chOff x="0" y="0"/>
            <a:chExt cx="64084" cy="211175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31623"/>
              <a:ext cx="64135" cy="2048383"/>
            </a:xfrm>
            <a:custGeom>
              <a:avLst/>
              <a:gdLst/>
              <a:ahLst/>
              <a:cxnLst/>
              <a:rect r="r" b="b" t="t" l="l"/>
              <a:pathLst>
                <a:path h="2048383" w="64135">
                  <a:moveTo>
                    <a:pt x="63373" y="0"/>
                  </a:moveTo>
                  <a:lnTo>
                    <a:pt x="64135" y="2048383"/>
                  </a:lnTo>
                  <a:lnTo>
                    <a:pt x="762" y="2048383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12611700" y="5900822"/>
            <a:ext cx="4114257" cy="328860"/>
            <a:chOff x="0" y="0"/>
            <a:chExt cx="5485676" cy="4384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485680" cy="438480"/>
            </a:xfrm>
            <a:custGeom>
              <a:avLst/>
              <a:gdLst/>
              <a:ahLst/>
              <a:cxnLst/>
              <a:rect r="r" b="b" t="t" l="l"/>
              <a:pathLst>
                <a:path h="438480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438480"/>
                  </a:lnTo>
                  <a:lnTo>
                    <a:pt x="0" y="438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770" r="0" b="-19377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0"/>
              <a:ext cx="5485676" cy="438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Konumlandırma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2611700" y="6380882"/>
            <a:ext cx="4114257" cy="1192860"/>
            <a:chOff x="0" y="0"/>
            <a:chExt cx="5485676" cy="159048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5485680" cy="1590476"/>
            </a:xfrm>
            <a:custGeom>
              <a:avLst/>
              <a:gdLst/>
              <a:ahLst/>
              <a:cxnLst/>
              <a:rect r="r" b="b" t="t" l="l"/>
              <a:pathLst>
                <a:path h="1590476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1590476"/>
                  </a:lnTo>
                  <a:lnTo>
                    <a:pt x="0" y="15904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205" r="0" b="-17205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0"/>
              <a:ext cx="5485676" cy="1590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65"/>
                </a:lnSpc>
              </a:pPr>
              <a:r>
                <a:rPr lang="en-US" sz="1554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Proje özgünlüğü yeni bir SOTA iddiası değil; aynı veri üzerinde karşılaştırmalı, kalibrasyonlu ve threshold odaklı deney protokolü kurmak.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891540" y="9299343"/>
            <a:ext cx="16115757" cy="301323"/>
            <a:chOff x="0" y="0"/>
            <a:chExt cx="21487676" cy="401764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1487681" cy="401760"/>
            </a:xfrm>
            <a:custGeom>
              <a:avLst/>
              <a:gdLst/>
              <a:ahLst/>
              <a:cxnLst/>
              <a:rect r="r" b="b" t="t" l="l"/>
              <a:pathLst>
                <a:path h="401760" w="21487681">
                  <a:moveTo>
                    <a:pt x="0" y="0"/>
                  </a:moveTo>
                  <a:lnTo>
                    <a:pt x="21487681" y="0"/>
                  </a:lnTo>
                  <a:lnTo>
                    <a:pt x="21487681" y="401760"/>
                  </a:lnTo>
                  <a:lnTo>
                    <a:pt x="0" y="401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92134" r="0" b="-992135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9525"/>
              <a:ext cx="21487676" cy="4112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116"/>
                </a:lnSpc>
              </a:pPr>
              <a:r>
                <a:rPr lang="en-US" sz="930">
                  <a:solidFill>
                    <a:srgbClr val="7A8792"/>
                  </a:solidFill>
                  <a:latin typeface="Aptos"/>
                  <a:ea typeface="Aptos"/>
                  <a:cs typeface="Aptos"/>
                  <a:sym typeface="Aptos"/>
                </a:rPr>
                <a:t>Kaynaklar: [1] Çöltekin 2020 LREC; [2] Zampieri et al. 2020 SemEval OffensEval; [4] Hugging Face model kartları; [6] Guo et al. 2017 ICML.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449" y="-9449"/>
            <a:ext cx="18306002" cy="10305364"/>
            <a:chOff x="0" y="0"/>
            <a:chExt cx="24408003" cy="137404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573" y="12573"/>
              <a:ext cx="24382857" cy="13715364"/>
            </a:xfrm>
            <a:custGeom>
              <a:avLst/>
              <a:gdLst/>
              <a:ahLst/>
              <a:cxnLst/>
              <a:rect r="r" b="b" t="t" l="l"/>
              <a:pathLst>
                <a:path h="13715364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3715364"/>
                  </a:lnTo>
                  <a:lnTo>
                    <a:pt x="0" y="13715364"/>
                  </a:lnTo>
                  <a:close/>
                </a:path>
              </a:pathLst>
            </a:custGeom>
            <a:solidFill>
              <a:srgbClr val="F7F9FC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408003" cy="13740510"/>
            </a:xfrm>
            <a:custGeom>
              <a:avLst/>
              <a:gdLst/>
              <a:ahLst/>
              <a:cxnLst/>
              <a:rect r="r" b="b" t="t" l="l"/>
              <a:pathLst>
                <a:path h="13740510" w="24408003">
                  <a:moveTo>
                    <a:pt x="12573" y="0"/>
                  </a:moveTo>
                  <a:lnTo>
                    <a:pt x="24395430" y="0"/>
                  </a:lnTo>
                  <a:cubicBezTo>
                    <a:pt x="24402416" y="0"/>
                    <a:pt x="24408003" y="5588"/>
                    <a:pt x="24408003" y="12573"/>
                  </a:cubicBezTo>
                  <a:lnTo>
                    <a:pt x="24408003" y="13727937"/>
                  </a:lnTo>
                  <a:cubicBezTo>
                    <a:pt x="24408003" y="13734923"/>
                    <a:pt x="24402416" y="13740510"/>
                    <a:pt x="24395430" y="13740510"/>
                  </a:cubicBezTo>
                  <a:lnTo>
                    <a:pt x="12573" y="13740510"/>
                  </a:lnTo>
                  <a:cubicBezTo>
                    <a:pt x="5588" y="13740510"/>
                    <a:pt x="0" y="13734923"/>
                    <a:pt x="0" y="13727937"/>
                  </a:cubicBezTo>
                  <a:lnTo>
                    <a:pt x="0" y="12573"/>
                  </a:lnTo>
                  <a:cubicBezTo>
                    <a:pt x="0" y="5588"/>
                    <a:pt x="5588" y="0"/>
                    <a:pt x="12573" y="0"/>
                  </a:cubicBezTo>
                  <a:moveTo>
                    <a:pt x="12573" y="25146"/>
                  </a:moveTo>
                  <a:lnTo>
                    <a:pt x="12573" y="12573"/>
                  </a:lnTo>
                  <a:lnTo>
                    <a:pt x="25146" y="12573"/>
                  </a:lnTo>
                  <a:lnTo>
                    <a:pt x="25146" y="13727937"/>
                  </a:lnTo>
                  <a:lnTo>
                    <a:pt x="12573" y="13727937"/>
                  </a:lnTo>
                  <a:lnTo>
                    <a:pt x="12573" y="13715364"/>
                  </a:lnTo>
                  <a:lnTo>
                    <a:pt x="24395430" y="13715364"/>
                  </a:lnTo>
                  <a:lnTo>
                    <a:pt x="24395430" y="13727937"/>
                  </a:lnTo>
                  <a:lnTo>
                    <a:pt x="24382857" y="13727937"/>
                  </a:lnTo>
                  <a:lnTo>
                    <a:pt x="24382857" y="12573"/>
                  </a:lnTo>
                  <a:lnTo>
                    <a:pt x="24395430" y="12573"/>
                  </a:lnTo>
                  <a:lnTo>
                    <a:pt x="24395430" y="25146"/>
                  </a:lnTo>
                  <a:lnTo>
                    <a:pt x="12573" y="25146"/>
                  </a:lnTo>
                  <a:close/>
                </a:path>
              </a:pathLst>
            </a:custGeom>
            <a:solidFill>
              <a:srgbClr val="F7F9F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883977" y="9703260"/>
            <a:ext cx="16542896" cy="15659"/>
            <a:chOff x="0" y="0"/>
            <a:chExt cx="22057195" cy="2087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033" y="0"/>
              <a:ext cx="22037040" cy="20955"/>
            </a:xfrm>
            <a:custGeom>
              <a:avLst/>
              <a:gdLst/>
              <a:ahLst/>
              <a:cxnLst/>
              <a:rect r="r" b="b" t="t" l="l"/>
              <a:pathLst>
                <a:path h="20955" w="22037040">
                  <a:moveTo>
                    <a:pt x="0" y="0"/>
                  </a:moveTo>
                  <a:lnTo>
                    <a:pt x="22037040" y="762"/>
                  </a:lnTo>
                  <a:lnTo>
                    <a:pt x="22037040" y="20955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D9E3EA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891540" y="9820437"/>
            <a:ext cx="3016977" cy="273777"/>
            <a:chOff x="0" y="0"/>
            <a:chExt cx="4022636" cy="3650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022640" cy="365040"/>
            </a:xfrm>
            <a:custGeom>
              <a:avLst/>
              <a:gdLst/>
              <a:ahLst/>
              <a:cxnLst/>
              <a:rect r="r" b="b" t="t" l="l"/>
              <a:pathLst>
                <a:path h="365040" w="4022640">
                  <a:moveTo>
                    <a:pt x="0" y="0"/>
                  </a:moveTo>
                  <a:lnTo>
                    <a:pt x="4022640" y="0"/>
                  </a:lnTo>
                  <a:lnTo>
                    <a:pt x="402264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4720" r="0" b="-16471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4022636" cy="3650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170"/>
                </a:lnSpc>
              </a:pPr>
              <a:r>
                <a:rPr lang="en-US" sz="975">
                  <a:solidFill>
                    <a:srgbClr val="6B7A88"/>
                  </a:solidFill>
                  <a:latin typeface="Aptos"/>
                  <a:ea typeface="Aptos"/>
                  <a:cs typeface="Aptos"/>
                  <a:sym typeface="Aptos"/>
                </a:rPr>
                <a:t>YZM304 Project 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853160" y="480060"/>
            <a:ext cx="3497037" cy="273777"/>
            <a:chOff x="0" y="0"/>
            <a:chExt cx="4662716" cy="36503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662720" cy="365040"/>
            </a:xfrm>
            <a:custGeom>
              <a:avLst/>
              <a:gdLst/>
              <a:ahLst/>
              <a:cxnLst/>
              <a:rect r="r" b="b" t="t" l="l"/>
              <a:pathLst>
                <a:path h="365040" w="4662720">
                  <a:moveTo>
                    <a:pt x="0" y="0"/>
                  </a:moveTo>
                  <a:lnTo>
                    <a:pt x="4662720" y="0"/>
                  </a:lnTo>
                  <a:lnTo>
                    <a:pt x="466272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886" r="0" b="-19888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4662716" cy="3745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INTRODUCTION / DATA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91540" y="576177"/>
            <a:ext cx="12206697" cy="603180"/>
            <a:chOff x="0" y="0"/>
            <a:chExt cx="16275596" cy="8042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6275600" cy="804240"/>
            </a:xfrm>
            <a:custGeom>
              <a:avLst/>
              <a:gdLst/>
              <a:ahLst/>
              <a:cxnLst/>
              <a:rect r="r" b="b" t="t" l="l"/>
              <a:pathLst>
                <a:path h="804240" w="16275600">
                  <a:moveTo>
                    <a:pt x="0" y="0"/>
                  </a:moveTo>
                  <a:lnTo>
                    <a:pt x="16275600" y="0"/>
                  </a:lnTo>
                  <a:lnTo>
                    <a:pt x="16275600" y="804240"/>
                  </a:lnTo>
                  <a:lnTo>
                    <a:pt x="0" y="804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4323" r="0" b="-344323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16275596" cy="804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Veri seti ve bu veriyle önceki kullanım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62917" y="1369981"/>
            <a:ext cx="1223096" cy="57779"/>
            <a:chOff x="0" y="0"/>
            <a:chExt cx="1630794" cy="7703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38100" y="0"/>
              <a:ext cx="1554607" cy="77089"/>
            </a:xfrm>
            <a:custGeom>
              <a:avLst/>
              <a:gdLst/>
              <a:ahLst/>
              <a:cxnLst/>
              <a:rect r="r" b="b" t="t" l="l"/>
              <a:pathLst>
                <a:path h="77089" w="1554607">
                  <a:moveTo>
                    <a:pt x="127" y="0"/>
                  </a:moveTo>
                  <a:lnTo>
                    <a:pt x="1554607" y="762"/>
                  </a:lnTo>
                  <a:lnTo>
                    <a:pt x="1554607" y="77089"/>
                  </a:lnTo>
                  <a:lnTo>
                    <a:pt x="0" y="76327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891540" y="1563843"/>
            <a:ext cx="13166817" cy="342357"/>
            <a:chOff x="0" y="0"/>
            <a:chExt cx="17555756" cy="4564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555759" cy="456480"/>
            </a:xfrm>
            <a:custGeom>
              <a:avLst/>
              <a:gdLst/>
              <a:ahLst/>
              <a:cxnLst/>
              <a:rect r="r" b="b" t="t" l="l"/>
              <a:pathLst>
                <a:path h="456480" w="17555759">
                  <a:moveTo>
                    <a:pt x="0" y="0"/>
                  </a:moveTo>
                  <a:lnTo>
                    <a:pt x="17555759" y="0"/>
                  </a:lnTo>
                  <a:lnTo>
                    <a:pt x="17555759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375" r="0" b="-69937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7555756" cy="4564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Overfit-GM verisi tek bir “altın standart” değil; farklı kaynakların birleşimi ve pseudo-label bilgisi içeriyor.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028700" y="2897635"/>
            <a:ext cx="5637057" cy="2893857"/>
            <a:chOff x="0" y="0"/>
            <a:chExt cx="7516076" cy="385847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9398" y="9398"/>
              <a:ext cx="7497317" cy="3839718"/>
            </a:xfrm>
            <a:custGeom>
              <a:avLst/>
              <a:gdLst/>
              <a:ahLst/>
              <a:cxnLst/>
              <a:rect r="r" b="b" t="t" l="l"/>
              <a:pathLst>
                <a:path h="3839718" w="7497317">
                  <a:moveTo>
                    <a:pt x="0" y="109601"/>
                  </a:moveTo>
                  <a:cubicBezTo>
                    <a:pt x="0" y="49022"/>
                    <a:pt x="49149" y="0"/>
                    <a:pt x="109982" y="0"/>
                  </a:cubicBezTo>
                  <a:lnTo>
                    <a:pt x="7387336" y="0"/>
                  </a:lnTo>
                  <a:cubicBezTo>
                    <a:pt x="7448042" y="0"/>
                    <a:pt x="7497317" y="49149"/>
                    <a:pt x="7497317" y="109728"/>
                  </a:cubicBezTo>
                  <a:lnTo>
                    <a:pt x="7497317" y="3729990"/>
                  </a:lnTo>
                  <a:cubicBezTo>
                    <a:pt x="7497317" y="3790569"/>
                    <a:pt x="7448042" y="3839718"/>
                    <a:pt x="7387336" y="3839718"/>
                  </a:cubicBezTo>
                  <a:lnTo>
                    <a:pt x="109982" y="3839718"/>
                  </a:lnTo>
                  <a:cubicBezTo>
                    <a:pt x="49276" y="3839718"/>
                    <a:pt x="0" y="3790569"/>
                    <a:pt x="0" y="372999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516114" cy="3858387"/>
            </a:xfrm>
            <a:custGeom>
              <a:avLst/>
              <a:gdLst/>
              <a:ahLst/>
              <a:cxnLst/>
              <a:rect r="r" b="b" t="t" l="l"/>
              <a:pathLst>
                <a:path h="3858387" w="7516114">
                  <a:moveTo>
                    <a:pt x="0" y="118999"/>
                  </a:moveTo>
                  <a:cubicBezTo>
                    <a:pt x="0" y="53340"/>
                    <a:pt x="53467" y="0"/>
                    <a:pt x="119380" y="0"/>
                  </a:cubicBezTo>
                  <a:lnTo>
                    <a:pt x="7396734" y="0"/>
                  </a:lnTo>
                  <a:lnTo>
                    <a:pt x="7396734" y="9398"/>
                  </a:lnTo>
                  <a:lnTo>
                    <a:pt x="7396734" y="0"/>
                  </a:lnTo>
                  <a:cubicBezTo>
                    <a:pt x="7462647" y="0"/>
                    <a:pt x="7516114" y="53340"/>
                    <a:pt x="7516114" y="118999"/>
                  </a:cubicBezTo>
                  <a:lnTo>
                    <a:pt x="7506715" y="118999"/>
                  </a:lnTo>
                  <a:lnTo>
                    <a:pt x="7516114" y="118999"/>
                  </a:lnTo>
                  <a:lnTo>
                    <a:pt x="7516114" y="3739388"/>
                  </a:lnTo>
                  <a:lnTo>
                    <a:pt x="7506715" y="3739388"/>
                  </a:lnTo>
                  <a:lnTo>
                    <a:pt x="7516114" y="3739388"/>
                  </a:lnTo>
                  <a:cubicBezTo>
                    <a:pt x="7516114" y="3805174"/>
                    <a:pt x="7462647" y="3858387"/>
                    <a:pt x="7396734" y="3858387"/>
                  </a:cubicBezTo>
                  <a:lnTo>
                    <a:pt x="7396734" y="3848989"/>
                  </a:lnTo>
                  <a:lnTo>
                    <a:pt x="7396734" y="3858387"/>
                  </a:lnTo>
                  <a:lnTo>
                    <a:pt x="119380" y="3858387"/>
                  </a:lnTo>
                  <a:lnTo>
                    <a:pt x="119380" y="3848989"/>
                  </a:lnTo>
                  <a:lnTo>
                    <a:pt x="119380" y="3858387"/>
                  </a:lnTo>
                  <a:cubicBezTo>
                    <a:pt x="53467" y="3858387"/>
                    <a:pt x="0" y="3805047"/>
                    <a:pt x="0" y="3739388"/>
                  </a:cubicBezTo>
                  <a:lnTo>
                    <a:pt x="0" y="118999"/>
                  </a:lnTo>
                  <a:lnTo>
                    <a:pt x="9398" y="118999"/>
                  </a:lnTo>
                  <a:lnTo>
                    <a:pt x="0" y="118999"/>
                  </a:lnTo>
                  <a:moveTo>
                    <a:pt x="18669" y="118999"/>
                  </a:moveTo>
                  <a:lnTo>
                    <a:pt x="18669" y="3739388"/>
                  </a:lnTo>
                  <a:lnTo>
                    <a:pt x="9398" y="3739388"/>
                  </a:lnTo>
                  <a:lnTo>
                    <a:pt x="18796" y="3739388"/>
                  </a:lnTo>
                  <a:cubicBezTo>
                    <a:pt x="18796" y="3794760"/>
                    <a:pt x="63754" y="3839718"/>
                    <a:pt x="119380" y="3839718"/>
                  </a:cubicBezTo>
                  <a:lnTo>
                    <a:pt x="7396734" y="3839718"/>
                  </a:lnTo>
                  <a:cubicBezTo>
                    <a:pt x="7452360" y="3839718"/>
                    <a:pt x="7497318" y="3794760"/>
                    <a:pt x="7497318" y="3739388"/>
                  </a:cubicBezTo>
                  <a:lnTo>
                    <a:pt x="7497318" y="118999"/>
                  </a:lnTo>
                  <a:cubicBezTo>
                    <a:pt x="7497318" y="63627"/>
                    <a:pt x="7452360" y="18669"/>
                    <a:pt x="7396734" y="18669"/>
                  </a:cubicBezTo>
                  <a:lnTo>
                    <a:pt x="119380" y="18669"/>
                  </a:lnTo>
                  <a:lnTo>
                    <a:pt x="119380" y="9398"/>
                  </a:lnTo>
                  <a:lnTo>
                    <a:pt x="119380" y="18796"/>
                  </a:lnTo>
                  <a:cubicBezTo>
                    <a:pt x="63754" y="18796"/>
                    <a:pt x="18796" y="63754"/>
                    <a:pt x="18796" y="119126"/>
                  </a:cubicBezTo>
                  <a:close/>
                </a:path>
              </a:pathLst>
            </a:custGeom>
            <a:solidFill>
              <a:srgbClr val="C9D6DF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258738" y="3182213"/>
            <a:ext cx="48063" cy="2338197"/>
            <a:chOff x="0" y="0"/>
            <a:chExt cx="64084" cy="311759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31623"/>
              <a:ext cx="64135" cy="3054223"/>
            </a:xfrm>
            <a:custGeom>
              <a:avLst/>
              <a:gdLst/>
              <a:ahLst/>
              <a:cxnLst/>
              <a:rect r="r" b="b" t="t" l="l"/>
              <a:pathLst>
                <a:path h="3054223" w="64135">
                  <a:moveTo>
                    <a:pt x="63373" y="0"/>
                  </a:moveTo>
                  <a:lnTo>
                    <a:pt x="64135" y="3054223"/>
                  </a:lnTo>
                  <a:lnTo>
                    <a:pt x="762" y="3054223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1B4965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515780" y="3151438"/>
            <a:ext cx="4868637" cy="379767"/>
            <a:chOff x="0" y="0"/>
            <a:chExt cx="6491516" cy="50635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491520" cy="506356"/>
            </a:xfrm>
            <a:custGeom>
              <a:avLst/>
              <a:gdLst/>
              <a:ahLst/>
              <a:cxnLst/>
              <a:rect r="r" b="b" t="t" l="l"/>
              <a:pathLst>
                <a:path h="506356" w="6491520">
                  <a:moveTo>
                    <a:pt x="0" y="0"/>
                  </a:moveTo>
                  <a:lnTo>
                    <a:pt x="6491520" y="0"/>
                  </a:lnTo>
                  <a:lnTo>
                    <a:pt x="6491520" y="506356"/>
                  </a:lnTo>
                  <a:lnTo>
                    <a:pt x="0" y="5063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6501" r="0" b="-193096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6491516" cy="5158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29"/>
                </a:lnSpc>
              </a:pPr>
              <a:r>
                <a:rPr lang="en-US" sz="2024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Veri seti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515780" y="3631498"/>
            <a:ext cx="4868637" cy="1963694"/>
            <a:chOff x="0" y="0"/>
            <a:chExt cx="6491516" cy="2618259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491520" cy="2618254"/>
            </a:xfrm>
            <a:custGeom>
              <a:avLst/>
              <a:gdLst/>
              <a:ahLst/>
              <a:cxnLst/>
              <a:rect r="r" b="b" t="t" l="l"/>
              <a:pathLst>
                <a:path h="2618254" w="6491520">
                  <a:moveTo>
                    <a:pt x="0" y="0"/>
                  </a:moveTo>
                  <a:lnTo>
                    <a:pt x="6491520" y="0"/>
                  </a:lnTo>
                  <a:lnTo>
                    <a:pt x="6491520" y="2618254"/>
                  </a:lnTo>
                  <a:lnTo>
                    <a:pt x="0" y="26182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15" t="0" r="-1315" b="837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9525"/>
              <a:ext cx="6491516" cy="26277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Overfit-GM/turkish-toxic-language: 77.800 satır, 5 hedef sınıf, Apache-2.0 lisanslı Hugging Face veri seti. Kaynaklar arasında Jigsaw, Turkish Offensive Language Dataset ve Turkish Cyberbullying Dataset yer alıyor.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6789420" y="2897635"/>
            <a:ext cx="5156997" cy="2893857"/>
            <a:chOff x="0" y="0"/>
            <a:chExt cx="6875996" cy="385847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9271" y="9398"/>
              <a:ext cx="6857365" cy="3839718"/>
            </a:xfrm>
            <a:custGeom>
              <a:avLst/>
              <a:gdLst/>
              <a:ahLst/>
              <a:cxnLst/>
              <a:rect r="r" b="b" t="t" l="l"/>
              <a:pathLst>
                <a:path h="3839718" w="6857365">
                  <a:moveTo>
                    <a:pt x="127" y="109601"/>
                  </a:moveTo>
                  <a:cubicBezTo>
                    <a:pt x="127" y="49022"/>
                    <a:pt x="49276" y="0"/>
                    <a:pt x="109982" y="0"/>
                  </a:cubicBezTo>
                  <a:lnTo>
                    <a:pt x="6747383" y="0"/>
                  </a:lnTo>
                  <a:cubicBezTo>
                    <a:pt x="6808090" y="0"/>
                    <a:pt x="6857365" y="49149"/>
                    <a:pt x="6857365" y="109728"/>
                  </a:cubicBezTo>
                  <a:lnTo>
                    <a:pt x="6857365" y="3729990"/>
                  </a:lnTo>
                  <a:cubicBezTo>
                    <a:pt x="6857365" y="3790569"/>
                    <a:pt x="6808090" y="3839718"/>
                    <a:pt x="6747383" y="3839718"/>
                  </a:cubicBezTo>
                  <a:lnTo>
                    <a:pt x="109982" y="3839718"/>
                  </a:lnTo>
                  <a:cubicBezTo>
                    <a:pt x="49276" y="3839718"/>
                    <a:pt x="0" y="3790569"/>
                    <a:pt x="0" y="372999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875907" cy="3858387"/>
            </a:xfrm>
            <a:custGeom>
              <a:avLst/>
              <a:gdLst/>
              <a:ahLst/>
              <a:cxnLst/>
              <a:rect r="r" b="b" t="t" l="l"/>
              <a:pathLst>
                <a:path h="3858387" w="6875907">
                  <a:moveTo>
                    <a:pt x="0" y="118999"/>
                  </a:moveTo>
                  <a:cubicBezTo>
                    <a:pt x="0" y="53340"/>
                    <a:pt x="53467" y="0"/>
                    <a:pt x="119253" y="0"/>
                  </a:cubicBezTo>
                  <a:lnTo>
                    <a:pt x="6756654" y="0"/>
                  </a:lnTo>
                  <a:lnTo>
                    <a:pt x="6756654" y="9398"/>
                  </a:lnTo>
                  <a:lnTo>
                    <a:pt x="6756654" y="0"/>
                  </a:lnTo>
                  <a:cubicBezTo>
                    <a:pt x="6822567" y="0"/>
                    <a:pt x="6875907" y="53340"/>
                    <a:pt x="6875907" y="118999"/>
                  </a:cubicBezTo>
                  <a:lnTo>
                    <a:pt x="6866510" y="118999"/>
                  </a:lnTo>
                  <a:lnTo>
                    <a:pt x="6875907" y="118999"/>
                  </a:lnTo>
                  <a:lnTo>
                    <a:pt x="6875907" y="3739388"/>
                  </a:lnTo>
                  <a:lnTo>
                    <a:pt x="6866510" y="3739388"/>
                  </a:lnTo>
                  <a:lnTo>
                    <a:pt x="6875907" y="3739388"/>
                  </a:lnTo>
                  <a:cubicBezTo>
                    <a:pt x="6875907" y="3805174"/>
                    <a:pt x="6822440" y="3858387"/>
                    <a:pt x="6756654" y="3858387"/>
                  </a:cubicBezTo>
                  <a:lnTo>
                    <a:pt x="6756654" y="3848989"/>
                  </a:lnTo>
                  <a:lnTo>
                    <a:pt x="6756654" y="3858387"/>
                  </a:lnTo>
                  <a:lnTo>
                    <a:pt x="119253" y="3858387"/>
                  </a:lnTo>
                  <a:lnTo>
                    <a:pt x="119253" y="3848989"/>
                  </a:lnTo>
                  <a:lnTo>
                    <a:pt x="119253" y="3858387"/>
                  </a:lnTo>
                  <a:cubicBezTo>
                    <a:pt x="53340" y="3858387"/>
                    <a:pt x="0" y="3805047"/>
                    <a:pt x="0" y="3739388"/>
                  </a:cubicBezTo>
                  <a:lnTo>
                    <a:pt x="0" y="118999"/>
                  </a:lnTo>
                  <a:lnTo>
                    <a:pt x="9398" y="118999"/>
                  </a:lnTo>
                  <a:lnTo>
                    <a:pt x="0" y="118999"/>
                  </a:lnTo>
                  <a:moveTo>
                    <a:pt x="18669" y="118999"/>
                  </a:moveTo>
                  <a:lnTo>
                    <a:pt x="18669" y="3739388"/>
                  </a:lnTo>
                  <a:lnTo>
                    <a:pt x="9398" y="3739388"/>
                  </a:lnTo>
                  <a:lnTo>
                    <a:pt x="18796" y="3739388"/>
                  </a:lnTo>
                  <a:cubicBezTo>
                    <a:pt x="18796" y="3794760"/>
                    <a:pt x="63754" y="3839718"/>
                    <a:pt x="119380" y="3839718"/>
                  </a:cubicBezTo>
                  <a:lnTo>
                    <a:pt x="6756654" y="3839718"/>
                  </a:lnTo>
                  <a:cubicBezTo>
                    <a:pt x="6812280" y="3839718"/>
                    <a:pt x="6857238" y="3794760"/>
                    <a:pt x="6857238" y="3739388"/>
                  </a:cubicBezTo>
                  <a:lnTo>
                    <a:pt x="6857238" y="118999"/>
                  </a:lnTo>
                  <a:cubicBezTo>
                    <a:pt x="6857238" y="63627"/>
                    <a:pt x="6812280" y="18669"/>
                    <a:pt x="6756654" y="18669"/>
                  </a:cubicBezTo>
                  <a:lnTo>
                    <a:pt x="119253" y="18669"/>
                  </a:lnTo>
                  <a:lnTo>
                    <a:pt x="119253" y="9398"/>
                  </a:lnTo>
                  <a:lnTo>
                    <a:pt x="119253" y="18796"/>
                  </a:lnTo>
                  <a:cubicBezTo>
                    <a:pt x="63627" y="18796"/>
                    <a:pt x="18669" y="63754"/>
                    <a:pt x="18669" y="119126"/>
                  </a:cubicBezTo>
                  <a:close/>
                </a:path>
              </a:pathLst>
            </a:custGeom>
            <a:solidFill>
              <a:srgbClr val="C9D6DF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7019458" y="3182213"/>
            <a:ext cx="48063" cy="2338197"/>
            <a:chOff x="0" y="0"/>
            <a:chExt cx="64084" cy="311759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31623"/>
              <a:ext cx="64135" cy="3054223"/>
            </a:xfrm>
            <a:custGeom>
              <a:avLst/>
              <a:gdLst/>
              <a:ahLst/>
              <a:cxnLst/>
              <a:rect r="r" b="b" t="t" l="l"/>
              <a:pathLst>
                <a:path h="3054223" w="64135">
                  <a:moveTo>
                    <a:pt x="63373" y="0"/>
                  </a:moveTo>
                  <a:lnTo>
                    <a:pt x="64135" y="3054223"/>
                  </a:lnTo>
                  <a:lnTo>
                    <a:pt x="762" y="3054223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7276500" y="3151438"/>
            <a:ext cx="4388577" cy="379767"/>
            <a:chOff x="0" y="0"/>
            <a:chExt cx="5851436" cy="50635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5851440" cy="506356"/>
            </a:xfrm>
            <a:custGeom>
              <a:avLst/>
              <a:gdLst/>
              <a:ahLst/>
              <a:cxnLst/>
              <a:rect r="r" b="b" t="t" l="l"/>
              <a:pathLst>
                <a:path h="506356" w="5851440">
                  <a:moveTo>
                    <a:pt x="0" y="0"/>
                  </a:moveTo>
                  <a:lnTo>
                    <a:pt x="5851440" y="0"/>
                  </a:lnTo>
                  <a:lnTo>
                    <a:pt x="5851440" y="506356"/>
                  </a:lnTo>
                  <a:lnTo>
                    <a:pt x="0" y="5063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1870" r="0" b="-168466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9525"/>
              <a:ext cx="5851436" cy="5158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29"/>
                </a:lnSpc>
              </a:pPr>
              <a:r>
                <a:rPr lang="en-US" sz="2024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Önceki kullanım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7276500" y="3631498"/>
            <a:ext cx="4388577" cy="1963694"/>
            <a:chOff x="0" y="0"/>
            <a:chExt cx="5851436" cy="2618259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851440" cy="2618254"/>
            </a:xfrm>
            <a:custGeom>
              <a:avLst/>
              <a:gdLst/>
              <a:ahLst/>
              <a:cxnLst/>
              <a:rect r="r" b="b" t="t" l="l"/>
              <a:pathLst>
                <a:path h="2618254" w="5851440">
                  <a:moveTo>
                    <a:pt x="0" y="0"/>
                  </a:moveTo>
                  <a:lnTo>
                    <a:pt x="5851440" y="0"/>
                  </a:lnTo>
                  <a:lnTo>
                    <a:pt x="5851440" y="2618254"/>
                  </a:lnTo>
                  <a:lnTo>
                    <a:pt x="0" y="26182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6929" t="0" r="-6929" b="837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9525"/>
              <a:ext cx="5851436" cy="26277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Hugging Face üzerinde bu veriyle eğitilmiş binary toksisite modelleri bulunuyor. Örneğin fc63/turkish-toxic-language-detection, dengelenmiş binary kurulumda self-reported F1 ≈ 0.96 raporluyor.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2275820" y="2897635"/>
            <a:ext cx="4882677" cy="2893857"/>
            <a:chOff x="0" y="0"/>
            <a:chExt cx="6510236" cy="3858476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9271" y="9398"/>
              <a:ext cx="6491732" cy="3839718"/>
            </a:xfrm>
            <a:custGeom>
              <a:avLst/>
              <a:gdLst/>
              <a:ahLst/>
              <a:cxnLst/>
              <a:rect r="r" b="b" t="t" l="l"/>
              <a:pathLst>
                <a:path h="3839718" w="6491732">
                  <a:moveTo>
                    <a:pt x="127" y="109601"/>
                  </a:moveTo>
                  <a:cubicBezTo>
                    <a:pt x="127" y="49022"/>
                    <a:pt x="49276" y="0"/>
                    <a:pt x="109982" y="0"/>
                  </a:cubicBezTo>
                  <a:lnTo>
                    <a:pt x="6381750" y="0"/>
                  </a:lnTo>
                  <a:cubicBezTo>
                    <a:pt x="6442456" y="0"/>
                    <a:pt x="6491732" y="49149"/>
                    <a:pt x="6491732" y="109728"/>
                  </a:cubicBezTo>
                  <a:lnTo>
                    <a:pt x="6491732" y="3729990"/>
                  </a:lnTo>
                  <a:cubicBezTo>
                    <a:pt x="6491732" y="3790569"/>
                    <a:pt x="6442456" y="3839718"/>
                    <a:pt x="6381750" y="3839718"/>
                  </a:cubicBezTo>
                  <a:lnTo>
                    <a:pt x="109982" y="3839718"/>
                  </a:lnTo>
                  <a:cubicBezTo>
                    <a:pt x="49276" y="3839718"/>
                    <a:pt x="0" y="3790569"/>
                    <a:pt x="0" y="372999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510274" cy="3858387"/>
            </a:xfrm>
            <a:custGeom>
              <a:avLst/>
              <a:gdLst/>
              <a:ahLst/>
              <a:cxnLst/>
              <a:rect r="r" b="b" t="t" l="l"/>
              <a:pathLst>
                <a:path h="3858387" w="6510274">
                  <a:moveTo>
                    <a:pt x="0" y="118999"/>
                  </a:moveTo>
                  <a:cubicBezTo>
                    <a:pt x="0" y="53340"/>
                    <a:pt x="53467" y="0"/>
                    <a:pt x="119253" y="0"/>
                  </a:cubicBezTo>
                  <a:lnTo>
                    <a:pt x="6391021" y="0"/>
                  </a:lnTo>
                  <a:lnTo>
                    <a:pt x="6391021" y="9398"/>
                  </a:lnTo>
                  <a:lnTo>
                    <a:pt x="6391021" y="0"/>
                  </a:lnTo>
                  <a:cubicBezTo>
                    <a:pt x="6456934" y="0"/>
                    <a:pt x="6510274" y="53340"/>
                    <a:pt x="6510274" y="118999"/>
                  </a:cubicBezTo>
                  <a:lnTo>
                    <a:pt x="6500876" y="118999"/>
                  </a:lnTo>
                  <a:lnTo>
                    <a:pt x="6510274" y="118999"/>
                  </a:lnTo>
                  <a:lnTo>
                    <a:pt x="6510274" y="3739388"/>
                  </a:lnTo>
                  <a:lnTo>
                    <a:pt x="6500876" y="3739388"/>
                  </a:lnTo>
                  <a:lnTo>
                    <a:pt x="6510274" y="3739388"/>
                  </a:lnTo>
                  <a:cubicBezTo>
                    <a:pt x="6510274" y="3805174"/>
                    <a:pt x="6456807" y="3858387"/>
                    <a:pt x="6391021" y="3858387"/>
                  </a:cubicBezTo>
                  <a:lnTo>
                    <a:pt x="6391021" y="3848989"/>
                  </a:lnTo>
                  <a:lnTo>
                    <a:pt x="6391021" y="3858387"/>
                  </a:lnTo>
                  <a:lnTo>
                    <a:pt x="119253" y="3858387"/>
                  </a:lnTo>
                  <a:lnTo>
                    <a:pt x="119253" y="3848989"/>
                  </a:lnTo>
                  <a:lnTo>
                    <a:pt x="119253" y="3858387"/>
                  </a:lnTo>
                  <a:cubicBezTo>
                    <a:pt x="53340" y="3858387"/>
                    <a:pt x="0" y="3805047"/>
                    <a:pt x="0" y="3739388"/>
                  </a:cubicBezTo>
                  <a:lnTo>
                    <a:pt x="0" y="118999"/>
                  </a:lnTo>
                  <a:lnTo>
                    <a:pt x="9398" y="118999"/>
                  </a:lnTo>
                  <a:lnTo>
                    <a:pt x="0" y="118999"/>
                  </a:lnTo>
                  <a:moveTo>
                    <a:pt x="18669" y="118999"/>
                  </a:moveTo>
                  <a:lnTo>
                    <a:pt x="18669" y="3739388"/>
                  </a:lnTo>
                  <a:lnTo>
                    <a:pt x="9398" y="3739388"/>
                  </a:lnTo>
                  <a:lnTo>
                    <a:pt x="18796" y="3739388"/>
                  </a:lnTo>
                  <a:cubicBezTo>
                    <a:pt x="18796" y="3794760"/>
                    <a:pt x="63754" y="3839718"/>
                    <a:pt x="119380" y="3839718"/>
                  </a:cubicBezTo>
                  <a:lnTo>
                    <a:pt x="6391021" y="3839718"/>
                  </a:lnTo>
                  <a:cubicBezTo>
                    <a:pt x="6446520" y="3839718"/>
                    <a:pt x="6491605" y="3794760"/>
                    <a:pt x="6491605" y="3739388"/>
                  </a:cubicBezTo>
                  <a:lnTo>
                    <a:pt x="6491605" y="118999"/>
                  </a:lnTo>
                  <a:cubicBezTo>
                    <a:pt x="6491605" y="63627"/>
                    <a:pt x="6446647" y="18669"/>
                    <a:pt x="6391021" y="18669"/>
                  </a:cubicBezTo>
                  <a:lnTo>
                    <a:pt x="119253" y="18669"/>
                  </a:lnTo>
                  <a:lnTo>
                    <a:pt x="119253" y="9398"/>
                  </a:lnTo>
                  <a:lnTo>
                    <a:pt x="119253" y="18796"/>
                  </a:lnTo>
                  <a:cubicBezTo>
                    <a:pt x="63754" y="18796"/>
                    <a:pt x="18669" y="63754"/>
                    <a:pt x="18669" y="119126"/>
                  </a:cubicBezTo>
                  <a:close/>
                </a:path>
              </a:pathLst>
            </a:custGeom>
            <a:solidFill>
              <a:srgbClr val="C9D6DF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2505858" y="3182213"/>
            <a:ext cx="48063" cy="2338197"/>
            <a:chOff x="0" y="0"/>
            <a:chExt cx="64084" cy="3117596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31623"/>
              <a:ext cx="64135" cy="3054223"/>
            </a:xfrm>
            <a:custGeom>
              <a:avLst/>
              <a:gdLst/>
              <a:ahLst/>
              <a:cxnLst/>
              <a:rect r="r" b="b" t="t" l="l"/>
              <a:pathLst>
                <a:path h="3054223" w="64135">
                  <a:moveTo>
                    <a:pt x="63373" y="0"/>
                  </a:moveTo>
                  <a:lnTo>
                    <a:pt x="64135" y="3054223"/>
                  </a:lnTo>
                  <a:lnTo>
                    <a:pt x="762" y="3054223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E76F51"/>
            </a:solid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12762900" y="3151438"/>
            <a:ext cx="4114257" cy="379767"/>
            <a:chOff x="0" y="0"/>
            <a:chExt cx="5485676" cy="50635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485680" cy="506356"/>
            </a:xfrm>
            <a:custGeom>
              <a:avLst/>
              <a:gdLst/>
              <a:ahLst/>
              <a:cxnLst/>
              <a:rect r="r" b="b" t="t" l="l"/>
              <a:pathLst>
                <a:path h="506356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506356"/>
                  </a:lnTo>
                  <a:lnTo>
                    <a:pt x="0" y="5063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7796" r="0" b="-154391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9525"/>
              <a:ext cx="5485676" cy="5158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29"/>
                </a:lnSpc>
              </a:pPr>
              <a:r>
                <a:rPr lang="en-US" sz="2024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Bu projenin farkı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2762900" y="3631498"/>
            <a:ext cx="4114257" cy="1947240"/>
            <a:chOff x="0" y="0"/>
            <a:chExt cx="5485676" cy="259632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485680" cy="2596316"/>
            </a:xfrm>
            <a:custGeom>
              <a:avLst/>
              <a:gdLst/>
              <a:ahLst/>
              <a:cxnLst/>
              <a:rect r="r" b="b" t="t" l="l"/>
              <a:pathLst>
                <a:path h="2596316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2596316"/>
                  </a:lnTo>
                  <a:lnTo>
                    <a:pt x="0" y="25963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0724" t="0" r="-10724" b="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9525"/>
              <a:ext cx="5485676" cy="2605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Binary toxic/non-toxic yerine 5 sınıflı hedefleri koruyor; sınıf bazlı F1, confusion matrix, ECE ve toxic/other threshold davranışını birlikte inceliyor.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2046056" y="7410138"/>
            <a:ext cx="14767379" cy="23222"/>
            <a:chOff x="0" y="0"/>
            <a:chExt cx="19689839" cy="30963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15113" y="0"/>
              <a:ext cx="19659601" cy="30988"/>
            </a:xfrm>
            <a:custGeom>
              <a:avLst/>
              <a:gdLst/>
              <a:ahLst/>
              <a:cxnLst/>
              <a:rect r="r" b="b" t="t" l="l"/>
              <a:pathLst>
                <a:path h="30988" w="19659601">
                  <a:moveTo>
                    <a:pt x="0" y="0"/>
                  </a:moveTo>
                  <a:lnTo>
                    <a:pt x="19659601" y="762"/>
                  </a:lnTo>
                  <a:lnTo>
                    <a:pt x="19659601" y="30988"/>
                  </a:lnTo>
                  <a:lnTo>
                    <a:pt x="0" y="30226"/>
                  </a:lnTo>
                  <a:close/>
                </a:path>
              </a:pathLst>
            </a:custGeom>
            <a:solidFill>
              <a:srgbClr val="D9E3EA"/>
            </a:solid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760134" y="7261367"/>
            <a:ext cx="320221" cy="320221"/>
            <a:chOff x="0" y="0"/>
            <a:chExt cx="426961" cy="426961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12573" y="12573"/>
              <a:ext cx="401828" cy="401828"/>
            </a:xfrm>
            <a:custGeom>
              <a:avLst/>
              <a:gdLst/>
              <a:ahLst/>
              <a:cxnLst/>
              <a:rect r="r" b="b" t="t" l="l"/>
              <a:pathLst>
                <a:path h="401828" w="401828">
                  <a:moveTo>
                    <a:pt x="0" y="200914"/>
                  </a:moveTo>
                  <a:cubicBezTo>
                    <a:pt x="0" y="89916"/>
                    <a:pt x="89916" y="0"/>
                    <a:pt x="200914" y="0"/>
                  </a:cubicBezTo>
                  <a:cubicBezTo>
                    <a:pt x="311912" y="0"/>
                    <a:pt x="401828" y="89916"/>
                    <a:pt x="401828" y="200914"/>
                  </a:cubicBezTo>
                  <a:cubicBezTo>
                    <a:pt x="401828" y="311912"/>
                    <a:pt x="311912" y="401828"/>
                    <a:pt x="200914" y="401828"/>
                  </a:cubicBezTo>
                  <a:cubicBezTo>
                    <a:pt x="89916" y="401828"/>
                    <a:pt x="0" y="311912"/>
                    <a:pt x="0" y="200914"/>
                  </a:cubicBezTo>
                  <a:close/>
                </a:path>
              </a:pathLst>
            </a:custGeom>
            <a:solidFill>
              <a:srgbClr val="1B4965"/>
            </a:solidFill>
          </p:spPr>
        </p:sp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426974" cy="426974"/>
            </a:xfrm>
            <a:custGeom>
              <a:avLst/>
              <a:gdLst/>
              <a:ahLst/>
              <a:cxnLst/>
              <a:rect r="r" b="b" t="t" l="l"/>
              <a:pathLst>
                <a:path h="426974" w="426974">
                  <a:moveTo>
                    <a:pt x="0" y="213487"/>
                  </a:moveTo>
                  <a:cubicBezTo>
                    <a:pt x="0" y="95631"/>
                    <a:pt x="95631" y="0"/>
                    <a:pt x="213487" y="0"/>
                  </a:cubicBezTo>
                  <a:lnTo>
                    <a:pt x="213487" y="12573"/>
                  </a:lnTo>
                  <a:lnTo>
                    <a:pt x="213487" y="0"/>
                  </a:lnTo>
                  <a:cubicBezTo>
                    <a:pt x="331343" y="0"/>
                    <a:pt x="426974" y="95631"/>
                    <a:pt x="426974" y="213487"/>
                  </a:cubicBezTo>
                  <a:cubicBezTo>
                    <a:pt x="426974" y="331343"/>
                    <a:pt x="331343" y="426974"/>
                    <a:pt x="213487" y="426974"/>
                  </a:cubicBezTo>
                  <a:lnTo>
                    <a:pt x="213487" y="414401"/>
                  </a:lnTo>
                  <a:lnTo>
                    <a:pt x="213487" y="426974"/>
                  </a:lnTo>
                  <a:cubicBezTo>
                    <a:pt x="95631" y="426974"/>
                    <a:pt x="0" y="331343"/>
                    <a:pt x="0" y="213487"/>
                  </a:cubicBezTo>
                  <a:lnTo>
                    <a:pt x="12573" y="213487"/>
                  </a:lnTo>
                  <a:lnTo>
                    <a:pt x="20574" y="223266"/>
                  </a:lnTo>
                  <a:cubicBezTo>
                    <a:pt x="16764" y="226314"/>
                    <a:pt x="11557" y="226949"/>
                    <a:pt x="7239" y="224917"/>
                  </a:cubicBezTo>
                  <a:cubicBezTo>
                    <a:pt x="2921" y="222885"/>
                    <a:pt x="0" y="218313"/>
                    <a:pt x="0" y="213487"/>
                  </a:cubicBezTo>
                  <a:moveTo>
                    <a:pt x="25146" y="213487"/>
                  </a:moveTo>
                  <a:lnTo>
                    <a:pt x="12573" y="213487"/>
                  </a:lnTo>
                  <a:lnTo>
                    <a:pt x="4572" y="203708"/>
                  </a:lnTo>
                  <a:cubicBezTo>
                    <a:pt x="8382" y="200660"/>
                    <a:pt x="13589" y="200025"/>
                    <a:pt x="17907" y="202057"/>
                  </a:cubicBezTo>
                  <a:cubicBezTo>
                    <a:pt x="22225" y="204089"/>
                    <a:pt x="25146" y="208534"/>
                    <a:pt x="25146" y="213487"/>
                  </a:cubicBezTo>
                  <a:cubicBezTo>
                    <a:pt x="25146" y="317500"/>
                    <a:pt x="109474" y="401828"/>
                    <a:pt x="213487" y="401828"/>
                  </a:cubicBezTo>
                  <a:cubicBezTo>
                    <a:pt x="317500" y="401828"/>
                    <a:pt x="401701" y="317500"/>
                    <a:pt x="401701" y="213487"/>
                  </a:cubicBezTo>
                  <a:lnTo>
                    <a:pt x="414274" y="213487"/>
                  </a:lnTo>
                  <a:lnTo>
                    <a:pt x="401701" y="213487"/>
                  </a:lnTo>
                  <a:cubicBezTo>
                    <a:pt x="401701" y="109474"/>
                    <a:pt x="317500" y="25146"/>
                    <a:pt x="213487" y="25146"/>
                  </a:cubicBezTo>
                  <a:lnTo>
                    <a:pt x="213487" y="12573"/>
                  </a:lnTo>
                  <a:lnTo>
                    <a:pt x="213487" y="25146"/>
                  </a:lnTo>
                  <a:cubicBezTo>
                    <a:pt x="109474" y="25146"/>
                    <a:pt x="25146" y="109474"/>
                    <a:pt x="25146" y="213487"/>
                  </a:cubicBezTo>
                  <a:close/>
                </a:path>
              </a:pathLst>
            </a:custGeom>
            <a:solidFill>
              <a:srgbClr val="1B4965"/>
            </a:solid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891540" y="7833495"/>
            <a:ext cx="2056857" cy="392624"/>
            <a:chOff x="0" y="0"/>
            <a:chExt cx="2742476" cy="523498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2742480" cy="523498"/>
            </a:xfrm>
            <a:custGeom>
              <a:avLst/>
              <a:gdLst/>
              <a:ahLst/>
              <a:cxnLst/>
              <a:rect r="r" b="b" t="t" l="l"/>
              <a:pathLst>
                <a:path h="523498" w="2742480">
                  <a:moveTo>
                    <a:pt x="0" y="0"/>
                  </a:moveTo>
                  <a:lnTo>
                    <a:pt x="2742480" y="0"/>
                  </a:lnTo>
                  <a:lnTo>
                    <a:pt x="2742480" y="523498"/>
                  </a:lnTo>
                  <a:lnTo>
                    <a:pt x="0" y="52349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197" r="0" b="-43957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9525"/>
              <a:ext cx="2742476" cy="5330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37"/>
                </a:lnSpc>
              </a:pPr>
              <a:r>
                <a:rPr lang="en-US" sz="2114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Jigsaw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754656" y="8485041"/>
            <a:ext cx="2331177" cy="479520"/>
            <a:chOff x="0" y="0"/>
            <a:chExt cx="3108236" cy="63936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3108240" cy="639364"/>
            </a:xfrm>
            <a:custGeom>
              <a:avLst/>
              <a:gdLst/>
              <a:ahLst/>
              <a:cxnLst/>
              <a:rect r="r" b="b" t="t" l="l"/>
              <a:pathLst>
                <a:path h="639364" w="3108240">
                  <a:moveTo>
                    <a:pt x="0" y="0"/>
                  </a:moveTo>
                  <a:lnTo>
                    <a:pt x="3108240" y="0"/>
                  </a:lnTo>
                  <a:lnTo>
                    <a:pt x="3108240" y="639364"/>
                  </a:lnTo>
                  <a:lnTo>
                    <a:pt x="0" y="6393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4726" r="0" b="-44724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3108236" cy="639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63"/>
                </a:lnSpc>
              </a:pPr>
              <a:r>
                <a:rPr lang="en-US" sz="1719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çok dilli toksik yorum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5326294" y="7261367"/>
            <a:ext cx="320221" cy="320221"/>
            <a:chOff x="0" y="0"/>
            <a:chExt cx="426961" cy="426961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12573" y="12573"/>
              <a:ext cx="401828" cy="401828"/>
            </a:xfrm>
            <a:custGeom>
              <a:avLst/>
              <a:gdLst/>
              <a:ahLst/>
              <a:cxnLst/>
              <a:rect r="r" b="b" t="t" l="l"/>
              <a:pathLst>
                <a:path h="401828" w="401828">
                  <a:moveTo>
                    <a:pt x="0" y="200914"/>
                  </a:moveTo>
                  <a:cubicBezTo>
                    <a:pt x="0" y="89916"/>
                    <a:pt x="89916" y="0"/>
                    <a:pt x="200914" y="0"/>
                  </a:cubicBezTo>
                  <a:cubicBezTo>
                    <a:pt x="311912" y="0"/>
                    <a:pt x="401828" y="89916"/>
                    <a:pt x="401828" y="200914"/>
                  </a:cubicBezTo>
                  <a:cubicBezTo>
                    <a:pt x="401828" y="311912"/>
                    <a:pt x="311912" y="401828"/>
                    <a:pt x="200914" y="401828"/>
                  </a:cubicBezTo>
                  <a:cubicBezTo>
                    <a:pt x="89916" y="401828"/>
                    <a:pt x="0" y="311912"/>
                    <a:pt x="0" y="200914"/>
                  </a:cubicBezTo>
                  <a:close/>
                </a:path>
              </a:pathLst>
            </a:custGeom>
            <a:solidFill>
              <a:srgbClr val="1B4965"/>
            </a:solidFill>
          </p:spPr>
        </p:sp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426974" cy="426974"/>
            </a:xfrm>
            <a:custGeom>
              <a:avLst/>
              <a:gdLst/>
              <a:ahLst/>
              <a:cxnLst/>
              <a:rect r="r" b="b" t="t" l="l"/>
              <a:pathLst>
                <a:path h="426974" w="426974">
                  <a:moveTo>
                    <a:pt x="0" y="213487"/>
                  </a:moveTo>
                  <a:cubicBezTo>
                    <a:pt x="0" y="95631"/>
                    <a:pt x="95631" y="0"/>
                    <a:pt x="213487" y="0"/>
                  </a:cubicBezTo>
                  <a:lnTo>
                    <a:pt x="213487" y="12573"/>
                  </a:lnTo>
                  <a:lnTo>
                    <a:pt x="213487" y="0"/>
                  </a:lnTo>
                  <a:cubicBezTo>
                    <a:pt x="331343" y="0"/>
                    <a:pt x="426974" y="95631"/>
                    <a:pt x="426974" y="213487"/>
                  </a:cubicBezTo>
                  <a:cubicBezTo>
                    <a:pt x="426974" y="331343"/>
                    <a:pt x="331343" y="426974"/>
                    <a:pt x="213487" y="426974"/>
                  </a:cubicBezTo>
                  <a:lnTo>
                    <a:pt x="213487" y="414401"/>
                  </a:lnTo>
                  <a:lnTo>
                    <a:pt x="213487" y="426974"/>
                  </a:lnTo>
                  <a:cubicBezTo>
                    <a:pt x="95631" y="426974"/>
                    <a:pt x="0" y="331343"/>
                    <a:pt x="0" y="213487"/>
                  </a:cubicBezTo>
                  <a:lnTo>
                    <a:pt x="12573" y="213487"/>
                  </a:lnTo>
                  <a:lnTo>
                    <a:pt x="20574" y="223266"/>
                  </a:lnTo>
                  <a:cubicBezTo>
                    <a:pt x="16764" y="226314"/>
                    <a:pt x="11557" y="226949"/>
                    <a:pt x="7239" y="224917"/>
                  </a:cubicBezTo>
                  <a:cubicBezTo>
                    <a:pt x="2921" y="222885"/>
                    <a:pt x="0" y="218313"/>
                    <a:pt x="0" y="213487"/>
                  </a:cubicBezTo>
                  <a:moveTo>
                    <a:pt x="25146" y="213487"/>
                  </a:moveTo>
                  <a:lnTo>
                    <a:pt x="12573" y="213487"/>
                  </a:lnTo>
                  <a:lnTo>
                    <a:pt x="4572" y="203708"/>
                  </a:lnTo>
                  <a:cubicBezTo>
                    <a:pt x="8382" y="200660"/>
                    <a:pt x="13589" y="200025"/>
                    <a:pt x="17907" y="202057"/>
                  </a:cubicBezTo>
                  <a:cubicBezTo>
                    <a:pt x="22225" y="204089"/>
                    <a:pt x="25146" y="208534"/>
                    <a:pt x="25146" y="213487"/>
                  </a:cubicBezTo>
                  <a:cubicBezTo>
                    <a:pt x="25146" y="317500"/>
                    <a:pt x="109474" y="401828"/>
                    <a:pt x="213487" y="401828"/>
                  </a:cubicBezTo>
                  <a:cubicBezTo>
                    <a:pt x="317500" y="401828"/>
                    <a:pt x="401701" y="317500"/>
                    <a:pt x="401701" y="213487"/>
                  </a:cubicBezTo>
                  <a:lnTo>
                    <a:pt x="414274" y="213487"/>
                  </a:lnTo>
                  <a:lnTo>
                    <a:pt x="401701" y="213487"/>
                  </a:lnTo>
                  <a:cubicBezTo>
                    <a:pt x="401701" y="109474"/>
                    <a:pt x="317500" y="25146"/>
                    <a:pt x="213487" y="25146"/>
                  </a:cubicBezTo>
                  <a:lnTo>
                    <a:pt x="213487" y="12573"/>
                  </a:lnTo>
                  <a:lnTo>
                    <a:pt x="213487" y="25146"/>
                  </a:lnTo>
                  <a:cubicBezTo>
                    <a:pt x="109474" y="25146"/>
                    <a:pt x="25146" y="109474"/>
                    <a:pt x="25146" y="213487"/>
                  </a:cubicBezTo>
                  <a:close/>
                </a:path>
              </a:pathLst>
            </a:custGeom>
            <a:solidFill>
              <a:srgbClr val="1B4965"/>
            </a:solid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4457700" y="7833495"/>
            <a:ext cx="2056857" cy="706764"/>
            <a:chOff x="0" y="0"/>
            <a:chExt cx="2742476" cy="942352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2742480" cy="942352"/>
            </a:xfrm>
            <a:custGeom>
              <a:avLst/>
              <a:gdLst/>
              <a:ahLst/>
              <a:cxnLst/>
              <a:rect r="r" b="b" t="t" l="l"/>
              <a:pathLst>
                <a:path h="942352" w="2742480">
                  <a:moveTo>
                    <a:pt x="0" y="0"/>
                  </a:moveTo>
                  <a:lnTo>
                    <a:pt x="2742480" y="0"/>
                  </a:lnTo>
                  <a:lnTo>
                    <a:pt x="2742480" y="942352"/>
                  </a:lnTo>
                  <a:lnTo>
                    <a:pt x="0" y="9423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441" r="0" b="20028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9525"/>
              <a:ext cx="2742476" cy="9518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31"/>
                </a:lnSpc>
              </a:pPr>
              <a:r>
                <a:rPr lang="en-US" sz="2109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OffensEval / TOLD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4327560" y="8540260"/>
            <a:ext cx="2331177" cy="578025"/>
            <a:chOff x="0" y="0"/>
            <a:chExt cx="3108236" cy="770701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3108240" cy="770705"/>
            </a:xfrm>
            <a:custGeom>
              <a:avLst/>
              <a:gdLst/>
              <a:ahLst/>
              <a:cxnLst/>
              <a:rect r="r" b="b" t="t" l="l"/>
              <a:pathLst>
                <a:path h="770705" w="3108240">
                  <a:moveTo>
                    <a:pt x="0" y="0"/>
                  </a:moveTo>
                  <a:lnTo>
                    <a:pt x="3108240" y="0"/>
                  </a:lnTo>
                  <a:lnTo>
                    <a:pt x="3108240" y="770705"/>
                  </a:lnTo>
                  <a:lnTo>
                    <a:pt x="0" y="77070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104" r="0" b="-20061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0"/>
              <a:ext cx="3108236" cy="7707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63"/>
                </a:lnSpc>
              </a:pPr>
              <a:r>
                <a:rPr lang="en-US" sz="1719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Türkçe offensive benchmark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8892454" y="7261367"/>
            <a:ext cx="320221" cy="320221"/>
            <a:chOff x="0" y="0"/>
            <a:chExt cx="426961" cy="426961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12573" y="12573"/>
              <a:ext cx="401828" cy="401828"/>
            </a:xfrm>
            <a:custGeom>
              <a:avLst/>
              <a:gdLst/>
              <a:ahLst/>
              <a:cxnLst/>
              <a:rect r="r" b="b" t="t" l="l"/>
              <a:pathLst>
                <a:path h="401828" w="401828">
                  <a:moveTo>
                    <a:pt x="0" y="200914"/>
                  </a:moveTo>
                  <a:cubicBezTo>
                    <a:pt x="0" y="89916"/>
                    <a:pt x="89916" y="0"/>
                    <a:pt x="200914" y="0"/>
                  </a:cubicBezTo>
                  <a:cubicBezTo>
                    <a:pt x="311912" y="0"/>
                    <a:pt x="401828" y="89916"/>
                    <a:pt x="401828" y="200914"/>
                  </a:cubicBezTo>
                  <a:cubicBezTo>
                    <a:pt x="401828" y="311912"/>
                    <a:pt x="311912" y="401828"/>
                    <a:pt x="200914" y="401828"/>
                  </a:cubicBezTo>
                  <a:cubicBezTo>
                    <a:pt x="89916" y="401828"/>
                    <a:pt x="0" y="311912"/>
                    <a:pt x="0" y="200914"/>
                  </a:cubicBezTo>
                  <a:close/>
                </a:path>
              </a:pathLst>
            </a:custGeom>
            <a:solidFill>
              <a:srgbClr val="1B4965"/>
            </a:solidFill>
          </p:spPr>
        </p:sp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426974" cy="426974"/>
            </a:xfrm>
            <a:custGeom>
              <a:avLst/>
              <a:gdLst/>
              <a:ahLst/>
              <a:cxnLst/>
              <a:rect r="r" b="b" t="t" l="l"/>
              <a:pathLst>
                <a:path h="426974" w="426974">
                  <a:moveTo>
                    <a:pt x="0" y="213487"/>
                  </a:moveTo>
                  <a:cubicBezTo>
                    <a:pt x="0" y="95631"/>
                    <a:pt x="95631" y="0"/>
                    <a:pt x="213487" y="0"/>
                  </a:cubicBezTo>
                  <a:lnTo>
                    <a:pt x="213487" y="12573"/>
                  </a:lnTo>
                  <a:lnTo>
                    <a:pt x="213487" y="0"/>
                  </a:lnTo>
                  <a:cubicBezTo>
                    <a:pt x="331343" y="0"/>
                    <a:pt x="426974" y="95631"/>
                    <a:pt x="426974" y="213487"/>
                  </a:cubicBezTo>
                  <a:cubicBezTo>
                    <a:pt x="426974" y="331343"/>
                    <a:pt x="331343" y="426974"/>
                    <a:pt x="213487" y="426974"/>
                  </a:cubicBezTo>
                  <a:lnTo>
                    <a:pt x="213487" y="414401"/>
                  </a:lnTo>
                  <a:lnTo>
                    <a:pt x="213487" y="426974"/>
                  </a:lnTo>
                  <a:cubicBezTo>
                    <a:pt x="95631" y="426974"/>
                    <a:pt x="0" y="331343"/>
                    <a:pt x="0" y="213487"/>
                  </a:cubicBezTo>
                  <a:lnTo>
                    <a:pt x="12573" y="213487"/>
                  </a:lnTo>
                  <a:lnTo>
                    <a:pt x="20574" y="223266"/>
                  </a:lnTo>
                  <a:cubicBezTo>
                    <a:pt x="16764" y="226314"/>
                    <a:pt x="11557" y="226949"/>
                    <a:pt x="7239" y="224917"/>
                  </a:cubicBezTo>
                  <a:cubicBezTo>
                    <a:pt x="2921" y="222885"/>
                    <a:pt x="0" y="218313"/>
                    <a:pt x="0" y="213487"/>
                  </a:cubicBezTo>
                  <a:moveTo>
                    <a:pt x="25146" y="213487"/>
                  </a:moveTo>
                  <a:lnTo>
                    <a:pt x="12573" y="213487"/>
                  </a:lnTo>
                  <a:lnTo>
                    <a:pt x="4572" y="203708"/>
                  </a:lnTo>
                  <a:cubicBezTo>
                    <a:pt x="8382" y="200660"/>
                    <a:pt x="13589" y="200025"/>
                    <a:pt x="17907" y="202057"/>
                  </a:cubicBezTo>
                  <a:cubicBezTo>
                    <a:pt x="22225" y="204089"/>
                    <a:pt x="25146" y="208534"/>
                    <a:pt x="25146" y="213487"/>
                  </a:cubicBezTo>
                  <a:cubicBezTo>
                    <a:pt x="25146" y="317500"/>
                    <a:pt x="109474" y="401828"/>
                    <a:pt x="213487" y="401828"/>
                  </a:cubicBezTo>
                  <a:cubicBezTo>
                    <a:pt x="317500" y="401828"/>
                    <a:pt x="401701" y="317500"/>
                    <a:pt x="401701" y="213487"/>
                  </a:cubicBezTo>
                  <a:lnTo>
                    <a:pt x="414274" y="213487"/>
                  </a:lnTo>
                  <a:lnTo>
                    <a:pt x="401701" y="213487"/>
                  </a:lnTo>
                  <a:cubicBezTo>
                    <a:pt x="401701" y="109474"/>
                    <a:pt x="317500" y="25146"/>
                    <a:pt x="213487" y="25146"/>
                  </a:cubicBezTo>
                  <a:lnTo>
                    <a:pt x="213487" y="12573"/>
                  </a:lnTo>
                  <a:lnTo>
                    <a:pt x="213487" y="25146"/>
                  </a:lnTo>
                  <a:cubicBezTo>
                    <a:pt x="109474" y="25146"/>
                    <a:pt x="25146" y="109474"/>
                    <a:pt x="25146" y="213487"/>
                  </a:cubicBezTo>
                  <a:close/>
                </a:path>
              </a:pathLst>
            </a:custGeom>
            <a:solidFill>
              <a:srgbClr val="1B4965"/>
            </a:solidFill>
          </p:spPr>
        </p:sp>
      </p:grpSp>
      <p:grpSp>
        <p:nvGrpSpPr>
          <p:cNvPr name="Group 77" id="77"/>
          <p:cNvGrpSpPr/>
          <p:nvPr/>
        </p:nvGrpSpPr>
        <p:grpSpPr>
          <a:xfrm rot="0">
            <a:off x="8023860" y="7833495"/>
            <a:ext cx="2056857" cy="392439"/>
            <a:chOff x="0" y="0"/>
            <a:chExt cx="2742476" cy="523252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2742480" cy="523252"/>
            </a:xfrm>
            <a:custGeom>
              <a:avLst/>
              <a:gdLst/>
              <a:ahLst/>
              <a:cxnLst/>
              <a:rect r="r" b="b" t="t" l="l"/>
              <a:pathLst>
                <a:path h="523252" w="2742480">
                  <a:moveTo>
                    <a:pt x="0" y="0"/>
                  </a:moveTo>
                  <a:lnTo>
                    <a:pt x="2742480" y="0"/>
                  </a:lnTo>
                  <a:lnTo>
                    <a:pt x="2742480" y="523252"/>
                  </a:lnTo>
                  <a:lnTo>
                    <a:pt x="0" y="5232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225" r="0" b="-44024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-9525"/>
              <a:ext cx="2742476" cy="5327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31"/>
                </a:lnSpc>
              </a:pPr>
              <a:r>
                <a:rPr lang="en-US" sz="2109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Cyberbullying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7886700" y="8485041"/>
            <a:ext cx="2331177" cy="479520"/>
            <a:chOff x="0" y="0"/>
            <a:chExt cx="3108236" cy="63936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3108240" cy="639364"/>
            </a:xfrm>
            <a:custGeom>
              <a:avLst/>
              <a:gdLst/>
              <a:ahLst/>
              <a:cxnLst/>
              <a:rect r="r" b="b" t="t" l="l"/>
              <a:pathLst>
                <a:path h="639364" w="3108240">
                  <a:moveTo>
                    <a:pt x="0" y="0"/>
                  </a:moveTo>
                  <a:lnTo>
                    <a:pt x="3108240" y="0"/>
                  </a:lnTo>
                  <a:lnTo>
                    <a:pt x="3108240" y="639364"/>
                  </a:lnTo>
                  <a:lnTo>
                    <a:pt x="0" y="6393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4726" r="0" b="-44724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0"/>
              <a:ext cx="3108236" cy="639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63"/>
                </a:lnSpc>
              </a:pPr>
              <a:r>
                <a:rPr lang="en-US" sz="1719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siber zorbalık örnekleri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12458614" y="7261367"/>
            <a:ext cx="320221" cy="320221"/>
            <a:chOff x="0" y="0"/>
            <a:chExt cx="426961" cy="426961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12573" y="12573"/>
              <a:ext cx="401828" cy="401828"/>
            </a:xfrm>
            <a:custGeom>
              <a:avLst/>
              <a:gdLst/>
              <a:ahLst/>
              <a:cxnLst/>
              <a:rect r="r" b="b" t="t" l="l"/>
              <a:pathLst>
                <a:path h="401828" w="401828">
                  <a:moveTo>
                    <a:pt x="0" y="200914"/>
                  </a:moveTo>
                  <a:cubicBezTo>
                    <a:pt x="0" y="89916"/>
                    <a:pt x="89916" y="0"/>
                    <a:pt x="200914" y="0"/>
                  </a:cubicBezTo>
                  <a:cubicBezTo>
                    <a:pt x="311912" y="0"/>
                    <a:pt x="401828" y="89916"/>
                    <a:pt x="401828" y="200914"/>
                  </a:cubicBezTo>
                  <a:cubicBezTo>
                    <a:pt x="401828" y="311912"/>
                    <a:pt x="311912" y="401828"/>
                    <a:pt x="200914" y="401828"/>
                  </a:cubicBezTo>
                  <a:cubicBezTo>
                    <a:pt x="89916" y="401828"/>
                    <a:pt x="0" y="311912"/>
                    <a:pt x="0" y="200914"/>
                  </a:cubicBezTo>
                  <a:close/>
                </a:path>
              </a:pathLst>
            </a:custGeom>
            <a:solidFill>
              <a:srgbClr val="1B4965"/>
            </a:solidFill>
          </p:spPr>
        </p:sp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426974" cy="426974"/>
            </a:xfrm>
            <a:custGeom>
              <a:avLst/>
              <a:gdLst/>
              <a:ahLst/>
              <a:cxnLst/>
              <a:rect r="r" b="b" t="t" l="l"/>
              <a:pathLst>
                <a:path h="426974" w="426974">
                  <a:moveTo>
                    <a:pt x="0" y="213487"/>
                  </a:moveTo>
                  <a:cubicBezTo>
                    <a:pt x="0" y="95631"/>
                    <a:pt x="95631" y="0"/>
                    <a:pt x="213487" y="0"/>
                  </a:cubicBezTo>
                  <a:lnTo>
                    <a:pt x="213487" y="12573"/>
                  </a:lnTo>
                  <a:lnTo>
                    <a:pt x="213487" y="0"/>
                  </a:lnTo>
                  <a:cubicBezTo>
                    <a:pt x="331343" y="0"/>
                    <a:pt x="426974" y="95631"/>
                    <a:pt x="426974" y="213487"/>
                  </a:cubicBezTo>
                  <a:cubicBezTo>
                    <a:pt x="426974" y="331343"/>
                    <a:pt x="331343" y="426974"/>
                    <a:pt x="213487" y="426974"/>
                  </a:cubicBezTo>
                  <a:lnTo>
                    <a:pt x="213487" y="414401"/>
                  </a:lnTo>
                  <a:lnTo>
                    <a:pt x="213487" y="426974"/>
                  </a:lnTo>
                  <a:cubicBezTo>
                    <a:pt x="95631" y="426974"/>
                    <a:pt x="0" y="331343"/>
                    <a:pt x="0" y="213487"/>
                  </a:cubicBezTo>
                  <a:lnTo>
                    <a:pt x="12573" y="213487"/>
                  </a:lnTo>
                  <a:lnTo>
                    <a:pt x="20574" y="223266"/>
                  </a:lnTo>
                  <a:cubicBezTo>
                    <a:pt x="16764" y="226314"/>
                    <a:pt x="11557" y="226949"/>
                    <a:pt x="7239" y="224917"/>
                  </a:cubicBezTo>
                  <a:cubicBezTo>
                    <a:pt x="2921" y="222885"/>
                    <a:pt x="0" y="218313"/>
                    <a:pt x="0" y="213487"/>
                  </a:cubicBezTo>
                  <a:moveTo>
                    <a:pt x="25146" y="213487"/>
                  </a:moveTo>
                  <a:lnTo>
                    <a:pt x="12573" y="213487"/>
                  </a:lnTo>
                  <a:lnTo>
                    <a:pt x="4572" y="203708"/>
                  </a:lnTo>
                  <a:cubicBezTo>
                    <a:pt x="8382" y="200660"/>
                    <a:pt x="13589" y="200025"/>
                    <a:pt x="17907" y="202057"/>
                  </a:cubicBezTo>
                  <a:cubicBezTo>
                    <a:pt x="22225" y="204089"/>
                    <a:pt x="25146" y="208534"/>
                    <a:pt x="25146" y="213487"/>
                  </a:cubicBezTo>
                  <a:cubicBezTo>
                    <a:pt x="25146" y="317500"/>
                    <a:pt x="109474" y="401828"/>
                    <a:pt x="213487" y="401828"/>
                  </a:cubicBezTo>
                  <a:cubicBezTo>
                    <a:pt x="317500" y="401828"/>
                    <a:pt x="401701" y="317500"/>
                    <a:pt x="401701" y="213487"/>
                  </a:cubicBezTo>
                  <a:lnTo>
                    <a:pt x="414274" y="213487"/>
                  </a:lnTo>
                  <a:lnTo>
                    <a:pt x="401701" y="213487"/>
                  </a:lnTo>
                  <a:cubicBezTo>
                    <a:pt x="401701" y="109474"/>
                    <a:pt x="317500" y="25146"/>
                    <a:pt x="213487" y="25146"/>
                  </a:cubicBezTo>
                  <a:lnTo>
                    <a:pt x="213487" y="12573"/>
                  </a:lnTo>
                  <a:lnTo>
                    <a:pt x="213487" y="25146"/>
                  </a:lnTo>
                  <a:cubicBezTo>
                    <a:pt x="109474" y="25146"/>
                    <a:pt x="25146" y="109474"/>
                    <a:pt x="25146" y="213487"/>
                  </a:cubicBezTo>
                  <a:close/>
                </a:path>
              </a:pathLst>
            </a:custGeom>
            <a:solidFill>
              <a:srgbClr val="1B4965"/>
            </a:solid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11590020" y="7833495"/>
            <a:ext cx="2056857" cy="706764"/>
            <a:chOff x="0" y="0"/>
            <a:chExt cx="2742476" cy="94235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2742480" cy="942352"/>
            </a:xfrm>
            <a:custGeom>
              <a:avLst/>
              <a:gdLst/>
              <a:ahLst/>
              <a:cxnLst/>
              <a:rect r="r" b="b" t="t" l="l"/>
              <a:pathLst>
                <a:path h="942352" w="2742480">
                  <a:moveTo>
                    <a:pt x="0" y="0"/>
                  </a:moveTo>
                  <a:lnTo>
                    <a:pt x="2742480" y="0"/>
                  </a:lnTo>
                  <a:lnTo>
                    <a:pt x="2742480" y="942352"/>
                  </a:lnTo>
                  <a:lnTo>
                    <a:pt x="0" y="9423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441" r="0" b="20028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9525"/>
              <a:ext cx="2742476" cy="9518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31"/>
                </a:lnSpc>
              </a:pPr>
              <a:r>
                <a:rPr lang="en-US" sz="2109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Merged + pseudo labels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11452860" y="8540260"/>
            <a:ext cx="2331177" cy="479520"/>
            <a:chOff x="0" y="0"/>
            <a:chExt cx="3108236" cy="639360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3108240" cy="639364"/>
            </a:xfrm>
            <a:custGeom>
              <a:avLst/>
              <a:gdLst/>
              <a:ahLst/>
              <a:cxnLst/>
              <a:rect r="r" b="b" t="t" l="l"/>
              <a:pathLst>
                <a:path h="639364" w="3108240">
                  <a:moveTo>
                    <a:pt x="0" y="0"/>
                  </a:moveTo>
                  <a:lnTo>
                    <a:pt x="3108240" y="0"/>
                  </a:lnTo>
                  <a:lnTo>
                    <a:pt x="3108240" y="639364"/>
                  </a:lnTo>
                  <a:lnTo>
                    <a:pt x="0" y="6393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4726" r="0" b="-44724"/>
              </a:stretch>
            </a:blipFill>
          </p:spPr>
        </p:sp>
        <p:sp>
          <p:nvSpPr>
            <p:cNvPr name="TextBox 91" id="91"/>
            <p:cNvSpPr txBox="true"/>
            <p:nvPr/>
          </p:nvSpPr>
          <p:spPr>
            <a:xfrm>
              <a:off x="0" y="0"/>
              <a:ext cx="3108236" cy="639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63"/>
                </a:lnSpc>
              </a:pPr>
              <a:r>
                <a:rPr lang="en-US" sz="1719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77.8k / 5 sınıf</a:t>
              </a:r>
            </a:p>
          </p:txBody>
        </p:sp>
      </p:grpSp>
      <p:grpSp>
        <p:nvGrpSpPr>
          <p:cNvPr name="Group 92" id="92"/>
          <p:cNvGrpSpPr/>
          <p:nvPr/>
        </p:nvGrpSpPr>
        <p:grpSpPr>
          <a:xfrm rot="0">
            <a:off x="16024774" y="7261367"/>
            <a:ext cx="320221" cy="320221"/>
            <a:chOff x="0" y="0"/>
            <a:chExt cx="426961" cy="426961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12573" y="12573"/>
              <a:ext cx="401828" cy="401828"/>
            </a:xfrm>
            <a:custGeom>
              <a:avLst/>
              <a:gdLst/>
              <a:ahLst/>
              <a:cxnLst/>
              <a:rect r="r" b="b" t="t" l="l"/>
              <a:pathLst>
                <a:path h="401828" w="401828">
                  <a:moveTo>
                    <a:pt x="0" y="200914"/>
                  </a:moveTo>
                  <a:cubicBezTo>
                    <a:pt x="0" y="89916"/>
                    <a:pt x="89916" y="0"/>
                    <a:pt x="200914" y="0"/>
                  </a:cubicBezTo>
                  <a:cubicBezTo>
                    <a:pt x="311912" y="0"/>
                    <a:pt x="401828" y="89916"/>
                    <a:pt x="401828" y="200914"/>
                  </a:cubicBezTo>
                  <a:cubicBezTo>
                    <a:pt x="401828" y="311912"/>
                    <a:pt x="311912" y="401828"/>
                    <a:pt x="200914" y="401828"/>
                  </a:cubicBezTo>
                  <a:cubicBezTo>
                    <a:pt x="89916" y="401828"/>
                    <a:pt x="0" y="311912"/>
                    <a:pt x="0" y="200914"/>
                  </a:cubicBezTo>
                  <a:close/>
                </a:path>
              </a:pathLst>
            </a:custGeom>
            <a:solidFill>
              <a:srgbClr val="E76F51"/>
            </a:solidFill>
          </p:spPr>
        </p:sp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426974" cy="426974"/>
            </a:xfrm>
            <a:custGeom>
              <a:avLst/>
              <a:gdLst/>
              <a:ahLst/>
              <a:cxnLst/>
              <a:rect r="r" b="b" t="t" l="l"/>
              <a:pathLst>
                <a:path h="426974" w="426974">
                  <a:moveTo>
                    <a:pt x="0" y="213487"/>
                  </a:moveTo>
                  <a:cubicBezTo>
                    <a:pt x="0" y="95631"/>
                    <a:pt x="95631" y="0"/>
                    <a:pt x="213487" y="0"/>
                  </a:cubicBezTo>
                  <a:lnTo>
                    <a:pt x="213487" y="12573"/>
                  </a:lnTo>
                  <a:lnTo>
                    <a:pt x="213487" y="0"/>
                  </a:lnTo>
                  <a:cubicBezTo>
                    <a:pt x="331343" y="0"/>
                    <a:pt x="426974" y="95631"/>
                    <a:pt x="426974" y="213487"/>
                  </a:cubicBezTo>
                  <a:cubicBezTo>
                    <a:pt x="426974" y="331343"/>
                    <a:pt x="331343" y="426974"/>
                    <a:pt x="213487" y="426974"/>
                  </a:cubicBezTo>
                  <a:lnTo>
                    <a:pt x="213487" y="414401"/>
                  </a:lnTo>
                  <a:lnTo>
                    <a:pt x="213487" y="426974"/>
                  </a:lnTo>
                  <a:cubicBezTo>
                    <a:pt x="95631" y="426974"/>
                    <a:pt x="0" y="331343"/>
                    <a:pt x="0" y="213487"/>
                  </a:cubicBezTo>
                  <a:lnTo>
                    <a:pt x="12573" y="213487"/>
                  </a:lnTo>
                  <a:lnTo>
                    <a:pt x="20574" y="223266"/>
                  </a:lnTo>
                  <a:cubicBezTo>
                    <a:pt x="16764" y="226314"/>
                    <a:pt x="11557" y="226949"/>
                    <a:pt x="7239" y="224917"/>
                  </a:cubicBezTo>
                  <a:cubicBezTo>
                    <a:pt x="2921" y="222885"/>
                    <a:pt x="0" y="218313"/>
                    <a:pt x="0" y="213487"/>
                  </a:cubicBezTo>
                  <a:moveTo>
                    <a:pt x="25146" y="213487"/>
                  </a:moveTo>
                  <a:lnTo>
                    <a:pt x="12573" y="213487"/>
                  </a:lnTo>
                  <a:lnTo>
                    <a:pt x="4572" y="203708"/>
                  </a:lnTo>
                  <a:cubicBezTo>
                    <a:pt x="8382" y="200660"/>
                    <a:pt x="13589" y="200025"/>
                    <a:pt x="17907" y="202057"/>
                  </a:cubicBezTo>
                  <a:cubicBezTo>
                    <a:pt x="22225" y="204089"/>
                    <a:pt x="25146" y="208534"/>
                    <a:pt x="25146" y="213487"/>
                  </a:cubicBezTo>
                  <a:cubicBezTo>
                    <a:pt x="25146" y="317500"/>
                    <a:pt x="109474" y="401828"/>
                    <a:pt x="213487" y="401828"/>
                  </a:cubicBezTo>
                  <a:cubicBezTo>
                    <a:pt x="317500" y="401828"/>
                    <a:pt x="401701" y="317500"/>
                    <a:pt x="401701" y="213487"/>
                  </a:cubicBezTo>
                  <a:lnTo>
                    <a:pt x="414274" y="213487"/>
                  </a:lnTo>
                  <a:lnTo>
                    <a:pt x="401701" y="213487"/>
                  </a:lnTo>
                  <a:cubicBezTo>
                    <a:pt x="401701" y="109474"/>
                    <a:pt x="317500" y="25146"/>
                    <a:pt x="213487" y="25146"/>
                  </a:cubicBezTo>
                  <a:lnTo>
                    <a:pt x="213487" y="12573"/>
                  </a:lnTo>
                  <a:lnTo>
                    <a:pt x="213487" y="25146"/>
                  </a:lnTo>
                  <a:cubicBezTo>
                    <a:pt x="109474" y="25146"/>
                    <a:pt x="25146" y="109474"/>
                    <a:pt x="25146" y="213487"/>
                  </a:cubicBezTo>
                  <a:close/>
                </a:path>
              </a:pathLst>
            </a:custGeom>
            <a:solidFill>
              <a:srgbClr val="E76F51"/>
            </a:solidFill>
          </p:spPr>
        </p:sp>
      </p:grpSp>
      <p:grpSp>
        <p:nvGrpSpPr>
          <p:cNvPr name="Group 95" id="95"/>
          <p:cNvGrpSpPr/>
          <p:nvPr/>
        </p:nvGrpSpPr>
        <p:grpSpPr>
          <a:xfrm rot="0">
            <a:off x="15156180" y="7833495"/>
            <a:ext cx="2056857" cy="392439"/>
            <a:chOff x="0" y="0"/>
            <a:chExt cx="2742476" cy="523252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2742480" cy="523252"/>
            </a:xfrm>
            <a:custGeom>
              <a:avLst/>
              <a:gdLst/>
              <a:ahLst/>
              <a:cxnLst/>
              <a:rect r="r" b="b" t="t" l="l"/>
              <a:pathLst>
                <a:path h="523252" w="2742480">
                  <a:moveTo>
                    <a:pt x="0" y="0"/>
                  </a:moveTo>
                  <a:lnTo>
                    <a:pt x="2742480" y="0"/>
                  </a:lnTo>
                  <a:lnTo>
                    <a:pt x="2742480" y="523252"/>
                  </a:lnTo>
                  <a:lnTo>
                    <a:pt x="0" y="5232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225" r="0" b="-44024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9525"/>
              <a:ext cx="2742476" cy="5327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31"/>
                </a:lnSpc>
              </a:pPr>
              <a:r>
                <a:rPr lang="en-US" sz="2109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Bu proje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15022287" y="8540260"/>
            <a:ext cx="2331177" cy="479520"/>
            <a:chOff x="0" y="0"/>
            <a:chExt cx="3108236" cy="639360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3108240" cy="639364"/>
            </a:xfrm>
            <a:custGeom>
              <a:avLst/>
              <a:gdLst/>
              <a:ahLst/>
              <a:cxnLst/>
              <a:rect r="r" b="b" t="t" l="l"/>
              <a:pathLst>
                <a:path h="639364" w="3108240">
                  <a:moveTo>
                    <a:pt x="0" y="0"/>
                  </a:moveTo>
                  <a:lnTo>
                    <a:pt x="3108240" y="0"/>
                  </a:lnTo>
                  <a:lnTo>
                    <a:pt x="3108240" y="639364"/>
                  </a:lnTo>
                  <a:lnTo>
                    <a:pt x="0" y="6393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4726" r="0" b="-44724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0"/>
              <a:ext cx="3108236" cy="639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63"/>
                </a:lnSpc>
              </a:pPr>
              <a:r>
                <a:rPr lang="en-US" sz="1719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kalibrasyon + threshold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449" y="-9449"/>
            <a:ext cx="18306002" cy="10305364"/>
            <a:chOff x="0" y="0"/>
            <a:chExt cx="24408003" cy="137404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573" y="12573"/>
              <a:ext cx="24382857" cy="13715364"/>
            </a:xfrm>
            <a:custGeom>
              <a:avLst/>
              <a:gdLst/>
              <a:ahLst/>
              <a:cxnLst/>
              <a:rect r="r" b="b" t="t" l="l"/>
              <a:pathLst>
                <a:path h="13715364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3715364"/>
                  </a:lnTo>
                  <a:lnTo>
                    <a:pt x="0" y="13715364"/>
                  </a:lnTo>
                  <a:close/>
                </a:path>
              </a:pathLst>
            </a:custGeom>
            <a:solidFill>
              <a:srgbClr val="F7F9FC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408003" cy="13740510"/>
            </a:xfrm>
            <a:custGeom>
              <a:avLst/>
              <a:gdLst/>
              <a:ahLst/>
              <a:cxnLst/>
              <a:rect r="r" b="b" t="t" l="l"/>
              <a:pathLst>
                <a:path h="13740510" w="24408003">
                  <a:moveTo>
                    <a:pt x="12573" y="0"/>
                  </a:moveTo>
                  <a:lnTo>
                    <a:pt x="24395430" y="0"/>
                  </a:lnTo>
                  <a:cubicBezTo>
                    <a:pt x="24402416" y="0"/>
                    <a:pt x="24408003" y="5588"/>
                    <a:pt x="24408003" y="12573"/>
                  </a:cubicBezTo>
                  <a:lnTo>
                    <a:pt x="24408003" y="13727937"/>
                  </a:lnTo>
                  <a:cubicBezTo>
                    <a:pt x="24408003" y="13734923"/>
                    <a:pt x="24402416" y="13740510"/>
                    <a:pt x="24395430" y="13740510"/>
                  </a:cubicBezTo>
                  <a:lnTo>
                    <a:pt x="12573" y="13740510"/>
                  </a:lnTo>
                  <a:cubicBezTo>
                    <a:pt x="5588" y="13740510"/>
                    <a:pt x="0" y="13734923"/>
                    <a:pt x="0" y="13727937"/>
                  </a:cubicBezTo>
                  <a:lnTo>
                    <a:pt x="0" y="12573"/>
                  </a:lnTo>
                  <a:cubicBezTo>
                    <a:pt x="0" y="5588"/>
                    <a:pt x="5588" y="0"/>
                    <a:pt x="12573" y="0"/>
                  </a:cubicBezTo>
                  <a:moveTo>
                    <a:pt x="12573" y="25146"/>
                  </a:moveTo>
                  <a:lnTo>
                    <a:pt x="12573" y="12573"/>
                  </a:lnTo>
                  <a:lnTo>
                    <a:pt x="25146" y="12573"/>
                  </a:lnTo>
                  <a:lnTo>
                    <a:pt x="25146" y="13727937"/>
                  </a:lnTo>
                  <a:lnTo>
                    <a:pt x="12573" y="13727937"/>
                  </a:lnTo>
                  <a:lnTo>
                    <a:pt x="12573" y="13715364"/>
                  </a:lnTo>
                  <a:lnTo>
                    <a:pt x="24395430" y="13715364"/>
                  </a:lnTo>
                  <a:lnTo>
                    <a:pt x="24395430" y="13727937"/>
                  </a:lnTo>
                  <a:lnTo>
                    <a:pt x="24382857" y="13727937"/>
                  </a:lnTo>
                  <a:lnTo>
                    <a:pt x="24382857" y="12573"/>
                  </a:lnTo>
                  <a:lnTo>
                    <a:pt x="24395430" y="12573"/>
                  </a:lnTo>
                  <a:lnTo>
                    <a:pt x="24395430" y="25146"/>
                  </a:lnTo>
                  <a:lnTo>
                    <a:pt x="12573" y="25146"/>
                  </a:lnTo>
                  <a:close/>
                </a:path>
              </a:pathLst>
            </a:custGeom>
            <a:solidFill>
              <a:srgbClr val="F7F9F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883977" y="9703260"/>
            <a:ext cx="16542896" cy="15659"/>
            <a:chOff x="0" y="0"/>
            <a:chExt cx="22057195" cy="2087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033" y="0"/>
              <a:ext cx="22037040" cy="20955"/>
            </a:xfrm>
            <a:custGeom>
              <a:avLst/>
              <a:gdLst/>
              <a:ahLst/>
              <a:cxnLst/>
              <a:rect r="r" b="b" t="t" l="l"/>
              <a:pathLst>
                <a:path h="20955" w="22037040">
                  <a:moveTo>
                    <a:pt x="0" y="0"/>
                  </a:moveTo>
                  <a:lnTo>
                    <a:pt x="22037040" y="762"/>
                  </a:lnTo>
                  <a:lnTo>
                    <a:pt x="22037040" y="20955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D9E3EA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891540" y="9820437"/>
            <a:ext cx="3016977" cy="273777"/>
            <a:chOff x="0" y="0"/>
            <a:chExt cx="4022636" cy="3650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022640" cy="365040"/>
            </a:xfrm>
            <a:custGeom>
              <a:avLst/>
              <a:gdLst/>
              <a:ahLst/>
              <a:cxnLst/>
              <a:rect r="r" b="b" t="t" l="l"/>
              <a:pathLst>
                <a:path h="365040" w="4022640">
                  <a:moveTo>
                    <a:pt x="0" y="0"/>
                  </a:moveTo>
                  <a:lnTo>
                    <a:pt x="4022640" y="0"/>
                  </a:lnTo>
                  <a:lnTo>
                    <a:pt x="402264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4720" r="0" b="-16471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4022636" cy="3650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170"/>
                </a:lnSpc>
              </a:pPr>
              <a:r>
                <a:rPr lang="en-US" sz="975">
                  <a:solidFill>
                    <a:srgbClr val="6B7A88"/>
                  </a:solidFill>
                  <a:latin typeface="Aptos"/>
                  <a:ea typeface="Aptos"/>
                  <a:cs typeface="Aptos"/>
                  <a:sym typeface="Aptos"/>
                </a:rPr>
                <a:t>YZM304 Project 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853160" y="480060"/>
            <a:ext cx="3497037" cy="273777"/>
            <a:chOff x="0" y="0"/>
            <a:chExt cx="4662716" cy="36503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662720" cy="365040"/>
            </a:xfrm>
            <a:custGeom>
              <a:avLst/>
              <a:gdLst/>
              <a:ahLst/>
              <a:cxnLst/>
              <a:rect r="r" b="b" t="t" l="l"/>
              <a:pathLst>
                <a:path h="365040" w="4662720">
                  <a:moveTo>
                    <a:pt x="0" y="0"/>
                  </a:moveTo>
                  <a:lnTo>
                    <a:pt x="4662720" y="0"/>
                  </a:lnTo>
                  <a:lnTo>
                    <a:pt x="466272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886" r="0" b="-19888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4662716" cy="3745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DATA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91540" y="576177"/>
            <a:ext cx="12206697" cy="603180"/>
            <a:chOff x="0" y="0"/>
            <a:chExt cx="16275596" cy="8042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6275600" cy="804240"/>
            </a:xfrm>
            <a:custGeom>
              <a:avLst/>
              <a:gdLst/>
              <a:ahLst/>
              <a:cxnLst/>
              <a:rect r="r" b="b" t="t" l="l"/>
              <a:pathLst>
                <a:path h="804240" w="16275600">
                  <a:moveTo>
                    <a:pt x="0" y="0"/>
                  </a:moveTo>
                  <a:lnTo>
                    <a:pt x="16275600" y="0"/>
                  </a:lnTo>
                  <a:lnTo>
                    <a:pt x="16275600" y="804240"/>
                  </a:lnTo>
                  <a:lnTo>
                    <a:pt x="0" y="804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4323" r="0" b="-344323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16275596" cy="804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Veri denetimi: büyük ama dengesiz ve heterojen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62917" y="1369981"/>
            <a:ext cx="1223096" cy="57779"/>
            <a:chOff x="0" y="0"/>
            <a:chExt cx="1630794" cy="7703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38100" y="0"/>
              <a:ext cx="1554607" cy="77089"/>
            </a:xfrm>
            <a:custGeom>
              <a:avLst/>
              <a:gdLst/>
              <a:ahLst/>
              <a:cxnLst/>
              <a:rect r="r" b="b" t="t" l="l"/>
              <a:pathLst>
                <a:path h="77089" w="1554607">
                  <a:moveTo>
                    <a:pt x="127" y="0"/>
                  </a:moveTo>
                  <a:lnTo>
                    <a:pt x="1554607" y="762"/>
                  </a:lnTo>
                  <a:lnTo>
                    <a:pt x="1554607" y="77089"/>
                  </a:lnTo>
                  <a:lnTo>
                    <a:pt x="0" y="76327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891540" y="1563843"/>
            <a:ext cx="13166817" cy="342357"/>
            <a:chOff x="0" y="0"/>
            <a:chExt cx="17555756" cy="4564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555759" cy="456480"/>
            </a:xfrm>
            <a:custGeom>
              <a:avLst/>
              <a:gdLst/>
              <a:ahLst/>
              <a:cxnLst/>
              <a:rect r="r" b="b" t="t" l="l"/>
              <a:pathLst>
                <a:path h="456480" w="17555759">
                  <a:moveTo>
                    <a:pt x="0" y="0"/>
                  </a:moveTo>
                  <a:lnTo>
                    <a:pt x="17555759" y="0"/>
                  </a:lnTo>
                  <a:lnTo>
                    <a:pt x="17555759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375" r="0" b="-69937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7555756" cy="4564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77.800 satır; medyan uzunluk 103 karakter, p95 uzunluk 643 karakter.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886217" y="2167023"/>
            <a:ext cx="5828757" cy="3497037"/>
            <a:chOff x="0" y="0"/>
            <a:chExt cx="7771676" cy="4662716"/>
          </a:xfrm>
        </p:grpSpPr>
        <p:sp>
          <p:nvSpPr>
            <p:cNvPr name="Freeform 22" id="22" descr="/mnt/data/p7_extract/ppt/media/image.png"/>
            <p:cNvSpPr/>
            <p:nvPr/>
          </p:nvSpPr>
          <p:spPr>
            <a:xfrm flipH="false" flipV="false" rot="0">
              <a:off x="0" y="0"/>
              <a:ext cx="7771638" cy="4662678"/>
            </a:xfrm>
            <a:custGeom>
              <a:avLst/>
              <a:gdLst/>
              <a:ahLst/>
              <a:cxnLst/>
              <a:rect r="r" b="b" t="t" l="l"/>
              <a:pathLst>
                <a:path h="4662678" w="7771638">
                  <a:moveTo>
                    <a:pt x="0" y="0"/>
                  </a:moveTo>
                  <a:lnTo>
                    <a:pt x="7771638" y="0"/>
                  </a:lnTo>
                  <a:lnTo>
                    <a:pt x="7771638" y="4662678"/>
                  </a:lnTo>
                  <a:lnTo>
                    <a:pt x="0" y="46626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2" r="0" b="-4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886217" y="5829300"/>
            <a:ext cx="5828757" cy="3497128"/>
            <a:chOff x="0" y="0"/>
            <a:chExt cx="6704635" cy="4022636"/>
          </a:xfrm>
        </p:grpSpPr>
        <p:sp>
          <p:nvSpPr>
            <p:cNvPr name="Freeform 24" id="24" descr="/mnt/data/p7_extract/ppt/media/image2.png"/>
            <p:cNvSpPr/>
            <p:nvPr/>
          </p:nvSpPr>
          <p:spPr>
            <a:xfrm flipH="false" flipV="false" rot="0">
              <a:off x="0" y="0"/>
              <a:ext cx="6704584" cy="4022598"/>
            </a:xfrm>
            <a:custGeom>
              <a:avLst/>
              <a:gdLst/>
              <a:ahLst/>
              <a:cxnLst/>
              <a:rect r="r" b="b" t="t" l="l"/>
              <a:pathLst>
                <a:path h="4022598" w="6704584">
                  <a:moveTo>
                    <a:pt x="0" y="0"/>
                  </a:moveTo>
                  <a:lnTo>
                    <a:pt x="6704584" y="0"/>
                  </a:lnTo>
                  <a:lnTo>
                    <a:pt x="6704584" y="4022598"/>
                  </a:lnTo>
                  <a:lnTo>
                    <a:pt x="0" y="40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" r="0" b="-2"/>
              </a:stretch>
            </a:blipFill>
          </p:spPr>
        </p:sp>
      </p:grpSp>
      <p:graphicFrame>
        <p:nvGraphicFramePr>
          <p:cNvPr name="Table 25" id="25"/>
          <p:cNvGraphicFramePr>
            <a:graphicFrameLocks noGrp="true"/>
          </p:cNvGraphicFramePr>
          <p:nvPr/>
        </p:nvGraphicFramePr>
        <p:xfrm>
          <a:off x="8279401" y="3543752"/>
          <a:ext cx="4659411" cy="4474445"/>
        </p:xfrm>
        <a:graphic>
          <a:graphicData uri="http://schemas.openxmlformats.org/drawingml/2006/table">
            <a:tbl>
              <a:tblPr/>
              <a:tblGrid>
                <a:gridCol w="1991711"/>
                <a:gridCol w="1333850"/>
                <a:gridCol w="1333850"/>
              </a:tblGrid>
              <a:tr h="74574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Sınıf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Satır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Pay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</a:tr>
              <a:tr h="74574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OTHER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37.663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48.4%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574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PROFANITY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18.252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23.5%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574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INSULT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10.777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13.9%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574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RACIST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10.163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13.1%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574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SEXIST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945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1.2%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name="Group 26" id="26"/>
          <p:cNvGrpSpPr/>
          <p:nvPr/>
        </p:nvGrpSpPr>
        <p:grpSpPr>
          <a:xfrm rot="0">
            <a:off x="13503240" y="2215077"/>
            <a:ext cx="3511077" cy="1865157"/>
            <a:chOff x="0" y="0"/>
            <a:chExt cx="4681436" cy="248687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9271" y="9398"/>
              <a:ext cx="4662805" cy="2468118"/>
            </a:xfrm>
            <a:custGeom>
              <a:avLst/>
              <a:gdLst/>
              <a:ahLst/>
              <a:cxnLst/>
              <a:rect r="r" b="b" t="t" l="l"/>
              <a:pathLst>
                <a:path h="2468118" w="4662805">
                  <a:moveTo>
                    <a:pt x="127" y="109601"/>
                  </a:moveTo>
                  <a:cubicBezTo>
                    <a:pt x="127" y="49022"/>
                    <a:pt x="49403" y="0"/>
                    <a:pt x="110109" y="0"/>
                  </a:cubicBezTo>
                  <a:lnTo>
                    <a:pt x="4552696" y="0"/>
                  </a:lnTo>
                  <a:cubicBezTo>
                    <a:pt x="4613529" y="0"/>
                    <a:pt x="4662805" y="49149"/>
                    <a:pt x="4662805" y="109728"/>
                  </a:cubicBezTo>
                  <a:lnTo>
                    <a:pt x="4662805" y="2358390"/>
                  </a:lnTo>
                  <a:cubicBezTo>
                    <a:pt x="4662805" y="2418969"/>
                    <a:pt x="4613529" y="2468118"/>
                    <a:pt x="4552696" y="2468118"/>
                  </a:cubicBezTo>
                  <a:lnTo>
                    <a:pt x="110109" y="2468118"/>
                  </a:lnTo>
                  <a:cubicBezTo>
                    <a:pt x="49276" y="2468118"/>
                    <a:pt x="0" y="2418969"/>
                    <a:pt x="0" y="235839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681347" cy="2486787"/>
            </a:xfrm>
            <a:custGeom>
              <a:avLst/>
              <a:gdLst/>
              <a:ahLst/>
              <a:cxnLst/>
              <a:rect r="r" b="b" t="t" l="l"/>
              <a:pathLst>
                <a:path h="2486787" w="4681347">
                  <a:moveTo>
                    <a:pt x="0" y="118999"/>
                  </a:moveTo>
                  <a:cubicBezTo>
                    <a:pt x="0" y="53213"/>
                    <a:pt x="53467" y="0"/>
                    <a:pt x="119380" y="0"/>
                  </a:cubicBezTo>
                  <a:lnTo>
                    <a:pt x="4561967" y="0"/>
                  </a:lnTo>
                  <a:lnTo>
                    <a:pt x="4561967" y="9398"/>
                  </a:lnTo>
                  <a:lnTo>
                    <a:pt x="4561967" y="0"/>
                  </a:lnTo>
                  <a:cubicBezTo>
                    <a:pt x="4627880" y="0"/>
                    <a:pt x="4681347" y="53213"/>
                    <a:pt x="4681347" y="118999"/>
                  </a:cubicBezTo>
                  <a:lnTo>
                    <a:pt x="4671949" y="118999"/>
                  </a:lnTo>
                  <a:lnTo>
                    <a:pt x="4681347" y="118999"/>
                  </a:lnTo>
                  <a:lnTo>
                    <a:pt x="4681347" y="2367788"/>
                  </a:lnTo>
                  <a:lnTo>
                    <a:pt x="4671949" y="2367788"/>
                  </a:lnTo>
                  <a:lnTo>
                    <a:pt x="4681347" y="2367788"/>
                  </a:lnTo>
                  <a:cubicBezTo>
                    <a:pt x="4681347" y="2433574"/>
                    <a:pt x="4627880" y="2486787"/>
                    <a:pt x="4561967" y="2486787"/>
                  </a:cubicBezTo>
                  <a:lnTo>
                    <a:pt x="4561967" y="2477389"/>
                  </a:lnTo>
                  <a:lnTo>
                    <a:pt x="4561967" y="2486787"/>
                  </a:lnTo>
                  <a:lnTo>
                    <a:pt x="119380" y="2486787"/>
                  </a:lnTo>
                  <a:lnTo>
                    <a:pt x="119380" y="2477389"/>
                  </a:lnTo>
                  <a:lnTo>
                    <a:pt x="119380" y="2486787"/>
                  </a:lnTo>
                  <a:cubicBezTo>
                    <a:pt x="53467" y="2486787"/>
                    <a:pt x="0" y="2433574"/>
                    <a:pt x="0" y="2367788"/>
                  </a:cubicBezTo>
                  <a:lnTo>
                    <a:pt x="0" y="118999"/>
                  </a:lnTo>
                  <a:lnTo>
                    <a:pt x="9398" y="118999"/>
                  </a:lnTo>
                  <a:lnTo>
                    <a:pt x="0" y="118999"/>
                  </a:lnTo>
                  <a:moveTo>
                    <a:pt x="18669" y="118999"/>
                  </a:moveTo>
                  <a:lnTo>
                    <a:pt x="18669" y="2367788"/>
                  </a:lnTo>
                  <a:lnTo>
                    <a:pt x="9398" y="2367788"/>
                  </a:lnTo>
                  <a:lnTo>
                    <a:pt x="18796" y="2367788"/>
                  </a:lnTo>
                  <a:cubicBezTo>
                    <a:pt x="18796" y="2423160"/>
                    <a:pt x="63881" y="2468118"/>
                    <a:pt x="119507" y="2468118"/>
                  </a:cubicBezTo>
                  <a:lnTo>
                    <a:pt x="4561967" y="2468118"/>
                  </a:lnTo>
                  <a:cubicBezTo>
                    <a:pt x="4617593" y="2468118"/>
                    <a:pt x="4662678" y="2423160"/>
                    <a:pt x="4662678" y="2367788"/>
                  </a:cubicBezTo>
                  <a:lnTo>
                    <a:pt x="4662678" y="118999"/>
                  </a:lnTo>
                  <a:cubicBezTo>
                    <a:pt x="4662678" y="63627"/>
                    <a:pt x="4617593" y="18669"/>
                    <a:pt x="4561967" y="18669"/>
                  </a:cubicBezTo>
                  <a:lnTo>
                    <a:pt x="119380" y="18669"/>
                  </a:lnTo>
                  <a:lnTo>
                    <a:pt x="119380" y="9398"/>
                  </a:lnTo>
                  <a:lnTo>
                    <a:pt x="119380" y="18796"/>
                  </a:lnTo>
                  <a:cubicBezTo>
                    <a:pt x="63754" y="18796"/>
                    <a:pt x="18669" y="63754"/>
                    <a:pt x="18669" y="119126"/>
                  </a:cubicBezTo>
                  <a:close/>
                </a:path>
              </a:pathLst>
            </a:custGeom>
            <a:solidFill>
              <a:srgbClr val="C9D6DF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3733278" y="2499655"/>
            <a:ext cx="48063" cy="1309497"/>
            <a:chOff x="0" y="0"/>
            <a:chExt cx="64084" cy="174599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31623"/>
              <a:ext cx="64135" cy="1682623"/>
            </a:xfrm>
            <a:custGeom>
              <a:avLst/>
              <a:gdLst/>
              <a:ahLst/>
              <a:cxnLst/>
              <a:rect r="r" b="b" t="t" l="l"/>
              <a:pathLst>
                <a:path h="1682623" w="64135">
                  <a:moveTo>
                    <a:pt x="63373" y="0"/>
                  </a:moveTo>
                  <a:lnTo>
                    <a:pt x="64135" y="1682623"/>
                  </a:lnTo>
                  <a:lnTo>
                    <a:pt x="762" y="1682623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B23A48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3990320" y="2468880"/>
            <a:ext cx="2742657" cy="328860"/>
            <a:chOff x="0" y="0"/>
            <a:chExt cx="3656876" cy="43848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656880" cy="438480"/>
            </a:xfrm>
            <a:custGeom>
              <a:avLst/>
              <a:gdLst/>
              <a:ahLst/>
              <a:cxnLst/>
              <a:rect r="r" b="b" t="t" l="l"/>
              <a:pathLst>
                <a:path h="438480" w="3656880">
                  <a:moveTo>
                    <a:pt x="0" y="0"/>
                  </a:moveTo>
                  <a:lnTo>
                    <a:pt x="3656880" y="0"/>
                  </a:lnTo>
                  <a:lnTo>
                    <a:pt x="3656880" y="438480"/>
                  </a:lnTo>
                  <a:lnTo>
                    <a:pt x="0" y="438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503" r="0" b="-112503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3656876" cy="438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Neden bu önemli?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3990320" y="2948940"/>
            <a:ext cx="2742657" cy="971968"/>
            <a:chOff x="0" y="0"/>
            <a:chExt cx="3656876" cy="1295957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656880" cy="1295952"/>
            </a:xfrm>
            <a:custGeom>
              <a:avLst/>
              <a:gdLst/>
              <a:ahLst/>
              <a:cxnLst/>
              <a:rect r="r" b="b" t="t" l="l"/>
              <a:pathLst>
                <a:path h="1295952" w="3656880">
                  <a:moveTo>
                    <a:pt x="0" y="0"/>
                  </a:moveTo>
                  <a:lnTo>
                    <a:pt x="3656880" y="0"/>
                  </a:lnTo>
                  <a:lnTo>
                    <a:pt x="3656880" y="1295952"/>
                  </a:lnTo>
                  <a:lnTo>
                    <a:pt x="0" y="12959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730" r="0" b="-2234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0"/>
              <a:ext cx="3656876" cy="12959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65"/>
                </a:lnSpc>
              </a:pPr>
              <a:r>
                <a:rPr lang="en-US" sz="1554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SEXIST tüm verinin yaklaşık %1.2’si. Bu sınıfta birkaç hata bile precision/recall dengesini oynatır; accuracy bu riski saklar.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3503240" y="4450680"/>
            <a:ext cx="3511077" cy="2139477"/>
            <a:chOff x="0" y="0"/>
            <a:chExt cx="4681436" cy="285263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9398" y="9398"/>
              <a:ext cx="4662678" cy="2833878"/>
            </a:xfrm>
            <a:custGeom>
              <a:avLst/>
              <a:gdLst/>
              <a:ahLst/>
              <a:cxnLst/>
              <a:rect r="r" b="b" t="t" l="l"/>
              <a:pathLst>
                <a:path h="2833878" w="4662678">
                  <a:moveTo>
                    <a:pt x="0" y="109601"/>
                  </a:moveTo>
                  <a:cubicBezTo>
                    <a:pt x="0" y="49022"/>
                    <a:pt x="49149" y="0"/>
                    <a:pt x="109982" y="0"/>
                  </a:cubicBezTo>
                  <a:lnTo>
                    <a:pt x="4552696" y="0"/>
                  </a:lnTo>
                  <a:cubicBezTo>
                    <a:pt x="4613402" y="0"/>
                    <a:pt x="4662678" y="49149"/>
                    <a:pt x="4662678" y="109728"/>
                  </a:cubicBezTo>
                  <a:lnTo>
                    <a:pt x="4662678" y="2724150"/>
                  </a:lnTo>
                  <a:cubicBezTo>
                    <a:pt x="4662678" y="2784729"/>
                    <a:pt x="4613402" y="2833878"/>
                    <a:pt x="4552696" y="2833878"/>
                  </a:cubicBezTo>
                  <a:lnTo>
                    <a:pt x="109982" y="2833878"/>
                  </a:lnTo>
                  <a:cubicBezTo>
                    <a:pt x="49276" y="2833878"/>
                    <a:pt x="0" y="2784729"/>
                    <a:pt x="0" y="272415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681474" cy="2852547"/>
            </a:xfrm>
            <a:custGeom>
              <a:avLst/>
              <a:gdLst/>
              <a:ahLst/>
              <a:cxnLst/>
              <a:rect r="r" b="b" t="t" l="l"/>
              <a:pathLst>
                <a:path h="2852547" w="4681474">
                  <a:moveTo>
                    <a:pt x="0" y="118999"/>
                  </a:moveTo>
                  <a:cubicBezTo>
                    <a:pt x="0" y="53340"/>
                    <a:pt x="53467" y="0"/>
                    <a:pt x="119380" y="0"/>
                  </a:cubicBezTo>
                  <a:lnTo>
                    <a:pt x="4562094" y="0"/>
                  </a:lnTo>
                  <a:lnTo>
                    <a:pt x="4562094" y="9398"/>
                  </a:lnTo>
                  <a:lnTo>
                    <a:pt x="4562094" y="0"/>
                  </a:lnTo>
                  <a:cubicBezTo>
                    <a:pt x="4628007" y="0"/>
                    <a:pt x="4681474" y="53340"/>
                    <a:pt x="4681474" y="118999"/>
                  </a:cubicBezTo>
                  <a:lnTo>
                    <a:pt x="4672076" y="118999"/>
                  </a:lnTo>
                  <a:lnTo>
                    <a:pt x="4681474" y="118999"/>
                  </a:lnTo>
                  <a:lnTo>
                    <a:pt x="4681474" y="2733548"/>
                  </a:lnTo>
                  <a:lnTo>
                    <a:pt x="4672076" y="2733548"/>
                  </a:lnTo>
                  <a:lnTo>
                    <a:pt x="4681474" y="2733548"/>
                  </a:lnTo>
                  <a:cubicBezTo>
                    <a:pt x="4681474" y="2799334"/>
                    <a:pt x="4628007" y="2852547"/>
                    <a:pt x="4562094" y="2852547"/>
                  </a:cubicBezTo>
                  <a:lnTo>
                    <a:pt x="4562094" y="2843149"/>
                  </a:lnTo>
                  <a:lnTo>
                    <a:pt x="4562094" y="2852547"/>
                  </a:lnTo>
                  <a:lnTo>
                    <a:pt x="119380" y="2852547"/>
                  </a:lnTo>
                  <a:lnTo>
                    <a:pt x="119380" y="2843149"/>
                  </a:lnTo>
                  <a:lnTo>
                    <a:pt x="119380" y="2852547"/>
                  </a:lnTo>
                  <a:cubicBezTo>
                    <a:pt x="53467" y="2852547"/>
                    <a:pt x="0" y="2799207"/>
                    <a:pt x="0" y="2733548"/>
                  </a:cubicBezTo>
                  <a:lnTo>
                    <a:pt x="0" y="118999"/>
                  </a:lnTo>
                  <a:lnTo>
                    <a:pt x="9398" y="118999"/>
                  </a:lnTo>
                  <a:lnTo>
                    <a:pt x="0" y="118999"/>
                  </a:lnTo>
                  <a:moveTo>
                    <a:pt x="18669" y="118999"/>
                  </a:moveTo>
                  <a:lnTo>
                    <a:pt x="18669" y="2733548"/>
                  </a:lnTo>
                  <a:lnTo>
                    <a:pt x="9398" y="2733548"/>
                  </a:lnTo>
                  <a:lnTo>
                    <a:pt x="18796" y="2733548"/>
                  </a:lnTo>
                  <a:cubicBezTo>
                    <a:pt x="18796" y="2788920"/>
                    <a:pt x="63881" y="2833878"/>
                    <a:pt x="119380" y="2833878"/>
                  </a:cubicBezTo>
                  <a:lnTo>
                    <a:pt x="4562094" y="2833878"/>
                  </a:lnTo>
                  <a:cubicBezTo>
                    <a:pt x="4617720" y="2833878"/>
                    <a:pt x="4662678" y="2788920"/>
                    <a:pt x="4662678" y="2733548"/>
                  </a:cubicBezTo>
                  <a:lnTo>
                    <a:pt x="4662678" y="118999"/>
                  </a:lnTo>
                  <a:cubicBezTo>
                    <a:pt x="4662678" y="63627"/>
                    <a:pt x="4617593" y="18669"/>
                    <a:pt x="4562094" y="18669"/>
                  </a:cubicBezTo>
                  <a:lnTo>
                    <a:pt x="119380" y="18669"/>
                  </a:lnTo>
                  <a:lnTo>
                    <a:pt x="119380" y="9398"/>
                  </a:lnTo>
                  <a:lnTo>
                    <a:pt x="119380" y="18796"/>
                  </a:lnTo>
                  <a:cubicBezTo>
                    <a:pt x="63754" y="18796"/>
                    <a:pt x="18796" y="63754"/>
                    <a:pt x="18796" y="119126"/>
                  </a:cubicBezTo>
                  <a:close/>
                </a:path>
              </a:pathLst>
            </a:custGeom>
            <a:solidFill>
              <a:srgbClr val="C9D6DF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3733278" y="4735258"/>
            <a:ext cx="48063" cy="1583817"/>
            <a:chOff x="0" y="0"/>
            <a:chExt cx="64084" cy="211175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31623"/>
              <a:ext cx="64135" cy="2048383"/>
            </a:xfrm>
            <a:custGeom>
              <a:avLst/>
              <a:gdLst/>
              <a:ahLst/>
              <a:cxnLst/>
              <a:rect r="r" b="b" t="t" l="l"/>
              <a:pathLst>
                <a:path h="2048383" w="64135">
                  <a:moveTo>
                    <a:pt x="63373" y="0"/>
                  </a:moveTo>
                  <a:lnTo>
                    <a:pt x="64135" y="2048383"/>
                  </a:lnTo>
                  <a:lnTo>
                    <a:pt x="762" y="2048383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E76F51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3990320" y="4704483"/>
            <a:ext cx="2742657" cy="328860"/>
            <a:chOff x="0" y="0"/>
            <a:chExt cx="3656876" cy="43848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3656880" cy="438480"/>
            </a:xfrm>
            <a:custGeom>
              <a:avLst/>
              <a:gdLst/>
              <a:ahLst/>
              <a:cxnLst/>
              <a:rect r="r" b="b" t="t" l="l"/>
              <a:pathLst>
                <a:path h="438480" w="3656880">
                  <a:moveTo>
                    <a:pt x="0" y="0"/>
                  </a:moveTo>
                  <a:lnTo>
                    <a:pt x="3656880" y="0"/>
                  </a:lnTo>
                  <a:lnTo>
                    <a:pt x="3656880" y="438480"/>
                  </a:lnTo>
                  <a:lnTo>
                    <a:pt x="0" y="438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503" r="0" b="-112503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0"/>
              <a:ext cx="3656876" cy="438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Kaynak heterojenliği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3990320" y="5184543"/>
            <a:ext cx="2742657" cy="1200568"/>
            <a:chOff x="0" y="0"/>
            <a:chExt cx="3656876" cy="1600757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3656880" cy="1600752"/>
            </a:xfrm>
            <a:custGeom>
              <a:avLst/>
              <a:gdLst/>
              <a:ahLst/>
              <a:cxnLst/>
              <a:rect r="r" b="b" t="t" l="l"/>
              <a:pathLst>
                <a:path h="1600752" w="3656880">
                  <a:moveTo>
                    <a:pt x="0" y="0"/>
                  </a:moveTo>
                  <a:lnTo>
                    <a:pt x="3656880" y="0"/>
                  </a:lnTo>
                  <a:lnTo>
                    <a:pt x="3656880" y="1600752"/>
                  </a:lnTo>
                  <a:lnTo>
                    <a:pt x="0" y="1600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803" t="0" r="-5802" b="641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0"/>
              <a:ext cx="3656876" cy="16007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65"/>
                </a:lnSpc>
              </a:pPr>
              <a:r>
                <a:rPr lang="en-US" sz="1554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Jigsaw ile TOLD farklı dil alanlarından gelir. Model yalnızca sınıf öğrenmez; kaynak stili, çeviri gürültüsü ve domain işaretlerini de öğrenebilir.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3503240" y="6961632"/>
            <a:ext cx="3572637" cy="1865157"/>
            <a:chOff x="0" y="0"/>
            <a:chExt cx="4763516" cy="2486876"/>
          </a:xfrm>
        </p:grpSpPr>
        <p:grpSp>
          <p:nvGrpSpPr>
            <p:cNvPr name="Group 49" id="49"/>
            <p:cNvGrpSpPr/>
            <p:nvPr/>
          </p:nvGrpSpPr>
          <p:grpSpPr>
            <a:xfrm rot="0">
              <a:off x="0" y="0"/>
              <a:ext cx="4681436" cy="2486876"/>
              <a:chOff x="0" y="0"/>
              <a:chExt cx="4681436" cy="2486876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8562" y="9398"/>
                <a:ext cx="4664347" cy="2468118"/>
              </a:xfrm>
              <a:custGeom>
                <a:avLst/>
                <a:gdLst/>
                <a:ahLst/>
                <a:cxnLst/>
                <a:rect r="r" b="b" t="t" l="l"/>
                <a:pathLst>
                  <a:path h="2468118" w="4664347">
                    <a:moveTo>
                      <a:pt x="0" y="109601"/>
                    </a:moveTo>
                    <a:cubicBezTo>
                      <a:pt x="0" y="49022"/>
                      <a:pt x="44892" y="0"/>
                      <a:pt x="100312" y="0"/>
                    </a:cubicBezTo>
                    <a:lnTo>
                      <a:pt x="4564034" y="0"/>
                    </a:lnTo>
                    <a:cubicBezTo>
                      <a:pt x="4619455" y="0"/>
                      <a:pt x="4664347" y="49149"/>
                      <a:pt x="4664347" y="109728"/>
                    </a:cubicBezTo>
                    <a:lnTo>
                      <a:pt x="4664347" y="2358390"/>
                    </a:lnTo>
                    <a:cubicBezTo>
                      <a:pt x="4664347" y="2418969"/>
                      <a:pt x="4619455" y="2468118"/>
                      <a:pt x="4564034" y="2468118"/>
                    </a:cubicBezTo>
                    <a:lnTo>
                      <a:pt x="100312" y="2468118"/>
                    </a:lnTo>
                    <a:cubicBezTo>
                      <a:pt x="44892" y="2468118"/>
                      <a:pt x="0" y="2418969"/>
                      <a:pt x="0" y="235839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51" id="51"/>
              <p:cNvSpPr/>
              <p:nvPr/>
            </p:nvSpPr>
            <p:spPr>
              <a:xfrm flipH="false" flipV="false" rot="0">
                <a:off x="0" y="0"/>
                <a:ext cx="4681474" cy="2486787"/>
              </a:xfrm>
              <a:custGeom>
                <a:avLst/>
                <a:gdLst/>
                <a:ahLst/>
                <a:cxnLst/>
                <a:rect r="r" b="b" t="t" l="l"/>
                <a:pathLst>
                  <a:path h="2486787" w="4681474">
                    <a:moveTo>
                      <a:pt x="0" y="118999"/>
                    </a:moveTo>
                    <a:cubicBezTo>
                      <a:pt x="0" y="53213"/>
                      <a:pt x="48710" y="0"/>
                      <a:pt x="108874" y="0"/>
                    </a:cubicBezTo>
                    <a:lnTo>
                      <a:pt x="4572596" y="0"/>
                    </a:lnTo>
                    <a:lnTo>
                      <a:pt x="4572596" y="9398"/>
                    </a:lnTo>
                    <a:lnTo>
                      <a:pt x="4572596" y="0"/>
                    </a:lnTo>
                    <a:cubicBezTo>
                      <a:pt x="4632645" y="0"/>
                      <a:pt x="4681474" y="53213"/>
                      <a:pt x="4681474" y="118999"/>
                    </a:cubicBezTo>
                    <a:lnTo>
                      <a:pt x="4672909" y="118999"/>
                    </a:lnTo>
                    <a:lnTo>
                      <a:pt x="4681474" y="118999"/>
                    </a:lnTo>
                    <a:lnTo>
                      <a:pt x="4681474" y="2367788"/>
                    </a:lnTo>
                    <a:lnTo>
                      <a:pt x="4672909" y="2367788"/>
                    </a:lnTo>
                    <a:lnTo>
                      <a:pt x="4681474" y="2367788"/>
                    </a:lnTo>
                    <a:cubicBezTo>
                      <a:pt x="4681474" y="2433574"/>
                      <a:pt x="4632760" y="2486787"/>
                      <a:pt x="4572596" y="2486787"/>
                    </a:cubicBezTo>
                    <a:lnTo>
                      <a:pt x="4572596" y="2477389"/>
                    </a:lnTo>
                    <a:lnTo>
                      <a:pt x="4572596" y="2486787"/>
                    </a:lnTo>
                    <a:lnTo>
                      <a:pt x="108874" y="2486787"/>
                    </a:lnTo>
                    <a:lnTo>
                      <a:pt x="108874" y="2477389"/>
                    </a:lnTo>
                    <a:lnTo>
                      <a:pt x="108874" y="2486787"/>
                    </a:lnTo>
                    <a:cubicBezTo>
                      <a:pt x="48826" y="2486787"/>
                      <a:pt x="0" y="2433574"/>
                      <a:pt x="0" y="2367788"/>
                    </a:cubicBezTo>
                    <a:lnTo>
                      <a:pt x="0" y="118999"/>
                    </a:lnTo>
                    <a:lnTo>
                      <a:pt x="8562" y="118999"/>
                    </a:lnTo>
                    <a:lnTo>
                      <a:pt x="0" y="118999"/>
                    </a:lnTo>
                    <a:moveTo>
                      <a:pt x="17008" y="118999"/>
                    </a:moveTo>
                    <a:lnTo>
                      <a:pt x="17008" y="2367788"/>
                    </a:lnTo>
                    <a:lnTo>
                      <a:pt x="8562" y="2367788"/>
                    </a:lnTo>
                    <a:lnTo>
                      <a:pt x="17124" y="2367788"/>
                    </a:lnTo>
                    <a:cubicBezTo>
                      <a:pt x="17124" y="2423160"/>
                      <a:pt x="58197" y="2468118"/>
                      <a:pt x="108874" y="2468118"/>
                    </a:cubicBezTo>
                    <a:lnTo>
                      <a:pt x="4572596" y="2468118"/>
                    </a:lnTo>
                    <a:cubicBezTo>
                      <a:pt x="4623273" y="2468118"/>
                      <a:pt x="4664347" y="2423160"/>
                      <a:pt x="4664347" y="2367788"/>
                    </a:cubicBezTo>
                    <a:lnTo>
                      <a:pt x="4664347" y="118999"/>
                    </a:lnTo>
                    <a:cubicBezTo>
                      <a:pt x="4664347" y="63627"/>
                      <a:pt x="4623273" y="18669"/>
                      <a:pt x="4572596" y="18669"/>
                    </a:cubicBezTo>
                    <a:lnTo>
                      <a:pt x="108874" y="18669"/>
                    </a:lnTo>
                    <a:lnTo>
                      <a:pt x="108874" y="9398"/>
                    </a:lnTo>
                    <a:lnTo>
                      <a:pt x="108874" y="18796"/>
                    </a:lnTo>
                    <a:cubicBezTo>
                      <a:pt x="58197" y="18796"/>
                      <a:pt x="17124" y="63754"/>
                      <a:pt x="17124" y="119126"/>
                    </a:cubicBezTo>
                    <a:close/>
                  </a:path>
                </a:pathLst>
              </a:custGeom>
              <a:solidFill>
                <a:srgbClr val="C9D6DF"/>
              </a:solidFill>
            </p:spPr>
          </p:sp>
        </p:grpSp>
        <p:grpSp>
          <p:nvGrpSpPr>
            <p:cNvPr name="Group 52" id="52"/>
            <p:cNvGrpSpPr/>
            <p:nvPr/>
          </p:nvGrpSpPr>
          <p:grpSpPr>
            <a:xfrm rot="0">
              <a:off x="306718" y="379438"/>
              <a:ext cx="64084" cy="1745996"/>
              <a:chOff x="0" y="0"/>
              <a:chExt cx="64084" cy="1745996"/>
            </a:xfrm>
          </p:grpSpPr>
          <p:sp>
            <p:nvSpPr>
              <p:cNvPr name="Freeform 53" id="53"/>
              <p:cNvSpPr/>
              <p:nvPr/>
            </p:nvSpPr>
            <p:spPr>
              <a:xfrm flipH="false" flipV="false" rot="0">
                <a:off x="0" y="31623"/>
                <a:ext cx="64135" cy="1682623"/>
              </a:xfrm>
              <a:custGeom>
                <a:avLst/>
                <a:gdLst/>
                <a:ahLst/>
                <a:cxnLst/>
                <a:rect r="r" b="b" t="t" l="l"/>
                <a:pathLst>
                  <a:path h="1682623" w="64135">
                    <a:moveTo>
                      <a:pt x="63373" y="0"/>
                    </a:moveTo>
                    <a:lnTo>
                      <a:pt x="64135" y="1682623"/>
                    </a:lnTo>
                    <a:lnTo>
                      <a:pt x="762" y="1682623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2A9D8F"/>
              </a:solidFill>
            </p:spPr>
          </p:sp>
        </p:grpSp>
        <p:grpSp>
          <p:nvGrpSpPr>
            <p:cNvPr name="Group 54" id="54"/>
            <p:cNvGrpSpPr/>
            <p:nvPr/>
          </p:nvGrpSpPr>
          <p:grpSpPr>
            <a:xfrm rot="0">
              <a:off x="649440" y="338404"/>
              <a:ext cx="4114076" cy="438480"/>
              <a:chOff x="0" y="0"/>
              <a:chExt cx="4114076" cy="438480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4114080" cy="438480"/>
              </a:xfrm>
              <a:custGeom>
                <a:avLst/>
                <a:gdLst/>
                <a:ahLst/>
                <a:cxnLst/>
                <a:rect r="r" b="b" t="t" l="l"/>
                <a:pathLst>
                  <a:path h="438480" w="4114080">
                    <a:moveTo>
                      <a:pt x="0" y="0"/>
                    </a:moveTo>
                    <a:lnTo>
                      <a:pt x="4114080" y="0"/>
                    </a:lnTo>
                    <a:lnTo>
                      <a:pt x="4114080" y="438480"/>
                    </a:lnTo>
                    <a:lnTo>
                      <a:pt x="0" y="4384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2820" r="0" b="-132820"/>
                </a:stretch>
              </a:blipFill>
            </p:spPr>
          </p:sp>
          <p:sp>
            <p:nvSpPr>
              <p:cNvPr name="TextBox 56" id="56"/>
              <p:cNvSpPr txBox="true"/>
              <p:nvPr/>
            </p:nvSpPr>
            <p:spPr>
              <a:xfrm>
                <a:off x="0" y="0"/>
                <a:ext cx="4114076" cy="43848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070"/>
                  </a:lnSpc>
                </a:pPr>
                <a:r>
                  <a:rPr lang="en-US" sz="1725" b="true">
                    <a:solidFill>
                      <a:srgbClr val="0B1F33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Metrik kararı</a:t>
                </a:r>
              </a:p>
            </p:txBody>
          </p:sp>
        </p:grpSp>
        <p:grpSp>
          <p:nvGrpSpPr>
            <p:cNvPr name="Group 57" id="57"/>
            <p:cNvGrpSpPr/>
            <p:nvPr/>
          </p:nvGrpSpPr>
          <p:grpSpPr>
            <a:xfrm rot="0">
              <a:off x="649440" y="978486"/>
              <a:ext cx="3841086" cy="1295957"/>
              <a:chOff x="0" y="0"/>
              <a:chExt cx="3841086" cy="1295957"/>
            </a:xfrm>
          </p:grpSpPr>
          <p:sp>
            <p:nvSpPr>
              <p:cNvPr name="Freeform 58" id="58"/>
              <p:cNvSpPr/>
              <p:nvPr/>
            </p:nvSpPr>
            <p:spPr>
              <a:xfrm flipH="false" flipV="false" rot="0">
                <a:off x="0" y="0"/>
                <a:ext cx="3841090" cy="1295952"/>
              </a:xfrm>
              <a:custGeom>
                <a:avLst/>
                <a:gdLst/>
                <a:ahLst/>
                <a:cxnLst/>
                <a:rect r="r" b="b" t="t" l="l"/>
                <a:pathLst>
                  <a:path h="1295952" w="3841090">
                    <a:moveTo>
                      <a:pt x="0" y="0"/>
                    </a:moveTo>
                    <a:lnTo>
                      <a:pt x="3841090" y="0"/>
                    </a:lnTo>
                    <a:lnTo>
                      <a:pt x="3841090" y="1295952"/>
                    </a:lnTo>
                    <a:lnTo>
                      <a:pt x="0" y="129595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4604" r="-7107" b="-9108"/>
                </a:stretch>
              </a:blipFill>
            </p:spPr>
          </p:sp>
          <p:sp>
            <p:nvSpPr>
              <p:cNvPr name="TextBox 59" id="59"/>
              <p:cNvSpPr txBox="true"/>
              <p:nvPr/>
            </p:nvSpPr>
            <p:spPr>
              <a:xfrm>
                <a:off x="0" y="0"/>
                <a:ext cx="3841086" cy="1295957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1865"/>
                  </a:lnSpc>
                </a:pPr>
                <a:r>
                  <a:rPr lang="en-US" sz="1554">
                    <a:solidFill>
                      <a:srgbClr val="52616F"/>
                    </a:solidFill>
                    <a:latin typeface="Aptos"/>
                    <a:ea typeface="Aptos"/>
                    <a:cs typeface="Aptos"/>
                    <a:sym typeface="Aptos"/>
                  </a:rPr>
                  <a:t>Bu yüzden ana metrik accuracy değil Macro-F1; ayrıca confusion matrix ve classwise ECE raporlanır.</a:t>
                </a:r>
              </a:p>
            </p:txBody>
          </p:sp>
        </p:grpSp>
      </p:grpSp>
    </p:spTree>
  </p:cSld>
  <p:clrMapOvr>
    <a:masterClrMapping/>
  </p:clrMapOvr>
  <p:transition spd="fast">
    <p:fade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449" y="-9449"/>
            <a:ext cx="18306002" cy="10305364"/>
            <a:chOff x="0" y="0"/>
            <a:chExt cx="24408003" cy="137404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573" y="12573"/>
              <a:ext cx="24382857" cy="13715364"/>
            </a:xfrm>
            <a:custGeom>
              <a:avLst/>
              <a:gdLst/>
              <a:ahLst/>
              <a:cxnLst/>
              <a:rect r="r" b="b" t="t" l="l"/>
              <a:pathLst>
                <a:path h="13715364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3715364"/>
                  </a:lnTo>
                  <a:lnTo>
                    <a:pt x="0" y="13715364"/>
                  </a:lnTo>
                  <a:close/>
                </a:path>
              </a:pathLst>
            </a:custGeom>
            <a:solidFill>
              <a:srgbClr val="F7F9FC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408003" cy="13740510"/>
            </a:xfrm>
            <a:custGeom>
              <a:avLst/>
              <a:gdLst/>
              <a:ahLst/>
              <a:cxnLst/>
              <a:rect r="r" b="b" t="t" l="l"/>
              <a:pathLst>
                <a:path h="13740510" w="24408003">
                  <a:moveTo>
                    <a:pt x="12573" y="0"/>
                  </a:moveTo>
                  <a:lnTo>
                    <a:pt x="24395430" y="0"/>
                  </a:lnTo>
                  <a:cubicBezTo>
                    <a:pt x="24402416" y="0"/>
                    <a:pt x="24408003" y="5588"/>
                    <a:pt x="24408003" y="12573"/>
                  </a:cubicBezTo>
                  <a:lnTo>
                    <a:pt x="24408003" y="13727937"/>
                  </a:lnTo>
                  <a:cubicBezTo>
                    <a:pt x="24408003" y="13734923"/>
                    <a:pt x="24402416" y="13740510"/>
                    <a:pt x="24395430" y="13740510"/>
                  </a:cubicBezTo>
                  <a:lnTo>
                    <a:pt x="12573" y="13740510"/>
                  </a:lnTo>
                  <a:cubicBezTo>
                    <a:pt x="5588" y="13740510"/>
                    <a:pt x="0" y="13734923"/>
                    <a:pt x="0" y="13727937"/>
                  </a:cubicBezTo>
                  <a:lnTo>
                    <a:pt x="0" y="12573"/>
                  </a:lnTo>
                  <a:cubicBezTo>
                    <a:pt x="0" y="5588"/>
                    <a:pt x="5588" y="0"/>
                    <a:pt x="12573" y="0"/>
                  </a:cubicBezTo>
                  <a:moveTo>
                    <a:pt x="12573" y="25146"/>
                  </a:moveTo>
                  <a:lnTo>
                    <a:pt x="12573" y="12573"/>
                  </a:lnTo>
                  <a:lnTo>
                    <a:pt x="25146" y="12573"/>
                  </a:lnTo>
                  <a:lnTo>
                    <a:pt x="25146" y="13727937"/>
                  </a:lnTo>
                  <a:lnTo>
                    <a:pt x="12573" y="13727937"/>
                  </a:lnTo>
                  <a:lnTo>
                    <a:pt x="12573" y="13715364"/>
                  </a:lnTo>
                  <a:lnTo>
                    <a:pt x="24395430" y="13715364"/>
                  </a:lnTo>
                  <a:lnTo>
                    <a:pt x="24395430" y="13727937"/>
                  </a:lnTo>
                  <a:lnTo>
                    <a:pt x="24382857" y="13727937"/>
                  </a:lnTo>
                  <a:lnTo>
                    <a:pt x="24382857" y="12573"/>
                  </a:lnTo>
                  <a:lnTo>
                    <a:pt x="24395430" y="12573"/>
                  </a:lnTo>
                  <a:lnTo>
                    <a:pt x="24395430" y="25146"/>
                  </a:lnTo>
                  <a:lnTo>
                    <a:pt x="12573" y="25146"/>
                  </a:lnTo>
                  <a:close/>
                </a:path>
              </a:pathLst>
            </a:custGeom>
            <a:solidFill>
              <a:srgbClr val="F7F9F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883977" y="9703260"/>
            <a:ext cx="16542896" cy="15659"/>
            <a:chOff x="0" y="0"/>
            <a:chExt cx="22057195" cy="2087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033" y="0"/>
              <a:ext cx="22037040" cy="20955"/>
            </a:xfrm>
            <a:custGeom>
              <a:avLst/>
              <a:gdLst/>
              <a:ahLst/>
              <a:cxnLst/>
              <a:rect r="r" b="b" t="t" l="l"/>
              <a:pathLst>
                <a:path h="20955" w="22037040">
                  <a:moveTo>
                    <a:pt x="0" y="0"/>
                  </a:moveTo>
                  <a:lnTo>
                    <a:pt x="22037040" y="762"/>
                  </a:lnTo>
                  <a:lnTo>
                    <a:pt x="22037040" y="20955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D9E3EA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891540" y="9820437"/>
            <a:ext cx="3016977" cy="273777"/>
            <a:chOff x="0" y="0"/>
            <a:chExt cx="4022636" cy="3650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022640" cy="365040"/>
            </a:xfrm>
            <a:custGeom>
              <a:avLst/>
              <a:gdLst/>
              <a:ahLst/>
              <a:cxnLst/>
              <a:rect r="r" b="b" t="t" l="l"/>
              <a:pathLst>
                <a:path h="365040" w="4022640">
                  <a:moveTo>
                    <a:pt x="0" y="0"/>
                  </a:moveTo>
                  <a:lnTo>
                    <a:pt x="4022640" y="0"/>
                  </a:lnTo>
                  <a:lnTo>
                    <a:pt x="402264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4720" r="0" b="-16471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4022636" cy="3650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170"/>
                </a:lnSpc>
              </a:pPr>
              <a:r>
                <a:rPr lang="en-US" sz="975">
                  <a:solidFill>
                    <a:srgbClr val="6B7A88"/>
                  </a:solidFill>
                  <a:latin typeface="Aptos"/>
                  <a:ea typeface="Aptos"/>
                  <a:cs typeface="Aptos"/>
                  <a:sym typeface="Aptos"/>
                </a:rPr>
                <a:t>YZM304 Project 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853160" y="480060"/>
            <a:ext cx="3497037" cy="273777"/>
            <a:chOff x="0" y="0"/>
            <a:chExt cx="4662716" cy="36503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662720" cy="365040"/>
            </a:xfrm>
            <a:custGeom>
              <a:avLst/>
              <a:gdLst/>
              <a:ahLst/>
              <a:cxnLst/>
              <a:rect r="r" b="b" t="t" l="l"/>
              <a:pathLst>
                <a:path h="365040" w="4662720">
                  <a:moveTo>
                    <a:pt x="0" y="0"/>
                  </a:moveTo>
                  <a:lnTo>
                    <a:pt x="4662720" y="0"/>
                  </a:lnTo>
                  <a:lnTo>
                    <a:pt x="466272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886" r="0" b="-19888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4662716" cy="3745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METHODS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91540" y="576177"/>
            <a:ext cx="12206697" cy="603180"/>
            <a:chOff x="0" y="0"/>
            <a:chExt cx="16275596" cy="8042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6275600" cy="804240"/>
            </a:xfrm>
            <a:custGeom>
              <a:avLst/>
              <a:gdLst/>
              <a:ahLst/>
              <a:cxnLst/>
              <a:rect r="r" b="b" t="t" l="l"/>
              <a:pathLst>
                <a:path h="804240" w="16275600">
                  <a:moveTo>
                    <a:pt x="0" y="0"/>
                  </a:moveTo>
                  <a:lnTo>
                    <a:pt x="16275600" y="0"/>
                  </a:lnTo>
                  <a:lnTo>
                    <a:pt x="16275600" y="804240"/>
                  </a:lnTo>
                  <a:lnTo>
                    <a:pt x="0" y="804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4323" r="0" b="-344323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47625"/>
              <a:ext cx="16275596" cy="7566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96"/>
                </a:lnSpc>
              </a:pPr>
              <a:r>
                <a:rPr lang="en-US" sz="3330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Yöntem: sabit split, ortak metrik, karşılaştırmalı deney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62917" y="1369981"/>
            <a:ext cx="1223096" cy="57779"/>
            <a:chOff x="0" y="0"/>
            <a:chExt cx="1630794" cy="7703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38100" y="0"/>
              <a:ext cx="1554607" cy="77089"/>
            </a:xfrm>
            <a:custGeom>
              <a:avLst/>
              <a:gdLst/>
              <a:ahLst/>
              <a:cxnLst/>
              <a:rect r="r" b="b" t="t" l="l"/>
              <a:pathLst>
                <a:path h="77089" w="1554607">
                  <a:moveTo>
                    <a:pt x="127" y="0"/>
                  </a:moveTo>
                  <a:lnTo>
                    <a:pt x="1554607" y="762"/>
                  </a:lnTo>
                  <a:lnTo>
                    <a:pt x="1554607" y="77089"/>
                  </a:lnTo>
                  <a:lnTo>
                    <a:pt x="0" y="76327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891540" y="1563843"/>
            <a:ext cx="13166817" cy="342357"/>
            <a:chOff x="0" y="0"/>
            <a:chExt cx="17555756" cy="4564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555759" cy="456480"/>
            </a:xfrm>
            <a:custGeom>
              <a:avLst/>
              <a:gdLst/>
              <a:ahLst/>
              <a:cxnLst/>
              <a:rect r="r" b="b" t="t" l="l"/>
              <a:pathLst>
                <a:path h="456480" w="17555759">
                  <a:moveTo>
                    <a:pt x="0" y="0"/>
                  </a:moveTo>
                  <a:lnTo>
                    <a:pt x="17555759" y="0"/>
                  </a:lnTo>
                  <a:lnTo>
                    <a:pt x="17555759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375" r="0" b="-69937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7555756" cy="4564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Bütün modeller aynı label sırası, aynı split ve aynı post-hoc değerlendirme ile karşılaştırıldı.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117263" y="2489580"/>
            <a:ext cx="2414883" cy="2339016"/>
            <a:chOff x="0" y="0"/>
            <a:chExt cx="3219844" cy="311868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10033" y="13258"/>
              <a:ext cx="3199638" cy="3092190"/>
            </a:xfrm>
            <a:custGeom>
              <a:avLst/>
              <a:gdLst/>
              <a:ahLst/>
              <a:cxnLst/>
              <a:rect r="r" b="b" t="t" l="l"/>
              <a:pathLst>
                <a:path h="3092190" w="3199638">
                  <a:moveTo>
                    <a:pt x="0" y="193324"/>
                  </a:moveTo>
                  <a:cubicBezTo>
                    <a:pt x="0" y="86593"/>
                    <a:pt x="65659" y="0"/>
                    <a:pt x="146685" y="0"/>
                  </a:cubicBezTo>
                  <a:lnTo>
                    <a:pt x="3053080" y="0"/>
                  </a:lnTo>
                  <a:cubicBezTo>
                    <a:pt x="3133979" y="0"/>
                    <a:pt x="3199638" y="86593"/>
                    <a:pt x="3199638" y="193324"/>
                  </a:cubicBezTo>
                  <a:lnTo>
                    <a:pt x="3199638" y="2898865"/>
                  </a:lnTo>
                  <a:cubicBezTo>
                    <a:pt x="3199638" y="3005596"/>
                    <a:pt x="3133979" y="3092189"/>
                    <a:pt x="3053080" y="3092189"/>
                  </a:cubicBezTo>
                  <a:lnTo>
                    <a:pt x="146685" y="3092189"/>
                  </a:lnTo>
                  <a:cubicBezTo>
                    <a:pt x="65786" y="3092189"/>
                    <a:pt x="127" y="3005596"/>
                    <a:pt x="127" y="2898865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219831" cy="3118701"/>
            </a:xfrm>
            <a:custGeom>
              <a:avLst/>
              <a:gdLst/>
              <a:ahLst/>
              <a:cxnLst/>
              <a:rect r="r" b="b" t="t" l="l"/>
              <a:pathLst>
                <a:path h="3118701" w="3219831">
                  <a:moveTo>
                    <a:pt x="0" y="206582"/>
                  </a:moveTo>
                  <a:cubicBezTo>
                    <a:pt x="0" y="92467"/>
                    <a:pt x="70104" y="0"/>
                    <a:pt x="156718" y="0"/>
                  </a:cubicBezTo>
                  <a:lnTo>
                    <a:pt x="3063113" y="0"/>
                  </a:lnTo>
                  <a:lnTo>
                    <a:pt x="3063113" y="13258"/>
                  </a:lnTo>
                  <a:lnTo>
                    <a:pt x="3063113" y="0"/>
                  </a:lnTo>
                  <a:cubicBezTo>
                    <a:pt x="3149600" y="0"/>
                    <a:pt x="3219831" y="92467"/>
                    <a:pt x="3219831" y="206582"/>
                  </a:cubicBezTo>
                  <a:lnTo>
                    <a:pt x="3209798" y="206582"/>
                  </a:lnTo>
                  <a:lnTo>
                    <a:pt x="3219831" y="206582"/>
                  </a:lnTo>
                  <a:lnTo>
                    <a:pt x="3219831" y="2912123"/>
                  </a:lnTo>
                  <a:lnTo>
                    <a:pt x="3209798" y="2912123"/>
                  </a:lnTo>
                  <a:lnTo>
                    <a:pt x="3219831" y="2912123"/>
                  </a:lnTo>
                  <a:cubicBezTo>
                    <a:pt x="3219831" y="3026238"/>
                    <a:pt x="3149727" y="3118701"/>
                    <a:pt x="3063113" y="3118701"/>
                  </a:cubicBezTo>
                  <a:lnTo>
                    <a:pt x="3063113" y="3105447"/>
                  </a:lnTo>
                  <a:lnTo>
                    <a:pt x="3063113" y="3118701"/>
                  </a:lnTo>
                  <a:lnTo>
                    <a:pt x="156718" y="3118701"/>
                  </a:lnTo>
                  <a:lnTo>
                    <a:pt x="156718" y="3105447"/>
                  </a:lnTo>
                  <a:lnTo>
                    <a:pt x="156718" y="3118701"/>
                  </a:lnTo>
                  <a:cubicBezTo>
                    <a:pt x="70104" y="3118701"/>
                    <a:pt x="0" y="3026238"/>
                    <a:pt x="0" y="2912123"/>
                  </a:cubicBezTo>
                  <a:lnTo>
                    <a:pt x="0" y="206582"/>
                  </a:lnTo>
                  <a:lnTo>
                    <a:pt x="10033" y="206582"/>
                  </a:lnTo>
                  <a:lnTo>
                    <a:pt x="0" y="206582"/>
                  </a:lnTo>
                  <a:moveTo>
                    <a:pt x="20193" y="206582"/>
                  </a:moveTo>
                  <a:lnTo>
                    <a:pt x="20193" y="2912123"/>
                  </a:lnTo>
                  <a:lnTo>
                    <a:pt x="10033" y="2912123"/>
                  </a:lnTo>
                  <a:lnTo>
                    <a:pt x="20066" y="2912123"/>
                  </a:lnTo>
                  <a:cubicBezTo>
                    <a:pt x="20066" y="3011470"/>
                    <a:pt x="81153" y="3092022"/>
                    <a:pt x="156591" y="3092022"/>
                  </a:cubicBezTo>
                  <a:lnTo>
                    <a:pt x="3063113" y="3092022"/>
                  </a:lnTo>
                  <a:cubicBezTo>
                    <a:pt x="3138551" y="3092022"/>
                    <a:pt x="3199638" y="3011470"/>
                    <a:pt x="3199638" y="2912123"/>
                  </a:cubicBezTo>
                  <a:lnTo>
                    <a:pt x="3199638" y="206582"/>
                  </a:lnTo>
                  <a:cubicBezTo>
                    <a:pt x="3199638" y="107235"/>
                    <a:pt x="3138551" y="26683"/>
                    <a:pt x="3063113" y="26683"/>
                  </a:cubicBezTo>
                  <a:lnTo>
                    <a:pt x="156718" y="26683"/>
                  </a:lnTo>
                  <a:lnTo>
                    <a:pt x="156718" y="13258"/>
                  </a:lnTo>
                  <a:lnTo>
                    <a:pt x="156718" y="26515"/>
                  </a:lnTo>
                  <a:cubicBezTo>
                    <a:pt x="81280" y="26683"/>
                    <a:pt x="20193" y="107235"/>
                    <a:pt x="20193" y="206582"/>
                  </a:cubicBezTo>
                  <a:close/>
                </a:path>
              </a:pathLst>
            </a:custGeom>
            <a:solidFill>
              <a:srgbClr val="C9D6DF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303287" y="2745077"/>
            <a:ext cx="342357" cy="342357"/>
            <a:chOff x="0" y="0"/>
            <a:chExt cx="456476" cy="45647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56480" cy="456480"/>
            </a:xfrm>
            <a:custGeom>
              <a:avLst/>
              <a:gdLst/>
              <a:ahLst/>
              <a:cxnLst/>
              <a:rect r="r" b="b" t="t" l="l"/>
              <a:pathLst>
                <a:path h="456480" w="456480">
                  <a:moveTo>
                    <a:pt x="0" y="0"/>
                  </a:moveTo>
                  <a:lnTo>
                    <a:pt x="456480" y="0"/>
                  </a:lnTo>
                  <a:lnTo>
                    <a:pt x="456480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2" t="0" r="-78302" b="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0"/>
              <a:ext cx="456476" cy="4564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B4965"/>
                  </a:solidFill>
                  <a:latin typeface="Aptos Bold"/>
                  <a:ea typeface="Aptos Bold"/>
                  <a:cs typeface="Aptos Bold"/>
                  <a:sym typeface="Aptos Bold"/>
                </a:rPr>
                <a:t>1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701003" y="2730419"/>
            <a:ext cx="1576797" cy="379767"/>
            <a:chOff x="0" y="0"/>
            <a:chExt cx="2102396" cy="50635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102400" cy="506350"/>
            </a:xfrm>
            <a:custGeom>
              <a:avLst/>
              <a:gdLst/>
              <a:ahLst/>
              <a:cxnLst/>
              <a:rect r="r" b="b" t="t" l="l"/>
              <a:pathLst>
                <a:path h="506350" w="2102400">
                  <a:moveTo>
                    <a:pt x="0" y="0"/>
                  </a:moveTo>
                  <a:lnTo>
                    <a:pt x="2102400" y="0"/>
                  </a:lnTo>
                  <a:lnTo>
                    <a:pt x="2102400" y="506350"/>
                  </a:lnTo>
                  <a:lnTo>
                    <a:pt x="0" y="5063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230" r="0" b="-20575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2102396" cy="5158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29"/>
                </a:lnSpc>
              </a:pPr>
              <a:r>
                <a:rPr lang="en-US" sz="2024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Veri denetimi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305663" y="3532666"/>
            <a:ext cx="1892160" cy="726739"/>
            <a:chOff x="0" y="0"/>
            <a:chExt cx="2522880" cy="968985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522880" cy="968979"/>
            </a:xfrm>
            <a:custGeom>
              <a:avLst/>
              <a:gdLst/>
              <a:ahLst/>
              <a:cxnLst/>
              <a:rect r="r" b="b" t="t" l="l"/>
              <a:pathLst>
                <a:path h="968979" w="2522880">
                  <a:moveTo>
                    <a:pt x="0" y="0"/>
                  </a:moveTo>
                  <a:lnTo>
                    <a:pt x="2522880" y="0"/>
                  </a:lnTo>
                  <a:lnTo>
                    <a:pt x="2522880" y="968979"/>
                  </a:lnTo>
                  <a:lnTo>
                    <a:pt x="0" y="96897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27" r="0" b="9663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9525"/>
              <a:ext cx="2522880" cy="959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61"/>
                </a:lnSpc>
              </a:pPr>
              <a:r>
                <a:rPr lang="en-US" sz="2134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temizlik, sınıf ve kaynak dağılımı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3497282" y="3659221"/>
            <a:ext cx="680942" cy="23222"/>
            <a:chOff x="0" y="0"/>
            <a:chExt cx="907923" cy="30963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15113" y="0"/>
              <a:ext cx="877697" cy="30988"/>
            </a:xfrm>
            <a:custGeom>
              <a:avLst/>
              <a:gdLst/>
              <a:ahLst/>
              <a:cxnLst/>
              <a:rect r="r" b="b" t="t" l="l"/>
              <a:pathLst>
                <a:path h="30988" w="877697">
                  <a:moveTo>
                    <a:pt x="0" y="0"/>
                  </a:moveTo>
                  <a:lnTo>
                    <a:pt x="877697" y="762"/>
                  </a:lnTo>
                  <a:lnTo>
                    <a:pt x="877697" y="30988"/>
                  </a:lnTo>
                  <a:lnTo>
                    <a:pt x="0" y="30226"/>
                  </a:lnTo>
                  <a:close/>
                </a:path>
              </a:pathLst>
            </a:custGeom>
            <a:solidFill>
              <a:srgbClr val="AFC2CE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4477683" y="2489580"/>
            <a:ext cx="2414883" cy="2339016"/>
            <a:chOff x="0" y="0"/>
            <a:chExt cx="3219844" cy="3118688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0033" y="13258"/>
              <a:ext cx="3199638" cy="3092190"/>
            </a:xfrm>
            <a:custGeom>
              <a:avLst/>
              <a:gdLst/>
              <a:ahLst/>
              <a:cxnLst/>
              <a:rect r="r" b="b" t="t" l="l"/>
              <a:pathLst>
                <a:path h="3092190" w="3199638">
                  <a:moveTo>
                    <a:pt x="0" y="193324"/>
                  </a:moveTo>
                  <a:cubicBezTo>
                    <a:pt x="0" y="86593"/>
                    <a:pt x="65659" y="0"/>
                    <a:pt x="146685" y="0"/>
                  </a:cubicBezTo>
                  <a:lnTo>
                    <a:pt x="3053080" y="0"/>
                  </a:lnTo>
                  <a:cubicBezTo>
                    <a:pt x="3133979" y="0"/>
                    <a:pt x="3199638" y="86593"/>
                    <a:pt x="3199638" y="193324"/>
                  </a:cubicBezTo>
                  <a:lnTo>
                    <a:pt x="3199638" y="2898865"/>
                  </a:lnTo>
                  <a:cubicBezTo>
                    <a:pt x="3199638" y="3005596"/>
                    <a:pt x="3133979" y="3092189"/>
                    <a:pt x="3053080" y="3092189"/>
                  </a:cubicBezTo>
                  <a:lnTo>
                    <a:pt x="146685" y="3092189"/>
                  </a:lnTo>
                  <a:cubicBezTo>
                    <a:pt x="65786" y="3092189"/>
                    <a:pt x="127" y="3005596"/>
                    <a:pt x="127" y="2898865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219831" cy="3118701"/>
            </a:xfrm>
            <a:custGeom>
              <a:avLst/>
              <a:gdLst/>
              <a:ahLst/>
              <a:cxnLst/>
              <a:rect r="r" b="b" t="t" l="l"/>
              <a:pathLst>
                <a:path h="3118701" w="3219831">
                  <a:moveTo>
                    <a:pt x="0" y="206582"/>
                  </a:moveTo>
                  <a:cubicBezTo>
                    <a:pt x="0" y="92467"/>
                    <a:pt x="70104" y="0"/>
                    <a:pt x="156718" y="0"/>
                  </a:cubicBezTo>
                  <a:lnTo>
                    <a:pt x="3063113" y="0"/>
                  </a:lnTo>
                  <a:lnTo>
                    <a:pt x="3063113" y="13258"/>
                  </a:lnTo>
                  <a:lnTo>
                    <a:pt x="3063113" y="0"/>
                  </a:lnTo>
                  <a:cubicBezTo>
                    <a:pt x="3149600" y="0"/>
                    <a:pt x="3219831" y="92467"/>
                    <a:pt x="3219831" y="206582"/>
                  </a:cubicBezTo>
                  <a:lnTo>
                    <a:pt x="3209798" y="206582"/>
                  </a:lnTo>
                  <a:lnTo>
                    <a:pt x="3219831" y="206582"/>
                  </a:lnTo>
                  <a:lnTo>
                    <a:pt x="3219831" y="2912123"/>
                  </a:lnTo>
                  <a:lnTo>
                    <a:pt x="3209798" y="2912123"/>
                  </a:lnTo>
                  <a:lnTo>
                    <a:pt x="3219831" y="2912123"/>
                  </a:lnTo>
                  <a:cubicBezTo>
                    <a:pt x="3219831" y="3026238"/>
                    <a:pt x="3149727" y="3118701"/>
                    <a:pt x="3063113" y="3118701"/>
                  </a:cubicBezTo>
                  <a:lnTo>
                    <a:pt x="3063113" y="3105447"/>
                  </a:lnTo>
                  <a:lnTo>
                    <a:pt x="3063113" y="3118701"/>
                  </a:lnTo>
                  <a:lnTo>
                    <a:pt x="156718" y="3118701"/>
                  </a:lnTo>
                  <a:lnTo>
                    <a:pt x="156718" y="3105447"/>
                  </a:lnTo>
                  <a:lnTo>
                    <a:pt x="156718" y="3118701"/>
                  </a:lnTo>
                  <a:cubicBezTo>
                    <a:pt x="70104" y="3118701"/>
                    <a:pt x="0" y="3026238"/>
                    <a:pt x="0" y="2912123"/>
                  </a:cubicBezTo>
                  <a:lnTo>
                    <a:pt x="0" y="206582"/>
                  </a:lnTo>
                  <a:lnTo>
                    <a:pt x="10033" y="206582"/>
                  </a:lnTo>
                  <a:lnTo>
                    <a:pt x="0" y="206582"/>
                  </a:lnTo>
                  <a:moveTo>
                    <a:pt x="20193" y="206582"/>
                  </a:moveTo>
                  <a:lnTo>
                    <a:pt x="20193" y="2912123"/>
                  </a:lnTo>
                  <a:lnTo>
                    <a:pt x="10033" y="2912123"/>
                  </a:lnTo>
                  <a:lnTo>
                    <a:pt x="20066" y="2912123"/>
                  </a:lnTo>
                  <a:cubicBezTo>
                    <a:pt x="20066" y="3011470"/>
                    <a:pt x="81153" y="3092022"/>
                    <a:pt x="156591" y="3092022"/>
                  </a:cubicBezTo>
                  <a:lnTo>
                    <a:pt x="3063113" y="3092022"/>
                  </a:lnTo>
                  <a:cubicBezTo>
                    <a:pt x="3138551" y="3092022"/>
                    <a:pt x="3199638" y="3011470"/>
                    <a:pt x="3199638" y="2912123"/>
                  </a:cubicBezTo>
                  <a:lnTo>
                    <a:pt x="3199638" y="206582"/>
                  </a:lnTo>
                  <a:cubicBezTo>
                    <a:pt x="3199638" y="107235"/>
                    <a:pt x="3138551" y="26683"/>
                    <a:pt x="3063113" y="26683"/>
                  </a:cubicBezTo>
                  <a:lnTo>
                    <a:pt x="156718" y="26683"/>
                  </a:lnTo>
                  <a:lnTo>
                    <a:pt x="156718" y="13258"/>
                  </a:lnTo>
                  <a:lnTo>
                    <a:pt x="156718" y="26515"/>
                  </a:lnTo>
                  <a:cubicBezTo>
                    <a:pt x="81280" y="26683"/>
                    <a:pt x="20193" y="107235"/>
                    <a:pt x="20193" y="206582"/>
                  </a:cubicBezTo>
                  <a:close/>
                </a:path>
              </a:pathLst>
            </a:custGeom>
            <a:solidFill>
              <a:srgbClr val="C9D6DF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4652391" y="2745077"/>
            <a:ext cx="342357" cy="342357"/>
            <a:chOff x="0" y="0"/>
            <a:chExt cx="456476" cy="456476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56480" cy="456480"/>
            </a:xfrm>
            <a:custGeom>
              <a:avLst/>
              <a:gdLst/>
              <a:ahLst/>
              <a:cxnLst/>
              <a:rect r="r" b="b" t="t" l="l"/>
              <a:pathLst>
                <a:path h="456480" w="456480">
                  <a:moveTo>
                    <a:pt x="0" y="0"/>
                  </a:moveTo>
                  <a:lnTo>
                    <a:pt x="456480" y="0"/>
                  </a:lnTo>
                  <a:lnTo>
                    <a:pt x="456480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2" t="0" r="-78302" b="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0"/>
              <a:ext cx="456476" cy="4564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B4965"/>
                  </a:solidFill>
                  <a:latin typeface="Aptos Bold"/>
                  <a:ea typeface="Aptos Bold"/>
                  <a:cs typeface="Aptos Bold"/>
                  <a:sym typeface="Aptos Bold"/>
                </a:rPr>
                <a:t>2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5061423" y="2730419"/>
            <a:ext cx="1576797" cy="379767"/>
            <a:chOff x="0" y="0"/>
            <a:chExt cx="2102396" cy="506356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2102400" cy="506350"/>
            </a:xfrm>
            <a:custGeom>
              <a:avLst/>
              <a:gdLst/>
              <a:ahLst/>
              <a:cxnLst/>
              <a:rect r="r" b="b" t="t" l="l"/>
              <a:pathLst>
                <a:path h="506350" w="2102400">
                  <a:moveTo>
                    <a:pt x="0" y="0"/>
                  </a:moveTo>
                  <a:lnTo>
                    <a:pt x="2102400" y="0"/>
                  </a:lnTo>
                  <a:lnTo>
                    <a:pt x="2102400" y="506350"/>
                  </a:lnTo>
                  <a:lnTo>
                    <a:pt x="0" y="5063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230" r="0" b="-20575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2102396" cy="5158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29"/>
                </a:lnSpc>
              </a:pPr>
              <a:r>
                <a:rPr lang="en-US" sz="2024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Split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4823570" y="3323116"/>
            <a:ext cx="1892160" cy="1050589"/>
            <a:chOff x="0" y="0"/>
            <a:chExt cx="2522880" cy="1400785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522880" cy="1400777"/>
            </a:xfrm>
            <a:custGeom>
              <a:avLst/>
              <a:gdLst/>
              <a:ahLst/>
              <a:cxnLst/>
              <a:rect r="r" b="b" t="t" l="l"/>
              <a:pathLst>
                <a:path h="1400777" w="2522880">
                  <a:moveTo>
                    <a:pt x="0" y="0"/>
                  </a:moveTo>
                  <a:lnTo>
                    <a:pt x="2522880" y="0"/>
                  </a:lnTo>
                  <a:lnTo>
                    <a:pt x="2522880" y="1400777"/>
                  </a:lnTo>
                  <a:lnTo>
                    <a:pt x="0" y="140077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697" r="0" b="37509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9525"/>
              <a:ext cx="2522880" cy="13912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61"/>
                </a:lnSpc>
              </a:pPr>
              <a:r>
                <a:rPr lang="en-US" sz="2134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stratified 70/15/15, seed=42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6892566" y="3635866"/>
            <a:ext cx="680942" cy="23222"/>
            <a:chOff x="0" y="0"/>
            <a:chExt cx="907923" cy="30963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15113" y="0"/>
              <a:ext cx="877697" cy="30988"/>
            </a:xfrm>
            <a:custGeom>
              <a:avLst/>
              <a:gdLst/>
              <a:ahLst/>
              <a:cxnLst/>
              <a:rect r="r" b="b" t="t" l="l"/>
              <a:pathLst>
                <a:path h="30988" w="877697">
                  <a:moveTo>
                    <a:pt x="0" y="0"/>
                  </a:moveTo>
                  <a:lnTo>
                    <a:pt x="877697" y="762"/>
                  </a:lnTo>
                  <a:lnTo>
                    <a:pt x="877697" y="30988"/>
                  </a:lnTo>
                  <a:lnTo>
                    <a:pt x="0" y="30226"/>
                  </a:lnTo>
                  <a:close/>
                </a:path>
              </a:pathLst>
            </a:custGeom>
            <a:solidFill>
              <a:srgbClr val="AFC2CE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7838103" y="2489580"/>
            <a:ext cx="2414883" cy="2339283"/>
            <a:chOff x="0" y="0"/>
            <a:chExt cx="3219844" cy="3119044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10033" y="13259"/>
              <a:ext cx="3199638" cy="3092543"/>
            </a:xfrm>
            <a:custGeom>
              <a:avLst/>
              <a:gdLst/>
              <a:ahLst/>
              <a:cxnLst/>
              <a:rect r="r" b="b" t="t" l="l"/>
              <a:pathLst>
                <a:path h="3092543" w="3199638">
                  <a:moveTo>
                    <a:pt x="0" y="193347"/>
                  </a:moveTo>
                  <a:cubicBezTo>
                    <a:pt x="0" y="86603"/>
                    <a:pt x="65659" y="0"/>
                    <a:pt x="146685" y="0"/>
                  </a:cubicBezTo>
                  <a:lnTo>
                    <a:pt x="3053080" y="0"/>
                  </a:lnTo>
                  <a:cubicBezTo>
                    <a:pt x="3133979" y="0"/>
                    <a:pt x="3199638" y="86603"/>
                    <a:pt x="3199638" y="193347"/>
                  </a:cubicBezTo>
                  <a:lnTo>
                    <a:pt x="3199638" y="2899196"/>
                  </a:lnTo>
                  <a:cubicBezTo>
                    <a:pt x="3199638" y="3005939"/>
                    <a:pt x="3133979" y="3092543"/>
                    <a:pt x="3053080" y="3092543"/>
                  </a:cubicBezTo>
                  <a:lnTo>
                    <a:pt x="146685" y="3092543"/>
                  </a:lnTo>
                  <a:cubicBezTo>
                    <a:pt x="65786" y="3092543"/>
                    <a:pt x="127" y="3005939"/>
                    <a:pt x="127" y="2899196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219831" cy="3119057"/>
            </a:xfrm>
            <a:custGeom>
              <a:avLst/>
              <a:gdLst/>
              <a:ahLst/>
              <a:cxnLst/>
              <a:rect r="r" b="b" t="t" l="l"/>
              <a:pathLst>
                <a:path h="3119057" w="3219831">
                  <a:moveTo>
                    <a:pt x="0" y="206606"/>
                  </a:moveTo>
                  <a:cubicBezTo>
                    <a:pt x="0" y="92478"/>
                    <a:pt x="70104" y="0"/>
                    <a:pt x="156718" y="0"/>
                  </a:cubicBezTo>
                  <a:lnTo>
                    <a:pt x="3063113" y="0"/>
                  </a:lnTo>
                  <a:lnTo>
                    <a:pt x="3063113" y="13259"/>
                  </a:lnTo>
                  <a:lnTo>
                    <a:pt x="3063113" y="0"/>
                  </a:lnTo>
                  <a:cubicBezTo>
                    <a:pt x="3149600" y="0"/>
                    <a:pt x="3219831" y="92478"/>
                    <a:pt x="3219831" y="206606"/>
                  </a:cubicBezTo>
                  <a:lnTo>
                    <a:pt x="3209798" y="206606"/>
                  </a:lnTo>
                  <a:lnTo>
                    <a:pt x="3219831" y="206606"/>
                  </a:lnTo>
                  <a:lnTo>
                    <a:pt x="3219831" y="2912455"/>
                  </a:lnTo>
                  <a:lnTo>
                    <a:pt x="3209798" y="2912455"/>
                  </a:lnTo>
                  <a:lnTo>
                    <a:pt x="3219831" y="2912455"/>
                  </a:lnTo>
                  <a:cubicBezTo>
                    <a:pt x="3219831" y="3026583"/>
                    <a:pt x="3149727" y="3119057"/>
                    <a:pt x="3063113" y="3119057"/>
                  </a:cubicBezTo>
                  <a:lnTo>
                    <a:pt x="3063113" y="3105802"/>
                  </a:lnTo>
                  <a:lnTo>
                    <a:pt x="3063113" y="3119057"/>
                  </a:lnTo>
                  <a:lnTo>
                    <a:pt x="156718" y="3119057"/>
                  </a:lnTo>
                  <a:lnTo>
                    <a:pt x="156718" y="3105802"/>
                  </a:lnTo>
                  <a:lnTo>
                    <a:pt x="156718" y="3119057"/>
                  </a:lnTo>
                  <a:cubicBezTo>
                    <a:pt x="70104" y="3119057"/>
                    <a:pt x="0" y="3026583"/>
                    <a:pt x="0" y="2912455"/>
                  </a:cubicBezTo>
                  <a:lnTo>
                    <a:pt x="0" y="206606"/>
                  </a:lnTo>
                  <a:lnTo>
                    <a:pt x="10033" y="206606"/>
                  </a:lnTo>
                  <a:lnTo>
                    <a:pt x="0" y="206606"/>
                  </a:lnTo>
                  <a:moveTo>
                    <a:pt x="20193" y="206606"/>
                  </a:moveTo>
                  <a:lnTo>
                    <a:pt x="20193" y="2912455"/>
                  </a:lnTo>
                  <a:lnTo>
                    <a:pt x="10033" y="2912455"/>
                  </a:lnTo>
                  <a:lnTo>
                    <a:pt x="20066" y="2912455"/>
                  </a:lnTo>
                  <a:cubicBezTo>
                    <a:pt x="20066" y="3011813"/>
                    <a:pt x="81153" y="3092375"/>
                    <a:pt x="156591" y="3092375"/>
                  </a:cubicBezTo>
                  <a:lnTo>
                    <a:pt x="3063113" y="3092375"/>
                  </a:lnTo>
                  <a:cubicBezTo>
                    <a:pt x="3138551" y="3092375"/>
                    <a:pt x="3199638" y="3011813"/>
                    <a:pt x="3199638" y="2912455"/>
                  </a:cubicBezTo>
                  <a:lnTo>
                    <a:pt x="3199638" y="206606"/>
                  </a:lnTo>
                  <a:cubicBezTo>
                    <a:pt x="3199638" y="107247"/>
                    <a:pt x="3138551" y="26686"/>
                    <a:pt x="3063113" y="26686"/>
                  </a:cubicBezTo>
                  <a:lnTo>
                    <a:pt x="156718" y="26686"/>
                  </a:lnTo>
                  <a:lnTo>
                    <a:pt x="156718" y="13259"/>
                  </a:lnTo>
                  <a:lnTo>
                    <a:pt x="156718" y="26518"/>
                  </a:lnTo>
                  <a:cubicBezTo>
                    <a:pt x="81280" y="26686"/>
                    <a:pt x="20193" y="107247"/>
                    <a:pt x="20193" y="206606"/>
                  </a:cubicBezTo>
                  <a:close/>
                </a:path>
              </a:pathLst>
            </a:custGeom>
            <a:solidFill>
              <a:srgbClr val="C9D6DF"/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8012811" y="2745077"/>
            <a:ext cx="342357" cy="342357"/>
            <a:chOff x="0" y="0"/>
            <a:chExt cx="456476" cy="456476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456480" cy="456480"/>
            </a:xfrm>
            <a:custGeom>
              <a:avLst/>
              <a:gdLst/>
              <a:ahLst/>
              <a:cxnLst/>
              <a:rect r="r" b="b" t="t" l="l"/>
              <a:pathLst>
                <a:path h="456480" w="456480">
                  <a:moveTo>
                    <a:pt x="0" y="0"/>
                  </a:moveTo>
                  <a:lnTo>
                    <a:pt x="456480" y="0"/>
                  </a:lnTo>
                  <a:lnTo>
                    <a:pt x="456480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2" t="0" r="-78302" b="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0"/>
              <a:ext cx="456476" cy="4564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B4965"/>
                  </a:solidFill>
                  <a:latin typeface="Aptos Bold"/>
                  <a:ea typeface="Aptos Bold"/>
                  <a:cs typeface="Aptos Bold"/>
                  <a:sym typeface="Aptos Bold"/>
                </a:rPr>
                <a:t>3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8421843" y="2730419"/>
            <a:ext cx="1576797" cy="379767"/>
            <a:chOff x="0" y="0"/>
            <a:chExt cx="2102396" cy="506356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102400" cy="506350"/>
            </a:xfrm>
            <a:custGeom>
              <a:avLst/>
              <a:gdLst/>
              <a:ahLst/>
              <a:cxnLst/>
              <a:rect r="r" b="b" t="t" l="l"/>
              <a:pathLst>
                <a:path h="506350" w="2102400">
                  <a:moveTo>
                    <a:pt x="0" y="0"/>
                  </a:moveTo>
                  <a:lnTo>
                    <a:pt x="2102400" y="0"/>
                  </a:lnTo>
                  <a:lnTo>
                    <a:pt x="2102400" y="506350"/>
                  </a:lnTo>
                  <a:lnTo>
                    <a:pt x="0" y="5063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230" r="0" b="-20575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9525"/>
              <a:ext cx="2102396" cy="5158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29"/>
                </a:lnSpc>
              </a:pPr>
              <a:r>
                <a:rPr lang="en-US" sz="2024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Önişleme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8106480" y="3485041"/>
            <a:ext cx="1892160" cy="726739"/>
            <a:chOff x="0" y="0"/>
            <a:chExt cx="2522880" cy="968985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2522880" cy="968979"/>
            </a:xfrm>
            <a:custGeom>
              <a:avLst/>
              <a:gdLst/>
              <a:ahLst/>
              <a:cxnLst/>
              <a:rect r="r" b="b" t="t" l="l"/>
              <a:pathLst>
                <a:path h="968979" w="2522880">
                  <a:moveTo>
                    <a:pt x="0" y="0"/>
                  </a:moveTo>
                  <a:lnTo>
                    <a:pt x="2522880" y="0"/>
                  </a:lnTo>
                  <a:lnTo>
                    <a:pt x="2522880" y="968979"/>
                  </a:lnTo>
                  <a:lnTo>
                    <a:pt x="0" y="96897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27" r="0" b="9663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9525"/>
              <a:ext cx="2522880" cy="959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61"/>
                </a:lnSpc>
              </a:pPr>
              <a:r>
                <a:rPr lang="en-US" sz="2134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raw / light / light_masked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0252986" y="3624255"/>
            <a:ext cx="680942" cy="23222"/>
            <a:chOff x="0" y="0"/>
            <a:chExt cx="907923" cy="30963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15113" y="0"/>
              <a:ext cx="877697" cy="30988"/>
            </a:xfrm>
            <a:custGeom>
              <a:avLst/>
              <a:gdLst/>
              <a:ahLst/>
              <a:cxnLst/>
              <a:rect r="r" b="b" t="t" l="l"/>
              <a:pathLst>
                <a:path h="30988" w="877697">
                  <a:moveTo>
                    <a:pt x="0" y="0"/>
                  </a:moveTo>
                  <a:lnTo>
                    <a:pt x="877697" y="762"/>
                  </a:lnTo>
                  <a:lnTo>
                    <a:pt x="877697" y="30988"/>
                  </a:lnTo>
                  <a:lnTo>
                    <a:pt x="0" y="30226"/>
                  </a:lnTo>
                  <a:close/>
                </a:path>
              </a:pathLst>
            </a:custGeom>
            <a:solidFill>
              <a:srgbClr val="AFC2CE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1198523" y="2489580"/>
            <a:ext cx="2414883" cy="2339016"/>
            <a:chOff x="0" y="0"/>
            <a:chExt cx="3219844" cy="3118688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10033" y="13258"/>
              <a:ext cx="3199638" cy="3092190"/>
            </a:xfrm>
            <a:custGeom>
              <a:avLst/>
              <a:gdLst/>
              <a:ahLst/>
              <a:cxnLst/>
              <a:rect r="r" b="b" t="t" l="l"/>
              <a:pathLst>
                <a:path h="3092190" w="3199638">
                  <a:moveTo>
                    <a:pt x="0" y="193324"/>
                  </a:moveTo>
                  <a:cubicBezTo>
                    <a:pt x="0" y="86593"/>
                    <a:pt x="65659" y="0"/>
                    <a:pt x="146685" y="0"/>
                  </a:cubicBezTo>
                  <a:lnTo>
                    <a:pt x="3053080" y="0"/>
                  </a:lnTo>
                  <a:cubicBezTo>
                    <a:pt x="3133979" y="0"/>
                    <a:pt x="3199638" y="86593"/>
                    <a:pt x="3199638" y="193324"/>
                  </a:cubicBezTo>
                  <a:lnTo>
                    <a:pt x="3199638" y="2898865"/>
                  </a:lnTo>
                  <a:cubicBezTo>
                    <a:pt x="3199638" y="3005596"/>
                    <a:pt x="3133979" y="3092189"/>
                    <a:pt x="3053080" y="3092189"/>
                  </a:cubicBezTo>
                  <a:lnTo>
                    <a:pt x="146685" y="3092189"/>
                  </a:lnTo>
                  <a:cubicBezTo>
                    <a:pt x="65786" y="3092189"/>
                    <a:pt x="127" y="3005596"/>
                    <a:pt x="127" y="2898865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219831" cy="3118701"/>
            </a:xfrm>
            <a:custGeom>
              <a:avLst/>
              <a:gdLst/>
              <a:ahLst/>
              <a:cxnLst/>
              <a:rect r="r" b="b" t="t" l="l"/>
              <a:pathLst>
                <a:path h="3118701" w="3219831">
                  <a:moveTo>
                    <a:pt x="0" y="206582"/>
                  </a:moveTo>
                  <a:cubicBezTo>
                    <a:pt x="0" y="92467"/>
                    <a:pt x="70104" y="0"/>
                    <a:pt x="156718" y="0"/>
                  </a:cubicBezTo>
                  <a:lnTo>
                    <a:pt x="3063113" y="0"/>
                  </a:lnTo>
                  <a:lnTo>
                    <a:pt x="3063113" y="13258"/>
                  </a:lnTo>
                  <a:lnTo>
                    <a:pt x="3063113" y="0"/>
                  </a:lnTo>
                  <a:cubicBezTo>
                    <a:pt x="3149600" y="0"/>
                    <a:pt x="3219831" y="92467"/>
                    <a:pt x="3219831" y="206582"/>
                  </a:cubicBezTo>
                  <a:lnTo>
                    <a:pt x="3209798" y="206582"/>
                  </a:lnTo>
                  <a:lnTo>
                    <a:pt x="3219831" y="206582"/>
                  </a:lnTo>
                  <a:lnTo>
                    <a:pt x="3219831" y="2912123"/>
                  </a:lnTo>
                  <a:lnTo>
                    <a:pt x="3209798" y="2912123"/>
                  </a:lnTo>
                  <a:lnTo>
                    <a:pt x="3219831" y="2912123"/>
                  </a:lnTo>
                  <a:cubicBezTo>
                    <a:pt x="3219831" y="3026238"/>
                    <a:pt x="3149727" y="3118701"/>
                    <a:pt x="3063113" y="3118701"/>
                  </a:cubicBezTo>
                  <a:lnTo>
                    <a:pt x="3063113" y="3105447"/>
                  </a:lnTo>
                  <a:lnTo>
                    <a:pt x="3063113" y="3118701"/>
                  </a:lnTo>
                  <a:lnTo>
                    <a:pt x="156718" y="3118701"/>
                  </a:lnTo>
                  <a:lnTo>
                    <a:pt x="156718" y="3105447"/>
                  </a:lnTo>
                  <a:lnTo>
                    <a:pt x="156718" y="3118701"/>
                  </a:lnTo>
                  <a:cubicBezTo>
                    <a:pt x="70104" y="3118701"/>
                    <a:pt x="0" y="3026238"/>
                    <a:pt x="0" y="2912123"/>
                  </a:cubicBezTo>
                  <a:lnTo>
                    <a:pt x="0" y="206582"/>
                  </a:lnTo>
                  <a:lnTo>
                    <a:pt x="10033" y="206582"/>
                  </a:lnTo>
                  <a:lnTo>
                    <a:pt x="0" y="206582"/>
                  </a:lnTo>
                  <a:moveTo>
                    <a:pt x="20193" y="206582"/>
                  </a:moveTo>
                  <a:lnTo>
                    <a:pt x="20193" y="2912123"/>
                  </a:lnTo>
                  <a:lnTo>
                    <a:pt x="10033" y="2912123"/>
                  </a:lnTo>
                  <a:lnTo>
                    <a:pt x="20066" y="2912123"/>
                  </a:lnTo>
                  <a:cubicBezTo>
                    <a:pt x="20066" y="3011470"/>
                    <a:pt x="81153" y="3092022"/>
                    <a:pt x="156591" y="3092022"/>
                  </a:cubicBezTo>
                  <a:lnTo>
                    <a:pt x="3063113" y="3092022"/>
                  </a:lnTo>
                  <a:cubicBezTo>
                    <a:pt x="3138551" y="3092022"/>
                    <a:pt x="3199638" y="3011470"/>
                    <a:pt x="3199638" y="2912123"/>
                  </a:cubicBezTo>
                  <a:lnTo>
                    <a:pt x="3199638" y="206582"/>
                  </a:lnTo>
                  <a:cubicBezTo>
                    <a:pt x="3199638" y="107235"/>
                    <a:pt x="3138551" y="26683"/>
                    <a:pt x="3063113" y="26683"/>
                  </a:cubicBezTo>
                  <a:lnTo>
                    <a:pt x="156718" y="26683"/>
                  </a:lnTo>
                  <a:lnTo>
                    <a:pt x="156718" y="13258"/>
                  </a:lnTo>
                  <a:lnTo>
                    <a:pt x="156718" y="26515"/>
                  </a:lnTo>
                  <a:cubicBezTo>
                    <a:pt x="81280" y="26683"/>
                    <a:pt x="20193" y="107235"/>
                    <a:pt x="20193" y="206582"/>
                  </a:cubicBezTo>
                  <a:close/>
                </a:path>
              </a:pathLst>
            </a:custGeom>
            <a:solidFill>
              <a:srgbClr val="C9D6DF"/>
            </a:solid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11373231" y="2730419"/>
            <a:ext cx="342357" cy="342357"/>
            <a:chOff x="0" y="0"/>
            <a:chExt cx="456476" cy="456476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456480" cy="456480"/>
            </a:xfrm>
            <a:custGeom>
              <a:avLst/>
              <a:gdLst/>
              <a:ahLst/>
              <a:cxnLst/>
              <a:rect r="r" b="b" t="t" l="l"/>
              <a:pathLst>
                <a:path h="456480" w="456480">
                  <a:moveTo>
                    <a:pt x="0" y="0"/>
                  </a:moveTo>
                  <a:lnTo>
                    <a:pt x="456480" y="0"/>
                  </a:lnTo>
                  <a:lnTo>
                    <a:pt x="456480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2" t="0" r="-78302" b="0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0"/>
              <a:ext cx="456476" cy="4564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B4965"/>
                  </a:solidFill>
                  <a:latin typeface="Aptos Bold"/>
                  <a:ea typeface="Aptos Bold"/>
                  <a:cs typeface="Aptos Bold"/>
                  <a:sym typeface="Aptos Bold"/>
                </a:rPr>
                <a:t>4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1782263" y="2730419"/>
            <a:ext cx="1576797" cy="379767"/>
            <a:chOff x="0" y="0"/>
            <a:chExt cx="2102396" cy="506356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2102400" cy="506350"/>
            </a:xfrm>
            <a:custGeom>
              <a:avLst/>
              <a:gdLst/>
              <a:ahLst/>
              <a:cxnLst/>
              <a:rect r="r" b="b" t="t" l="l"/>
              <a:pathLst>
                <a:path h="506350" w="2102400">
                  <a:moveTo>
                    <a:pt x="0" y="0"/>
                  </a:moveTo>
                  <a:lnTo>
                    <a:pt x="2102400" y="0"/>
                  </a:lnTo>
                  <a:lnTo>
                    <a:pt x="2102400" y="506350"/>
                  </a:lnTo>
                  <a:lnTo>
                    <a:pt x="0" y="5063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230" r="0" b="-20575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9525"/>
              <a:ext cx="2102396" cy="5158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29"/>
                </a:lnSpc>
              </a:pPr>
              <a:r>
                <a:rPr lang="en-US" sz="2024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Modeller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11466900" y="3398131"/>
            <a:ext cx="1892160" cy="1050589"/>
            <a:chOff x="0" y="0"/>
            <a:chExt cx="2522880" cy="1400785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2522880" cy="1400777"/>
            </a:xfrm>
            <a:custGeom>
              <a:avLst/>
              <a:gdLst/>
              <a:ahLst/>
              <a:cxnLst/>
              <a:rect r="r" b="b" t="t" l="l"/>
              <a:pathLst>
                <a:path h="1400777" w="2522880">
                  <a:moveTo>
                    <a:pt x="0" y="0"/>
                  </a:moveTo>
                  <a:lnTo>
                    <a:pt x="2522880" y="0"/>
                  </a:lnTo>
                  <a:lnTo>
                    <a:pt x="2522880" y="1400777"/>
                  </a:lnTo>
                  <a:lnTo>
                    <a:pt x="0" y="140077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697" r="0" b="37509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9525"/>
              <a:ext cx="2522880" cy="13912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61"/>
                </a:lnSpc>
              </a:pPr>
              <a:r>
                <a:rPr lang="en-US" sz="2134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TF-IDF + BERTurk/ELECTRA/XLM-R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13613406" y="3624255"/>
            <a:ext cx="680942" cy="23222"/>
            <a:chOff x="0" y="0"/>
            <a:chExt cx="907923" cy="30963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15113" y="0"/>
              <a:ext cx="877697" cy="30988"/>
            </a:xfrm>
            <a:custGeom>
              <a:avLst/>
              <a:gdLst/>
              <a:ahLst/>
              <a:cxnLst/>
              <a:rect r="r" b="b" t="t" l="l"/>
              <a:pathLst>
                <a:path h="30988" w="877697">
                  <a:moveTo>
                    <a:pt x="0" y="0"/>
                  </a:moveTo>
                  <a:lnTo>
                    <a:pt x="877697" y="762"/>
                  </a:lnTo>
                  <a:lnTo>
                    <a:pt x="877697" y="30988"/>
                  </a:lnTo>
                  <a:lnTo>
                    <a:pt x="0" y="30226"/>
                  </a:lnTo>
                  <a:close/>
                </a:path>
              </a:pathLst>
            </a:custGeom>
            <a:solidFill>
              <a:srgbClr val="AFC2CE"/>
            </a:solidFill>
          </p:spPr>
        </p:sp>
      </p:grpSp>
      <p:grpSp>
        <p:nvGrpSpPr>
          <p:cNvPr name="Group 77" id="77"/>
          <p:cNvGrpSpPr/>
          <p:nvPr/>
        </p:nvGrpSpPr>
        <p:grpSpPr>
          <a:xfrm rot="0">
            <a:off x="14558943" y="2489580"/>
            <a:ext cx="2414883" cy="2339016"/>
            <a:chOff x="0" y="0"/>
            <a:chExt cx="3219844" cy="3118688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10033" y="13258"/>
              <a:ext cx="3199638" cy="3092190"/>
            </a:xfrm>
            <a:custGeom>
              <a:avLst/>
              <a:gdLst/>
              <a:ahLst/>
              <a:cxnLst/>
              <a:rect r="r" b="b" t="t" l="l"/>
              <a:pathLst>
                <a:path h="3092190" w="3199638">
                  <a:moveTo>
                    <a:pt x="0" y="193324"/>
                  </a:moveTo>
                  <a:cubicBezTo>
                    <a:pt x="0" y="86593"/>
                    <a:pt x="65659" y="0"/>
                    <a:pt x="146685" y="0"/>
                  </a:cubicBezTo>
                  <a:lnTo>
                    <a:pt x="3053080" y="0"/>
                  </a:lnTo>
                  <a:cubicBezTo>
                    <a:pt x="3133979" y="0"/>
                    <a:pt x="3199638" y="86593"/>
                    <a:pt x="3199638" y="193324"/>
                  </a:cubicBezTo>
                  <a:lnTo>
                    <a:pt x="3199638" y="2898865"/>
                  </a:lnTo>
                  <a:cubicBezTo>
                    <a:pt x="3199638" y="3005596"/>
                    <a:pt x="3133979" y="3092189"/>
                    <a:pt x="3053080" y="3092189"/>
                  </a:cubicBezTo>
                  <a:lnTo>
                    <a:pt x="146685" y="3092189"/>
                  </a:lnTo>
                  <a:cubicBezTo>
                    <a:pt x="65786" y="3092189"/>
                    <a:pt x="127" y="3005596"/>
                    <a:pt x="127" y="2898865"/>
                  </a:cubicBezTo>
                  <a:close/>
                </a:path>
              </a:pathLst>
            </a:custGeom>
            <a:solidFill>
              <a:srgbClr val="FFF1E8"/>
            </a:solidFill>
          </p:spPr>
        </p:sp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3219831" cy="3118701"/>
            </a:xfrm>
            <a:custGeom>
              <a:avLst/>
              <a:gdLst/>
              <a:ahLst/>
              <a:cxnLst/>
              <a:rect r="r" b="b" t="t" l="l"/>
              <a:pathLst>
                <a:path h="3118701" w="3219831">
                  <a:moveTo>
                    <a:pt x="0" y="206582"/>
                  </a:moveTo>
                  <a:cubicBezTo>
                    <a:pt x="0" y="92467"/>
                    <a:pt x="70104" y="0"/>
                    <a:pt x="156718" y="0"/>
                  </a:cubicBezTo>
                  <a:lnTo>
                    <a:pt x="3063113" y="0"/>
                  </a:lnTo>
                  <a:lnTo>
                    <a:pt x="3063113" y="13258"/>
                  </a:lnTo>
                  <a:lnTo>
                    <a:pt x="3063113" y="0"/>
                  </a:lnTo>
                  <a:cubicBezTo>
                    <a:pt x="3149600" y="0"/>
                    <a:pt x="3219831" y="92467"/>
                    <a:pt x="3219831" y="206582"/>
                  </a:cubicBezTo>
                  <a:lnTo>
                    <a:pt x="3209798" y="206582"/>
                  </a:lnTo>
                  <a:lnTo>
                    <a:pt x="3219831" y="206582"/>
                  </a:lnTo>
                  <a:lnTo>
                    <a:pt x="3219831" y="2912123"/>
                  </a:lnTo>
                  <a:lnTo>
                    <a:pt x="3209798" y="2912123"/>
                  </a:lnTo>
                  <a:lnTo>
                    <a:pt x="3219831" y="2912123"/>
                  </a:lnTo>
                  <a:cubicBezTo>
                    <a:pt x="3219831" y="3026238"/>
                    <a:pt x="3149727" y="3118701"/>
                    <a:pt x="3063113" y="3118701"/>
                  </a:cubicBezTo>
                  <a:lnTo>
                    <a:pt x="3063113" y="3105447"/>
                  </a:lnTo>
                  <a:lnTo>
                    <a:pt x="3063113" y="3118701"/>
                  </a:lnTo>
                  <a:lnTo>
                    <a:pt x="156718" y="3118701"/>
                  </a:lnTo>
                  <a:lnTo>
                    <a:pt x="156718" y="3105447"/>
                  </a:lnTo>
                  <a:lnTo>
                    <a:pt x="156718" y="3118701"/>
                  </a:lnTo>
                  <a:cubicBezTo>
                    <a:pt x="70104" y="3118701"/>
                    <a:pt x="0" y="3026238"/>
                    <a:pt x="0" y="2912123"/>
                  </a:cubicBezTo>
                  <a:lnTo>
                    <a:pt x="0" y="206582"/>
                  </a:lnTo>
                  <a:lnTo>
                    <a:pt x="10033" y="206582"/>
                  </a:lnTo>
                  <a:lnTo>
                    <a:pt x="0" y="206582"/>
                  </a:lnTo>
                  <a:moveTo>
                    <a:pt x="20193" y="206582"/>
                  </a:moveTo>
                  <a:lnTo>
                    <a:pt x="20193" y="2912123"/>
                  </a:lnTo>
                  <a:lnTo>
                    <a:pt x="10033" y="2912123"/>
                  </a:lnTo>
                  <a:lnTo>
                    <a:pt x="20066" y="2912123"/>
                  </a:lnTo>
                  <a:cubicBezTo>
                    <a:pt x="20066" y="3011470"/>
                    <a:pt x="81153" y="3092022"/>
                    <a:pt x="156591" y="3092022"/>
                  </a:cubicBezTo>
                  <a:lnTo>
                    <a:pt x="3063113" y="3092022"/>
                  </a:lnTo>
                  <a:cubicBezTo>
                    <a:pt x="3138551" y="3092022"/>
                    <a:pt x="3199638" y="3011470"/>
                    <a:pt x="3199638" y="2912123"/>
                  </a:cubicBezTo>
                  <a:lnTo>
                    <a:pt x="3199638" y="206582"/>
                  </a:lnTo>
                  <a:cubicBezTo>
                    <a:pt x="3199638" y="107235"/>
                    <a:pt x="3138551" y="26683"/>
                    <a:pt x="3063113" y="26683"/>
                  </a:cubicBezTo>
                  <a:lnTo>
                    <a:pt x="156718" y="26683"/>
                  </a:lnTo>
                  <a:lnTo>
                    <a:pt x="156718" y="13258"/>
                  </a:lnTo>
                  <a:lnTo>
                    <a:pt x="156718" y="26515"/>
                  </a:lnTo>
                  <a:cubicBezTo>
                    <a:pt x="81280" y="26683"/>
                    <a:pt x="20193" y="107235"/>
                    <a:pt x="20193" y="206582"/>
                  </a:cubicBezTo>
                  <a:close/>
                </a:path>
              </a:pathLst>
            </a:custGeom>
            <a:solidFill>
              <a:srgbClr val="E76F51"/>
            </a:solidFill>
          </p:spPr>
        </p:sp>
      </p:grpSp>
      <p:grpSp>
        <p:nvGrpSpPr>
          <p:cNvPr name="Group 80" id="80"/>
          <p:cNvGrpSpPr/>
          <p:nvPr/>
        </p:nvGrpSpPr>
        <p:grpSpPr>
          <a:xfrm rot="0">
            <a:off x="14737356" y="2745077"/>
            <a:ext cx="342357" cy="342357"/>
            <a:chOff x="0" y="0"/>
            <a:chExt cx="456476" cy="456476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456480" cy="456480"/>
            </a:xfrm>
            <a:custGeom>
              <a:avLst/>
              <a:gdLst/>
              <a:ahLst/>
              <a:cxnLst/>
              <a:rect r="r" b="b" t="t" l="l"/>
              <a:pathLst>
                <a:path h="456480" w="456480">
                  <a:moveTo>
                    <a:pt x="0" y="0"/>
                  </a:moveTo>
                  <a:lnTo>
                    <a:pt x="456480" y="0"/>
                  </a:lnTo>
                  <a:lnTo>
                    <a:pt x="456480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2" t="0" r="-78302" b="0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0"/>
              <a:ext cx="456476" cy="4564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E76F5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5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15142683" y="2730419"/>
            <a:ext cx="1576797" cy="379767"/>
            <a:chOff x="0" y="0"/>
            <a:chExt cx="2102396" cy="506356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2102400" cy="506350"/>
            </a:xfrm>
            <a:custGeom>
              <a:avLst/>
              <a:gdLst/>
              <a:ahLst/>
              <a:cxnLst/>
              <a:rect r="r" b="b" t="t" l="l"/>
              <a:pathLst>
                <a:path h="506350" w="2102400">
                  <a:moveTo>
                    <a:pt x="0" y="0"/>
                  </a:moveTo>
                  <a:lnTo>
                    <a:pt x="2102400" y="0"/>
                  </a:lnTo>
                  <a:lnTo>
                    <a:pt x="2102400" y="506350"/>
                  </a:lnTo>
                  <a:lnTo>
                    <a:pt x="0" y="5063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230" r="0" b="-20575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9525"/>
              <a:ext cx="2102396" cy="5158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29"/>
                </a:lnSpc>
              </a:pPr>
              <a:r>
                <a:rPr lang="en-US" sz="2024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Post-hoc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14813280" y="3251522"/>
            <a:ext cx="1892160" cy="1374439"/>
            <a:chOff x="0" y="0"/>
            <a:chExt cx="2522880" cy="1832585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2522880" cy="1832574"/>
            </a:xfrm>
            <a:custGeom>
              <a:avLst/>
              <a:gdLst/>
              <a:ahLst/>
              <a:cxnLst/>
              <a:rect r="r" b="b" t="t" l="l"/>
              <a:pathLst>
                <a:path h="1832574" w="2522880">
                  <a:moveTo>
                    <a:pt x="0" y="0"/>
                  </a:moveTo>
                  <a:lnTo>
                    <a:pt x="2522880" y="0"/>
                  </a:lnTo>
                  <a:lnTo>
                    <a:pt x="2522880" y="1832574"/>
                  </a:lnTo>
                  <a:lnTo>
                    <a:pt x="0" y="183257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83" r="0" b="52234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9525"/>
              <a:ext cx="2522880" cy="18230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61"/>
                </a:lnSpc>
              </a:pPr>
              <a:r>
                <a:rPr lang="en-US" sz="2134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temperature scaling + threshold sweep</a:t>
              </a:r>
            </a:p>
          </p:txBody>
        </p:sp>
      </p:grpSp>
      <p:graphicFrame>
        <p:nvGraphicFramePr>
          <p:cNvPr name="Table 89" id="89"/>
          <p:cNvGraphicFramePr>
            <a:graphicFrameLocks noGrp="true"/>
          </p:cNvGraphicFramePr>
          <p:nvPr/>
        </p:nvGraphicFramePr>
        <p:xfrm>
          <a:off x="1305663" y="5412242"/>
          <a:ext cx="15479763" cy="3570287"/>
        </p:xfrm>
        <a:graphic>
          <a:graphicData uri="http://schemas.openxmlformats.org/drawingml/2006/table">
            <a:tbl>
              <a:tblPr/>
              <a:tblGrid>
                <a:gridCol w="3033405"/>
                <a:gridCol w="5228518"/>
                <a:gridCol w="7217840"/>
              </a:tblGrid>
              <a:tr h="71405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Deney bileşeni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Seçim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Gerekçe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</a:tr>
              <a:tr h="71405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Baseline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TF-IDF + SGD log-loss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Hızlı ve güçlü klasik alt sınır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405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Transformer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BERTurk, ELECTRA, XLM-R, BERTweet, ConvBERTurk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Türkçe odaklı ve multilingual temsil karşılaştırması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1405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Kalibrasyon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Validation logits üzerinde temperature scaling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Test olasılıklarını güvenilirlik açısından okumak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405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Metrikler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Macro-F1, PR-AUC, ECE, threshold policy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Dengesiz veri ve karar riski için daha açıklayıcı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fast">
    <p:fade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449" y="-9449"/>
            <a:ext cx="18306002" cy="10305364"/>
            <a:chOff x="0" y="0"/>
            <a:chExt cx="24408003" cy="137404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573" y="12573"/>
              <a:ext cx="24382857" cy="13715364"/>
            </a:xfrm>
            <a:custGeom>
              <a:avLst/>
              <a:gdLst/>
              <a:ahLst/>
              <a:cxnLst/>
              <a:rect r="r" b="b" t="t" l="l"/>
              <a:pathLst>
                <a:path h="13715364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3715364"/>
                  </a:lnTo>
                  <a:lnTo>
                    <a:pt x="0" y="13715364"/>
                  </a:lnTo>
                  <a:close/>
                </a:path>
              </a:pathLst>
            </a:custGeom>
            <a:solidFill>
              <a:srgbClr val="F7F9FC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408003" cy="13740510"/>
            </a:xfrm>
            <a:custGeom>
              <a:avLst/>
              <a:gdLst/>
              <a:ahLst/>
              <a:cxnLst/>
              <a:rect r="r" b="b" t="t" l="l"/>
              <a:pathLst>
                <a:path h="13740510" w="24408003">
                  <a:moveTo>
                    <a:pt x="12573" y="0"/>
                  </a:moveTo>
                  <a:lnTo>
                    <a:pt x="24395430" y="0"/>
                  </a:lnTo>
                  <a:cubicBezTo>
                    <a:pt x="24402416" y="0"/>
                    <a:pt x="24408003" y="5588"/>
                    <a:pt x="24408003" y="12573"/>
                  </a:cubicBezTo>
                  <a:lnTo>
                    <a:pt x="24408003" y="13727937"/>
                  </a:lnTo>
                  <a:cubicBezTo>
                    <a:pt x="24408003" y="13734923"/>
                    <a:pt x="24402416" y="13740510"/>
                    <a:pt x="24395430" y="13740510"/>
                  </a:cubicBezTo>
                  <a:lnTo>
                    <a:pt x="12573" y="13740510"/>
                  </a:lnTo>
                  <a:cubicBezTo>
                    <a:pt x="5588" y="13740510"/>
                    <a:pt x="0" y="13734923"/>
                    <a:pt x="0" y="13727937"/>
                  </a:cubicBezTo>
                  <a:lnTo>
                    <a:pt x="0" y="12573"/>
                  </a:lnTo>
                  <a:cubicBezTo>
                    <a:pt x="0" y="5588"/>
                    <a:pt x="5588" y="0"/>
                    <a:pt x="12573" y="0"/>
                  </a:cubicBezTo>
                  <a:moveTo>
                    <a:pt x="12573" y="25146"/>
                  </a:moveTo>
                  <a:lnTo>
                    <a:pt x="12573" y="12573"/>
                  </a:lnTo>
                  <a:lnTo>
                    <a:pt x="25146" y="12573"/>
                  </a:lnTo>
                  <a:lnTo>
                    <a:pt x="25146" y="13727937"/>
                  </a:lnTo>
                  <a:lnTo>
                    <a:pt x="12573" y="13727937"/>
                  </a:lnTo>
                  <a:lnTo>
                    <a:pt x="12573" y="13715364"/>
                  </a:lnTo>
                  <a:lnTo>
                    <a:pt x="24395430" y="13715364"/>
                  </a:lnTo>
                  <a:lnTo>
                    <a:pt x="24395430" y="13727937"/>
                  </a:lnTo>
                  <a:lnTo>
                    <a:pt x="24382857" y="13727937"/>
                  </a:lnTo>
                  <a:lnTo>
                    <a:pt x="24382857" y="12573"/>
                  </a:lnTo>
                  <a:lnTo>
                    <a:pt x="24395430" y="12573"/>
                  </a:lnTo>
                  <a:lnTo>
                    <a:pt x="24395430" y="25146"/>
                  </a:lnTo>
                  <a:lnTo>
                    <a:pt x="12573" y="25146"/>
                  </a:lnTo>
                  <a:close/>
                </a:path>
              </a:pathLst>
            </a:custGeom>
            <a:solidFill>
              <a:srgbClr val="F7F9F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883977" y="9703260"/>
            <a:ext cx="16542896" cy="15659"/>
            <a:chOff x="0" y="0"/>
            <a:chExt cx="22057195" cy="2087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033" y="0"/>
              <a:ext cx="22037040" cy="20955"/>
            </a:xfrm>
            <a:custGeom>
              <a:avLst/>
              <a:gdLst/>
              <a:ahLst/>
              <a:cxnLst/>
              <a:rect r="r" b="b" t="t" l="l"/>
              <a:pathLst>
                <a:path h="20955" w="22037040">
                  <a:moveTo>
                    <a:pt x="0" y="0"/>
                  </a:moveTo>
                  <a:lnTo>
                    <a:pt x="22037040" y="762"/>
                  </a:lnTo>
                  <a:lnTo>
                    <a:pt x="22037040" y="20955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D9E3EA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891540" y="9820437"/>
            <a:ext cx="3016977" cy="273777"/>
            <a:chOff x="0" y="0"/>
            <a:chExt cx="4022636" cy="3650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022640" cy="365040"/>
            </a:xfrm>
            <a:custGeom>
              <a:avLst/>
              <a:gdLst/>
              <a:ahLst/>
              <a:cxnLst/>
              <a:rect r="r" b="b" t="t" l="l"/>
              <a:pathLst>
                <a:path h="365040" w="4022640">
                  <a:moveTo>
                    <a:pt x="0" y="0"/>
                  </a:moveTo>
                  <a:lnTo>
                    <a:pt x="4022640" y="0"/>
                  </a:lnTo>
                  <a:lnTo>
                    <a:pt x="402264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4720" r="0" b="-16471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4022636" cy="3650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170"/>
                </a:lnSpc>
              </a:pPr>
              <a:r>
                <a:rPr lang="en-US" sz="975">
                  <a:solidFill>
                    <a:srgbClr val="6B7A88"/>
                  </a:solidFill>
                  <a:latin typeface="Aptos"/>
                  <a:ea typeface="Aptos"/>
                  <a:cs typeface="Aptos"/>
                  <a:sym typeface="Aptos"/>
                </a:rPr>
                <a:t>YZM304 Project 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853160" y="480060"/>
            <a:ext cx="3497037" cy="273777"/>
            <a:chOff x="0" y="0"/>
            <a:chExt cx="4662716" cy="36503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662720" cy="365040"/>
            </a:xfrm>
            <a:custGeom>
              <a:avLst/>
              <a:gdLst/>
              <a:ahLst/>
              <a:cxnLst/>
              <a:rect r="r" b="b" t="t" l="l"/>
              <a:pathLst>
                <a:path h="365040" w="4662720">
                  <a:moveTo>
                    <a:pt x="0" y="0"/>
                  </a:moveTo>
                  <a:lnTo>
                    <a:pt x="4662720" y="0"/>
                  </a:lnTo>
                  <a:lnTo>
                    <a:pt x="466272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886" r="0" b="-19888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4662716" cy="3745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METHODS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91540" y="576177"/>
            <a:ext cx="12206697" cy="603180"/>
            <a:chOff x="0" y="0"/>
            <a:chExt cx="16275596" cy="8042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6275600" cy="804240"/>
            </a:xfrm>
            <a:custGeom>
              <a:avLst/>
              <a:gdLst/>
              <a:ahLst/>
              <a:cxnLst/>
              <a:rect r="r" b="b" t="t" l="l"/>
              <a:pathLst>
                <a:path h="804240" w="16275600">
                  <a:moveTo>
                    <a:pt x="0" y="0"/>
                  </a:moveTo>
                  <a:lnTo>
                    <a:pt x="16275600" y="0"/>
                  </a:lnTo>
                  <a:lnTo>
                    <a:pt x="16275600" y="804240"/>
                  </a:lnTo>
                  <a:lnTo>
                    <a:pt x="0" y="804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4323" r="0" b="-344323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16275596" cy="804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HPO sınırlı ama savunulabilir tutuldu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62917" y="1369981"/>
            <a:ext cx="1223096" cy="57779"/>
            <a:chOff x="0" y="0"/>
            <a:chExt cx="1630794" cy="7703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38100" y="0"/>
              <a:ext cx="1554607" cy="77089"/>
            </a:xfrm>
            <a:custGeom>
              <a:avLst/>
              <a:gdLst/>
              <a:ahLst/>
              <a:cxnLst/>
              <a:rect r="r" b="b" t="t" l="l"/>
              <a:pathLst>
                <a:path h="77089" w="1554607">
                  <a:moveTo>
                    <a:pt x="127" y="0"/>
                  </a:moveTo>
                  <a:lnTo>
                    <a:pt x="1554607" y="762"/>
                  </a:lnTo>
                  <a:lnTo>
                    <a:pt x="1554607" y="77089"/>
                  </a:lnTo>
                  <a:lnTo>
                    <a:pt x="0" y="76327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891540" y="1563843"/>
            <a:ext cx="13166817" cy="342357"/>
            <a:chOff x="0" y="0"/>
            <a:chExt cx="17555756" cy="4564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555759" cy="456480"/>
            </a:xfrm>
            <a:custGeom>
              <a:avLst/>
              <a:gdLst/>
              <a:ahLst/>
              <a:cxnLst/>
              <a:rect r="r" b="b" t="t" l="l"/>
              <a:pathLst>
                <a:path h="456480" w="17555759">
                  <a:moveTo>
                    <a:pt x="0" y="0"/>
                  </a:moveTo>
                  <a:lnTo>
                    <a:pt x="17555759" y="0"/>
                  </a:lnTo>
                  <a:lnTo>
                    <a:pt x="17555759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375" r="0" b="-69937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7555756" cy="4564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BERTurk üzerinde 6 kısa trial; seçilen ayar diğer transformer koşularına taşındı.</a:t>
              </a:r>
            </a:p>
          </p:txBody>
        </p:sp>
      </p:grpSp>
      <p:graphicFrame>
        <p:nvGraphicFramePr>
          <p:cNvPr name="Table 21" id="21"/>
          <p:cNvGraphicFramePr>
            <a:graphicFrameLocks noGrp="true"/>
          </p:cNvGraphicFramePr>
          <p:nvPr/>
        </p:nvGraphicFramePr>
        <p:xfrm>
          <a:off x="1028700" y="2125980"/>
          <a:ext cx="9511441" cy="3471372"/>
        </p:xfrm>
        <a:graphic>
          <a:graphicData uri="http://schemas.openxmlformats.org/drawingml/2006/table">
            <a:tbl>
              <a:tblPr/>
              <a:tblGrid>
                <a:gridCol w="566069"/>
                <a:gridCol w="1350047"/>
                <a:gridCol w="1585240"/>
                <a:gridCol w="2290820"/>
                <a:gridCol w="2290820"/>
                <a:gridCol w="1428445"/>
              </a:tblGrid>
              <a:tr h="49591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#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LR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Class wt.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Val macro-F1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Classwise ECE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Runtime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</a:tr>
              <a:tr h="49591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1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2e-05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yes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0.6587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0.0263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80s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591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2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3e-05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yes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0.7267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0.0279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80s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9591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3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1e-05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yes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0.5607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0.0387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79s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591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4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2e-05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yes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0.6545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0.0275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79s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9591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5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2e-05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yes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0.6670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0.0244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80s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591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6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2e-05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no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0.6670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0.0152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77s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grpSp>
        <p:nvGrpSpPr>
          <p:cNvPr name="Group 22" id="22"/>
          <p:cNvGrpSpPr/>
          <p:nvPr/>
        </p:nvGrpSpPr>
        <p:grpSpPr>
          <a:xfrm rot="0">
            <a:off x="10965780" y="2118960"/>
            <a:ext cx="5294157" cy="1783080"/>
            <a:chOff x="0" y="0"/>
            <a:chExt cx="7058876" cy="23774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9398" y="12098"/>
              <a:ext cx="7040118" cy="2353292"/>
            </a:xfrm>
            <a:custGeom>
              <a:avLst/>
              <a:gdLst/>
              <a:ahLst/>
              <a:cxnLst/>
              <a:rect r="r" b="b" t="t" l="l"/>
              <a:pathLst>
                <a:path h="2353292" w="7040118">
                  <a:moveTo>
                    <a:pt x="0" y="141093"/>
                  </a:moveTo>
                  <a:cubicBezTo>
                    <a:pt x="0" y="63108"/>
                    <a:pt x="49403" y="0"/>
                    <a:pt x="110490" y="0"/>
                  </a:cubicBezTo>
                  <a:lnTo>
                    <a:pt x="6929628" y="0"/>
                  </a:lnTo>
                  <a:cubicBezTo>
                    <a:pt x="6990715" y="0"/>
                    <a:pt x="7040118" y="63271"/>
                    <a:pt x="7040118" y="141257"/>
                  </a:cubicBezTo>
                  <a:lnTo>
                    <a:pt x="7040118" y="2212036"/>
                  </a:lnTo>
                  <a:cubicBezTo>
                    <a:pt x="7040118" y="2290022"/>
                    <a:pt x="6990588" y="2353293"/>
                    <a:pt x="6929628" y="2353293"/>
                  </a:cubicBezTo>
                  <a:lnTo>
                    <a:pt x="110490" y="2353293"/>
                  </a:lnTo>
                  <a:cubicBezTo>
                    <a:pt x="49403" y="2353293"/>
                    <a:pt x="0" y="2290022"/>
                    <a:pt x="0" y="2212036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058914" cy="2377325"/>
            </a:xfrm>
            <a:custGeom>
              <a:avLst/>
              <a:gdLst/>
              <a:ahLst/>
              <a:cxnLst/>
              <a:rect r="r" b="b" t="t" l="l"/>
              <a:pathLst>
                <a:path h="2377325" w="7058914">
                  <a:moveTo>
                    <a:pt x="0" y="153191"/>
                  </a:moveTo>
                  <a:cubicBezTo>
                    <a:pt x="0" y="68503"/>
                    <a:pt x="53721" y="0"/>
                    <a:pt x="119888" y="0"/>
                  </a:cubicBezTo>
                  <a:lnTo>
                    <a:pt x="6939026" y="0"/>
                  </a:lnTo>
                  <a:lnTo>
                    <a:pt x="6939026" y="12098"/>
                  </a:lnTo>
                  <a:lnTo>
                    <a:pt x="6939026" y="0"/>
                  </a:lnTo>
                  <a:cubicBezTo>
                    <a:pt x="7005193" y="0"/>
                    <a:pt x="7058914" y="68503"/>
                    <a:pt x="7058914" y="153191"/>
                  </a:cubicBezTo>
                  <a:lnTo>
                    <a:pt x="7049516" y="153191"/>
                  </a:lnTo>
                  <a:lnTo>
                    <a:pt x="7058914" y="153191"/>
                  </a:lnTo>
                  <a:lnTo>
                    <a:pt x="7058914" y="2224134"/>
                  </a:lnTo>
                  <a:lnTo>
                    <a:pt x="7049516" y="2224134"/>
                  </a:lnTo>
                  <a:lnTo>
                    <a:pt x="7058914" y="2224134"/>
                  </a:lnTo>
                  <a:cubicBezTo>
                    <a:pt x="7058914" y="2308823"/>
                    <a:pt x="7005193" y="2377325"/>
                    <a:pt x="6939026" y="2377325"/>
                  </a:cubicBezTo>
                  <a:lnTo>
                    <a:pt x="6939026" y="2365227"/>
                  </a:lnTo>
                  <a:lnTo>
                    <a:pt x="6939026" y="2377325"/>
                  </a:lnTo>
                  <a:lnTo>
                    <a:pt x="119888" y="2377325"/>
                  </a:lnTo>
                  <a:lnTo>
                    <a:pt x="119888" y="2365227"/>
                  </a:lnTo>
                  <a:lnTo>
                    <a:pt x="119888" y="2377325"/>
                  </a:lnTo>
                  <a:cubicBezTo>
                    <a:pt x="53721" y="2377325"/>
                    <a:pt x="0" y="2308823"/>
                    <a:pt x="0" y="2224134"/>
                  </a:cubicBezTo>
                  <a:lnTo>
                    <a:pt x="0" y="153191"/>
                  </a:lnTo>
                  <a:lnTo>
                    <a:pt x="9398" y="153191"/>
                  </a:lnTo>
                  <a:lnTo>
                    <a:pt x="0" y="153191"/>
                  </a:lnTo>
                  <a:moveTo>
                    <a:pt x="18669" y="153191"/>
                  </a:moveTo>
                  <a:lnTo>
                    <a:pt x="18669" y="2224134"/>
                  </a:lnTo>
                  <a:lnTo>
                    <a:pt x="9398" y="2224134"/>
                  </a:lnTo>
                  <a:lnTo>
                    <a:pt x="18796" y="2224134"/>
                  </a:lnTo>
                  <a:cubicBezTo>
                    <a:pt x="18796" y="2295416"/>
                    <a:pt x="64008" y="2353292"/>
                    <a:pt x="119888" y="2353292"/>
                  </a:cubicBezTo>
                  <a:lnTo>
                    <a:pt x="6939026" y="2353292"/>
                  </a:lnTo>
                  <a:cubicBezTo>
                    <a:pt x="6994906" y="2353292"/>
                    <a:pt x="7040118" y="2295416"/>
                    <a:pt x="7040118" y="2224134"/>
                  </a:cubicBezTo>
                  <a:lnTo>
                    <a:pt x="7040118" y="153191"/>
                  </a:lnTo>
                  <a:cubicBezTo>
                    <a:pt x="7040118" y="81909"/>
                    <a:pt x="6994906" y="24033"/>
                    <a:pt x="6939026" y="24033"/>
                  </a:cubicBezTo>
                  <a:lnTo>
                    <a:pt x="119888" y="24033"/>
                  </a:lnTo>
                  <a:lnTo>
                    <a:pt x="119888" y="12098"/>
                  </a:lnTo>
                  <a:lnTo>
                    <a:pt x="119888" y="24197"/>
                  </a:lnTo>
                  <a:cubicBezTo>
                    <a:pt x="64008" y="24197"/>
                    <a:pt x="18796" y="82073"/>
                    <a:pt x="18796" y="153355"/>
                  </a:cubicBezTo>
                  <a:close/>
                </a:path>
              </a:pathLst>
            </a:custGeom>
            <a:solidFill>
              <a:srgbClr val="C9D6DF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1195818" y="2403538"/>
            <a:ext cx="48063" cy="829437"/>
            <a:chOff x="0" y="0"/>
            <a:chExt cx="64084" cy="110591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31623"/>
              <a:ext cx="64135" cy="1042543"/>
            </a:xfrm>
            <a:custGeom>
              <a:avLst/>
              <a:gdLst/>
              <a:ahLst/>
              <a:cxnLst/>
              <a:rect r="r" b="b" t="t" l="l"/>
              <a:pathLst>
                <a:path h="1042543" w="64135">
                  <a:moveTo>
                    <a:pt x="63373" y="0"/>
                  </a:moveTo>
                  <a:lnTo>
                    <a:pt x="64135" y="1042543"/>
                  </a:lnTo>
                  <a:lnTo>
                    <a:pt x="762" y="1042543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1452860" y="2287200"/>
            <a:ext cx="4525737" cy="379767"/>
            <a:chOff x="0" y="0"/>
            <a:chExt cx="6034316" cy="50635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034320" cy="506356"/>
            </a:xfrm>
            <a:custGeom>
              <a:avLst/>
              <a:gdLst/>
              <a:ahLst/>
              <a:cxnLst/>
              <a:rect r="r" b="b" t="t" l="l"/>
              <a:pathLst>
                <a:path h="506356" w="6034320">
                  <a:moveTo>
                    <a:pt x="0" y="0"/>
                  </a:moveTo>
                  <a:lnTo>
                    <a:pt x="6034320" y="0"/>
                  </a:lnTo>
                  <a:lnTo>
                    <a:pt x="6034320" y="506356"/>
                  </a:lnTo>
                  <a:lnTo>
                    <a:pt x="0" y="5063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8908" r="0" b="-175503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6034316" cy="5158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29"/>
                </a:lnSpc>
              </a:pPr>
              <a:r>
                <a:rPr lang="en-US" sz="2024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Seçilen ayar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1452860" y="2624193"/>
            <a:ext cx="4525737" cy="1293718"/>
            <a:chOff x="0" y="0"/>
            <a:chExt cx="6034316" cy="172495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034320" cy="1724944"/>
            </a:xfrm>
            <a:custGeom>
              <a:avLst/>
              <a:gdLst/>
              <a:ahLst/>
              <a:cxnLst/>
              <a:rect r="r" b="b" t="t" l="l"/>
              <a:pathLst>
                <a:path h="1724944" w="6034320">
                  <a:moveTo>
                    <a:pt x="0" y="0"/>
                  </a:moveTo>
                  <a:lnTo>
                    <a:pt x="6034320" y="0"/>
                  </a:lnTo>
                  <a:lnTo>
                    <a:pt x="6034320" y="1724944"/>
                  </a:lnTo>
                  <a:lnTo>
                    <a:pt x="0" y="172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217" r="0" b="14889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28575"/>
              <a:ext cx="6034316" cy="169638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27"/>
                </a:lnSpc>
              </a:pPr>
              <a:r>
                <a:rPr lang="en-US" sz="2154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trial=2 · learning_rate=3e-05 · weight_decay=0.01 · warmup_ratio=0.06 · class_weight=true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0965780" y="4190483"/>
            <a:ext cx="5294157" cy="1906033"/>
            <a:chOff x="0" y="0"/>
            <a:chExt cx="7058876" cy="2541378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9398" y="12933"/>
              <a:ext cx="7040118" cy="2515565"/>
            </a:xfrm>
            <a:custGeom>
              <a:avLst/>
              <a:gdLst/>
              <a:ahLst/>
              <a:cxnLst/>
              <a:rect r="r" b="b" t="t" l="l"/>
              <a:pathLst>
                <a:path h="2515565" w="7040118">
                  <a:moveTo>
                    <a:pt x="0" y="150822"/>
                  </a:moveTo>
                  <a:cubicBezTo>
                    <a:pt x="0" y="67459"/>
                    <a:pt x="49403" y="0"/>
                    <a:pt x="110490" y="0"/>
                  </a:cubicBezTo>
                  <a:lnTo>
                    <a:pt x="6929628" y="0"/>
                  </a:lnTo>
                  <a:cubicBezTo>
                    <a:pt x="6990715" y="0"/>
                    <a:pt x="7040118" y="67634"/>
                    <a:pt x="7040118" y="150996"/>
                  </a:cubicBezTo>
                  <a:lnTo>
                    <a:pt x="7040118" y="2364568"/>
                  </a:lnTo>
                  <a:cubicBezTo>
                    <a:pt x="7040118" y="2447931"/>
                    <a:pt x="6990588" y="2515565"/>
                    <a:pt x="6929628" y="2515565"/>
                  </a:cubicBezTo>
                  <a:lnTo>
                    <a:pt x="110490" y="2515565"/>
                  </a:lnTo>
                  <a:cubicBezTo>
                    <a:pt x="49403" y="2515565"/>
                    <a:pt x="0" y="2447931"/>
                    <a:pt x="0" y="236456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058914" cy="2541255"/>
            </a:xfrm>
            <a:custGeom>
              <a:avLst/>
              <a:gdLst/>
              <a:ahLst/>
              <a:cxnLst/>
              <a:rect r="r" b="b" t="t" l="l"/>
              <a:pathLst>
                <a:path h="2541255" w="7058914">
                  <a:moveTo>
                    <a:pt x="0" y="163755"/>
                  </a:moveTo>
                  <a:cubicBezTo>
                    <a:pt x="0" y="73226"/>
                    <a:pt x="53721" y="0"/>
                    <a:pt x="119888" y="0"/>
                  </a:cubicBezTo>
                  <a:lnTo>
                    <a:pt x="6939026" y="0"/>
                  </a:lnTo>
                  <a:lnTo>
                    <a:pt x="6939026" y="12933"/>
                  </a:lnTo>
                  <a:lnTo>
                    <a:pt x="6939026" y="0"/>
                  </a:lnTo>
                  <a:cubicBezTo>
                    <a:pt x="7005193" y="0"/>
                    <a:pt x="7058914" y="73226"/>
                    <a:pt x="7058914" y="163755"/>
                  </a:cubicBezTo>
                  <a:lnTo>
                    <a:pt x="7049516" y="163755"/>
                  </a:lnTo>
                  <a:lnTo>
                    <a:pt x="7058914" y="163755"/>
                  </a:lnTo>
                  <a:lnTo>
                    <a:pt x="7058914" y="2377501"/>
                  </a:lnTo>
                  <a:lnTo>
                    <a:pt x="7049516" y="2377501"/>
                  </a:lnTo>
                  <a:lnTo>
                    <a:pt x="7058914" y="2377501"/>
                  </a:lnTo>
                  <a:cubicBezTo>
                    <a:pt x="7058914" y="2468029"/>
                    <a:pt x="7005193" y="2541255"/>
                    <a:pt x="6939026" y="2541255"/>
                  </a:cubicBezTo>
                  <a:lnTo>
                    <a:pt x="6939026" y="2528323"/>
                  </a:lnTo>
                  <a:lnTo>
                    <a:pt x="6939026" y="2541255"/>
                  </a:lnTo>
                  <a:lnTo>
                    <a:pt x="119888" y="2541255"/>
                  </a:lnTo>
                  <a:lnTo>
                    <a:pt x="119888" y="2528323"/>
                  </a:lnTo>
                  <a:lnTo>
                    <a:pt x="119888" y="2541255"/>
                  </a:lnTo>
                  <a:cubicBezTo>
                    <a:pt x="53721" y="2541255"/>
                    <a:pt x="0" y="2468029"/>
                    <a:pt x="0" y="2377501"/>
                  </a:cubicBezTo>
                  <a:lnTo>
                    <a:pt x="0" y="163755"/>
                  </a:lnTo>
                  <a:lnTo>
                    <a:pt x="9398" y="163755"/>
                  </a:lnTo>
                  <a:lnTo>
                    <a:pt x="0" y="163755"/>
                  </a:lnTo>
                  <a:moveTo>
                    <a:pt x="18669" y="163755"/>
                  </a:moveTo>
                  <a:lnTo>
                    <a:pt x="18669" y="2377501"/>
                  </a:lnTo>
                  <a:lnTo>
                    <a:pt x="9398" y="2377501"/>
                  </a:lnTo>
                  <a:lnTo>
                    <a:pt x="18796" y="2377501"/>
                  </a:lnTo>
                  <a:cubicBezTo>
                    <a:pt x="18796" y="2453698"/>
                    <a:pt x="64008" y="2515565"/>
                    <a:pt x="119888" y="2515565"/>
                  </a:cubicBezTo>
                  <a:lnTo>
                    <a:pt x="6939026" y="2515565"/>
                  </a:lnTo>
                  <a:cubicBezTo>
                    <a:pt x="6994906" y="2515565"/>
                    <a:pt x="7040118" y="2453698"/>
                    <a:pt x="7040118" y="2377501"/>
                  </a:cubicBezTo>
                  <a:lnTo>
                    <a:pt x="7040118" y="163755"/>
                  </a:lnTo>
                  <a:cubicBezTo>
                    <a:pt x="7040118" y="87557"/>
                    <a:pt x="6994906" y="25690"/>
                    <a:pt x="6939026" y="25690"/>
                  </a:cubicBezTo>
                  <a:lnTo>
                    <a:pt x="119888" y="25690"/>
                  </a:lnTo>
                  <a:lnTo>
                    <a:pt x="119888" y="12933"/>
                  </a:lnTo>
                  <a:lnTo>
                    <a:pt x="119888" y="25865"/>
                  </a:lnTo>
                  <a:cubicBezTo>
                    <a:pt x="64008" y="25865"/>
                    <a:pt x="18796" y="87732"/>
                    <a:pt x="18796" y="163929"/>
                  </a:cubicBezTo>
                  <a:close/>
                </a:path>
              </a:pathLst>
            </a:custGeom>
            <a:solidFill>
              <a:srgbClr val="C9D6DF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1195818" y="4767915"/>
            <a:ext cx="48063" cy="829437"/>
            <a:chOff x="0" y="0"/>
            <a:chExt cx="64084" cy="110591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31623"/>
              <a:ext cx="64135" cy="1042543"/>
            </a:xfrm>
            <a:custGeom>
              <a:avLst/>
              <a:gdLst/>
              <a:ahLst/>
              <a:cxnLst/>
              <a:rect r="r" b="b" t="t" l="l"/>
              <a:pathLst>
                <a:path h="1042543" w="64135">
                  <a:moveTo>
                    <a:pt x="63373" y="0"/>
                  </a:moveTo>
                  <a:lnTo>
                    <a:pt x="64135" y="1042543"/>
                  </a:lnTo>
                  <a:lnTo>
                    <a:pt x="762" y="1042543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1B4965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11452860" y="4444286"/>
            <a:ext cx="4525737" cy="379767"/>
            <a:chOff x="0" y="0"/>
            <a:chExt cx="6034316" cy="506356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034320" cy="506356"/>
            </a:xfrm>
            <a:custGeom>
              <a:avLst/>
              <a:gdLst/>
              <a:ahLst/>
              <a:cxnLst/>
              <a:rect r="r" b="b" t="t" l="l"/>
              <a:pathLst>
                <a:path h="506356" w="6034320">
                  <a:moveTo>
                    <a:pt x="0" y="0"/>
                  </a:moveTo>
                  <a:lnTo>
                    <a:pt x="6034320" y="0"/>
                  </a:lnTo>
                  <a:lnTo>
                    <a:pt x="6034320" y="506356"/>
                  </a:lnTo>
                  <a:lnTo>
                    <a:pt x="0" y="5063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8908" r="0" b="-175503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6034316" cy="5158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29"/>
                </a:lnSpc>
              </a:pPr>
              <a:r>
                <a:rPr lang="en-US" sz="2024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Seçim kuralı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1452860" y="4924346"/>
            <a:ext cx="4525737" cy="998443"/>
            <a:chOff x="0" y="0"/>
            <a:chExt cx="6034316" cy="1331258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6034320" cy="1331247"/>
            </a:xfrm>
            <a:custGeom>
              <a:avLst/>
              <a:gdLst/>
              <a:ahLst/>
              <a:cxnLst/>
              <a:rect r="r" b="b" t="t" l="l"/>
              <a:pathLst>
                <a:path h="1331247" w="6034320">
                  <a:moveTo>
                    <a:pt x="0" y="0"/>
                  </a:moveTo>
                  <a:lnTo>
                    <a:pt x="6034320" y="0"/>
                  </a:lnTo>
                  <a:lnTo>
                    <a:pt x="6034320" y="1331247"/>
                  </a:lnTo>
                  <a:lnTo>
                    <a:pt x="0" y="133124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363" r="0" b="-1028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28575"/>
              <a:ext cx="6034316" cy="130268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27"/>
                </a:lnSpc>
              </a:pPr>
              <a:r>
                <a:rPr lang="en-US" sz="2154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Önce validation macro-F1 maksimize edildi. Yakın sonuçlarda classwise ECE ve runtime dikkate alındı.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028700" y="5751466"/>
            <a:ext cx="3291297" cy="342357"/>
            <a:chOff x="0" y="0"/>
            <a:chExt cx="4388396" cy="45647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388400" cy="456480"/>
            </a:xfrm>
            <a:custGeom>
              <a:avLst/>
              <a:gdLst/>
              <a:ahLst/>
              <a:cxnLst/>
              <a:rect r="r" b="b" t="t" l="l"/>
              <a:pathLst>
                <a:path h="456480" w="4388400">
                  <a:moveTo>
                    <a:pt x="0" y="0"/>
                  </a:moveTo>
                  <a:lnTo>
                    <a:pt x="4388400" y="0"/>
                  </a:lnTo>
                  <a:lnTo>
                    <a:pt x="4388400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320" r="0" b="-13732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4388396" cy="4564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Teorik model farkları</a:t>
              </a:r>
            </a:p>
          </p:txBody>
        </p:sp>
      </p:grpSp>
      <p:graphicFrame>
        <p:nvGraphicFramePr>
          <p:cNvPr name="Table 47" id="47"/>
          <p:cNvGraphicFramePr>
            <a:graphicFrameLocks noGrp="true"/>
          </p:cNvGraphicFramePr>
          <p:nvPr/>
        </p:nvGraphicFramePr>
        <p:xfrm>
          <a:off x="1028700" y="6284324"/>
          <a:ext cx="15820847" cy="2946225"/>
        </p:xfrm>
        <a:graphic>
          <a:graphicData uri="http://schemas.openxmlformats.org/drawingml/2006/table">
            <a:tbl>
              <a:tblPr/>
              <a:tblGrid>
                <a:gridCol w="3145128"/>
                <a:gridCol w="12675719"/>
              </a:tblGrid>
              <a:tr h="58924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Model ailesi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Kısa gerekçe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</a:tr>
              <a:tr h="58924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TF-IDF + SGD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Kelime/n-gram sinyallerini yakalar; hızlı, açıklanabilir baseline.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924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BERTurk / ELECTRA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Türkçe dil bağlamını subword düzeyinde öğrenen ön-eğitimli modeller.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58924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XLM-R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Multilingual kontrol; Türkçe özel modellerin avantajını test eder.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924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BERTweet / ConvBERTurk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Sosyal medya dili ve alternatif transformer mimarisi etkisini sınar.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fast">
    <p:fade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8002" y="-348039"/>
            <a:ext cx="18306002" cy="10305364"/>
            <a:chOff x="0" y="0"/>
            <a:chExt cx="24408003" cy="137404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573" y="12573"/>
              <a:ext cx="24382857" cy="13715364"/>
            </a:xfrm>
            <a:custGeom>
              <a:avLst/>
              <a:gdLst/>
              <a:ahLst/>
              <a:cxnLst/>
              <a:rect r="r" b="b" t="t" l="l"/>
              <a:pathLst>
                <a:path h="13715364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3715364"/>
                  </a:lnTo>
                  <a:lnTo>
                    <a:pt x="0" y="13715364"/>
                  </a:lnTo>
                  <a:close/>
                </a:path>
              </a:pathLst>
            </a:custGeom>
            <a:solidFill>
              <a:srgbClr val="F7F9FC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408003" cy="13740510"/>
            </a:xfrm>
            <a:custGeom>
              <a:avLst/>
              <a:gdLst/>
              <a:ahLst/>
              <a:cxnLst/>
              <a:rect r="r" b="b" t="t" l="l"/>
              <a:pathLst>
                <a:path h="13740510" w="24408003">
                  <a:moveTo>
                    <a:pt x="12573" y="0"/>
                  </a:moveTo>
                  <a:lnTo>
                    <a:pt x="24395430" y="0"/>
                  </a:lnTo>
                  <a:cubicBezTo>
                    <a:pt x="24402416" y="0"/>
                    <a:pt x="24408003" y="5588"/>
                    <a:pt x="24408003" y="12573"/>
                  </a:cubicBezTo>
                  <a:lnTo>
                    <a:pt x="24408003" y="13727937"/>
                  </a:lnTo>
                  <a:cubicBezTo>
                    <a:pt x="24408003" y="13734923"/>
                    <a:pt x="24402416" y="13740510"/>
                    <a:pt x="24395430" y="13740510"/>
                  </a:cubicBezTo>
                  <a:lnTo>
                    <a:pt x="12573" y="13740510"/>
                  </a:lnTo>
                  <a:cubicBezTo>
                    <a:pt x="5588" y="13740510"/>
                    <a:pt x="0" y="13734923"/>
                    <a:pt x="0" y="13727937"/>
                  </a:cubicBezTo>
                  <a:lnTo>
                    <a:pt x="0" y="12573"/>
                  </a:lnTo>
                  <a:cubicBezTo>
                    <a:pt x="0" y="5588"/>
                    <a:pt x="5588" y="0"/>
                    <a:pt x="12573" y="0"/>
                  </a:cubicBezTo>
                  <a:moveTo>
                    <a:pt x="12573" y="25146"/>
                  </a:moveTo>
                  <a:lnTo>
                    <a:pt x="12573" y="12573"/>
                  </a:lnTo>
                  <a:lnTo>
                    <a:pt x="25146" y="12573"/>
                  </a:lnTo>
                  <a:lnTo>
                    <a:pt x="25146" y="13727937"/>
                  </a:lnTo>
                  <a:lnTo>
                    <a:pt x="12573" y="13727937"/>
                  </a:lnTo>
                  <a:lnTo>
                    <a:pt x="12573" y="13715364"/>
                  </a:lnTo>
                  <a:lnTo>
                    <a:pt x="24395430" y="13715364"/>
                  </a:lnTo>
                  <a:lnTo>
                    <a:pt x="24395430" y="13727937"/>
                  </a:lnTo>
                  <a:lnTo>
                    <a:pt x="24382857" y="13727937"/>
                  </a:lnTo>
                  <a:lnTo>
                    <a:pt x="24382857" y="12573"/>
                  </a:lnTo>
                  <a:lnTo>
                    <a:pt x="24395430" y="12573"/>
                  </a:lnTo>
                  <a:lnTo>
                    <a:pt x="24395430" y="25146"/>
                  </a:lnTo>
                  <a:lnTo>
                    <a:pt x="12573" y="25146"/>
                  </a:lnTo>
                  <a:close/>
                </a:path>
              </a:pathLst>
            </a:custGeom>
            <a:solidFill>
              <a:srgbClr val="F7F9F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883977" y="9703260"/>
            <a:ext cx="16542896" cy="15659"/>
            <a:chOff x="0" y="0"/>
            <a:chExt cx="22057195" cy="2087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033" y="0"/>
              <a:ext cx="22037040" cy="20955"/>
            </a:xfrm>
            <a:custGeom>
              <a:avLst/>
              <a:gdLst/>
              <a:ahLst/>
              <a:cxnLst/>
              <a:rect r="r" b="b" t="t" l="l"/>
              <a:pathLst>
                <a:path h="20955" w="22037040">
                  <a:moveTo>
                    <a:pt x="0" y="0"/>
                  </a:moveTo>
                  <a:lnTo>
                    <a:pt x="22037040" y="762"/>
                  </a:lnTo>
                  <a:lnTo>
                    <a:pt x="22037040" y="20955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D9E3EA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891540" y="9820437"/>
            <a:ext cx="3016977" cy="273777"/>
            <a:chOff x="0" y="0"/>
            <a:chExt cx="4022636" cy="3650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022640" cy="365040"/>
            </a:xfrm>
            <a:custGeom>
              <a:avLst/>
              <a:gdLst/>
              <a:ahLst/>
              <a:cxnLst/>
              <a:rect r="r" b="b" t="t" l="l"/>
              <a:pathLst>
                <a:path h="365040" w="4022640">
                  <a:moveTo>
                    <a:pt x="0" y="0"/>
                  </a:moveTo>
                  <a:lnTo>
                    <a:pt x="4022640" y="0"/>
                  </a:lnTo>
                  <a:lnTo>
                    <a:pt x="402264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4720" r="0" b="-16471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4022636" cy="3650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170"/>
                </a:lnSpc>
              </a:pPr>
              <a:r>
                <a:rPr lang="en-US" sz="975">
                  <a:solidFill>
                    <a:srgbClr val="6B7A88"/>
                  </a:solidFill>
                  <a:latin typeface="Aptos"/>
                  <a:ea typeface="Aptos"/>
                  <a:cs typeface="Aptos"/>
                  <a:sym typeface="Aptos"/>
                </a:rPr>
                <a:t>YZM304 Project 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853160" y="480060"/>
            <a:ext cx="3497037" cy="273777"/>
            <a:chOff x="0" y="0"/>
            <a:chExt cx="4662716" cy="36503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662720" cy="365040"/>
            </a:xfrm>
            <a:custGeom>
              <a:avLst/>
              <a:gdLst/>
              <a:ahLst/>
              <a:cxnLst/>
              <a:rect r="r" b="b" t="t" l="l"/>
              <a:pathLst>
                <a:path h="365040" w="4662720">
                  <a:moveTo>
                    <a:pt x="0" y="0"/>
                  </a:moveTo>
                  <a:lnTo>
                    <a:pt x="4662720" y="0"/>
                  </a:lnTo>
                  <a:lnTo>
                    <a:pt x="466272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886" r="0" b="-19888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4662716" cy="3745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RESULTS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91540" y="576177"/>
            <a:ext cx="12206697" cy="603180"/>
            <a:chOff x="0" y="0"/>
            <a:chExt cx="16275596" cy="8042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6275600" cy="804240"/>
            </a:xfrm>
            <a:custGeom>
              <a:avLst/>
              <a:gdLst/>
              <a:ahLst/>
              <a:cxnLst/>
              <a:rect r="r" b="b" t="t" l="l"/>
              <a:pathLst>
                <a:path h="804240" w="16275600">
                  <a:moveTo>
                    <a:pt x="0" y="0"/>
                  </a:moveTo>
                  <a:lnTo>
                    <a:pt x="16275600" y="0"/>
                  </a:lnTo>
                  <a:lnTo>
                    <a:pt x="16275600" y="804240"/>
                  </a:lnTo>
                  <a:lnTo>
                    <a:pt x="0" y="804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4323" r="0" b="-344323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16275596" cy="804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Model karşılaştırması macro-F1 üzerinden okunmalı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62917" y="1369981"/>
            <a:ext cx="1223096" cy="57779"/>
            <a:chOff x="0" y="0"/>
            <a:chExt cx="1630794" cy="7703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38100" y="0"/>
              <a:ext cx="1554607" cy="77089"/>
            </a:xfrm>
            <a:custGeom>
              <a:avLst/>
              <a:gdLst/>
              <a:ahLst/>
              <a:cxnLst/>
              <a:rect r="r" b="b" t="t" l="l"/>
              <a:pathLst>
                <a:path h="77089" w="1554607">
                  <a:moveTo>
                    <a:pt x="127" y="0"/>
                  </a:moveTo>
                  <a:lnTo>
                    <a:pt x="1554607" y="762"/>
                  </a:lnTo>
                  <a:lnTo>
                    <a:pt x="1554607" y="77089"/>
                  </a:lnTo>
                  <a:lnTo>
                    <a:pt x="0" y="76327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891540" y="1563843"/>
            <a:ext cx="13166817" cy="342357"/>
            <a:chOff x="0" y="0"/>
            <a:chExt cx="17555756" cy="4564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555759" cy="456480"/>
            </a:xfrm>
            <a:custGeom>
              <a:avLst/>
              <a:gdLst/>
              <a:ahLst/>
              <a:cxnLst/>
              <a:rect r="r" b="b" t="t" l="l"/>
              <a:pathLst>
                <a:path h="456480" w="17555759">
                  <a:moveTo>
                    <a:pt x="0" y="0"/>
                  </a:moveTo>
                  <a:lnTo>
                    <a:pt x="17555759" y="0"/>
                  </a:lnTo>
                  <a:lnTo>
                    <a:pt x="17555759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375" r="0" b="-69937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7555756" cy="4564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En iyi koşu BERTurk light; baseline’a göre macro-F1 artışı +0.1028.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149125" y="2057400"/>
            <a:ext cx="8063877" cy="4251693"/>
            <a:chOff x="0" y="0"/>
            <a:chExt cx="10924565" cy="5759996"/>
          </a:xfrm>
        </p:grpSpPr>
        <p:sp>
          <p:nvSpPr>
            <p:cNvPr name="Freeform 22" id="22" descr="/mnt/data/p7_extract/ppt/media/image3.png"/>
            <p:cNvSpPr/>
            <p:nvPr/>
          </p:nvSpPr>
          <p:spPr>
            <a:xfrm flipH="false" flipV="false" rot="0">
              <a:off x="0" y="0"/>
              <a:ext cx="10924540" cy="5759958"/>
            </a:xfrm>
            <a:custGeom>
              <a:avLst/>
              <a:gdLst/>
              <a:ahLst/>
              <a:cxnLst/>
              <a:rect r="r" b="b" t="t" l="l"/>
              <a:pathLst>
                <a:path h="5759958" w="10924540">
                  <a:moveTo>
                    <a:pt x="0" y="0"/>
                  </a:moveTo>
                  <a:lnTo>
                    <a:pt x="10924540" y="0"/>
                  </a:lnTo>
                  <a:lnTo>
                    <a:pt x="10924540" y="5759958"/>
                  </a:lnTo>
                  <a:lnTo>
                    <a:pt x="0" y="5759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0" b="-2"/>
              </a:stretch>
            </a:blipFill>
          </p:spPr>
        </p:sp>
      </p:grpSp>
      <p:graphicFrame>
        <p:nvGraphicFramePr>
          <p:cNvPr name="Table 23" id="23"/>
          <p:cNvGraphicFramePr>
            <a:graphicFrameLocks noGrp="true"/>
          </p:cNvGraphicFramePr>
          <p:nvPr/>
        </p:nvGraphicFramePr>
        <p:xfrm>
          <a:off x="9725421" y="2541110"/>
          <a:ext cx="7701452" cy="5204781"/>
        </p:xfrm>
        <a:graphic>
          <a:graphicData uri="http://schemas.openxmlformats.org/drawingml/2006/table">
            <a:tbl>
              <a:tblPr/>
              <a:tblGrid>
                <a:gridCol w="3832831"/>
                <a:gridCol w="1235428"/>
                <a:gridCol w="1397766"/>
                <a:gridCol w="1235428"/>
              </a:tblGrid>
              <a:tr h="74354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Model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49"/>
                        </a:lnSpc>
                        <a:defRPr/>
                      </a:pPr>
                      <a:r>
                        <a:rPr lang="en-US" sz="1624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F1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49"/>
                        </a:lnSpc>
                        <a:defRPr/>
                      </a:pPr>
                      <a:r>
                        <a:rPr lang="en-US" sz="1624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PR-AUC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49"/>
                        </a:lnSpc>
                        <a:defRPr/>
                      </a:pPr>
                      <a:r>
                        <a:rPr lang="en-US" sz="1624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ECE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</a:tr>
              <a:tr h="74354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BERTurk light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1"/>
                        </a:lnSpc>
                        <a:defRPr/>
                      </a:pPr>
                      <a:r>
                        <a:rPr lang="en-US" sz="150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0.8997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1"/>
                        </a:lnSpc>
                        <a:defRPr/>
                      </a:pPr>
                      <a:r>
                        <a:rPr lang="en-US" sz="150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0.9456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1"/>
                        </a:lnSpc>
                        <a:defRPr/>
                      </a:pPr>
                      <a:r>
                        <a:rPr lang="en-US" sz="150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0.0089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354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BERTurk raw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1"/>
                        </a:lnSpc>
                        <a:defRPr/>
                      </a:pPr>
                      <a:r>
                        <a:rPr lang="en-US" sz="150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0.8981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1"/>
                        </a:lnSpc>
                        <a:defRPr/>
                      </a:pPr>
                      <a:r>
                        <a:rPr lang="en-US" sz="150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0.9510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1"/>
                        </a:lnSpc>
                        <a:defRPr/>
                      </a:pPr>
                      <a:r>
                        <a:rPr lang="en-US" sz="150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0.0111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354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ConvBERTurk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1"/>
                        </a:lnSpc>
                        <a:defRPr/>
                      </a:pPr>
                      <a:r>
                        <a:rPr lang="en-US" sz="150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0.8894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1"/>
                        </a:lnSpc>
                        <a:defRPr/>
                      </a:pPr>
                      <a:r>
                        <a:rPr lang="en-US" sz="150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0.9389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1"/>
                        </a:lnSpc>
                        <a:defRPr/>
                      </a:pPr>
                      <a:r>
                        <a:rPr lang="en-US" sz="150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0.0184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354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Turkish ELECTRA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1"/>
                        </a:lnSpc>
                        <a:defRPr/>
                      </a:pPr>
                      <a:r>
                        <a:rPr lang="en-US" sz="150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0.8800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1"/>
                        </a:lnSpc>
                        <a:defRPr/>
                      </a:pPr>
                      <a:r>
                        <a:rPr lang="en-US" sz="150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0.9406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1"/>
                        </a:lnSpc>
                        <a:defRPr/>
                      </a:pPr>
                      <a:r>
                        <a:rPr lang="en-US" sz="150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0.0193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354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XLM-R base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1"/>
                        </a:lnSpc>
                        <a:defRPr/>
                      </a:pPr>
                      <a:r>
                        <a:rPr lang="en-US" sz="150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0.8496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1"/>
                        </a:lnSpc>
                        <a:defRPr/>
                      </a:pPr>
                      <a:r>
                        <a:rPr lang="en-US" sz="150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0.9113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1"/>
                        </a:lnSpc>
                        <a:defRPr/>
                      </a:pPr>
                      <a:r>
                        <a:rPr lang="en-US" sz="150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0.0168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354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TF-IDF + SGD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1"/>
                        </a:lnSpc>
                        <a:defRPr/>
                      </a:pPr>
                      <a:r>
                        <a:rPr lang="en-US" sz="150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0.7969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1"/>
                        </a:lnSpc>
                        <a:defRPr/>
                      </a:pPr>
                      <a:r>
                        <a:rPr lang="en-US" sz="150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0.8592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1"/>
                        </a:lnSpc>
                        <a:defRPr/>
                      </a:pPr>
                      <a:r>
                        <a:rPr lang="en-US" sz="1509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0.0083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grpSp>
        <p:nvGrpSpPr>
          <p:cNvPr name="Group 24" id="24"/>
          <p:cNvGrpSpPr/>
          <p:nvPr/>
        </p:nvGrpSpPr>
        <p:grpSpPr>
          <a:xfrm rot="0">
            <a:off x="1149125" y="6621513"/>
            <a:ext cx="8063877" cy="1997947"/>
            <a:chOff x="0" y="0"/>
            <a:chExt cx="10751836" cy="2663929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10751836" cy="2663929"/>
              <a:chOff x="0" y="0"/>
              <a:chExt cx="10751836" cy="2663929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11216" y="10451"/>
                <a:ext cx="10729298" cy="2643068"/>
              </a:xfrm>
              <a:custGeom>
                <a:avLst/>
                <a:gdLst/>
                <a:ahLst/>
                <a:cxnLst/>
                <a:rect r="r" b="b" t="t" l="l"/>
                <a:pathLst>
                  <a:path h="2643068" w="10729298">
                    <a:moveTo>
                      <a:pt x="153" y="121886"/>
                    </a:moveTo>
                    <a:cubicBezTo>
                      <a:pt x="153" y="54517"/>
                      <a:pt x="59918" y="0"/>
                      <a:pt x="133511" y="0"/>
                    </a:cubicBezTo>
                    <a:lnTo>
                      <a:pt x="10595786" y="0"/>
                    </a:lnTo>
                    <a:cubicBezTo>
                      <a:pt x="10669532" y="0"/>
                      <a:pt x="10729297" y="54658"/>
                      <a:pt x="10729297" y="122027"/>
                    </a:cubicBezTo>
                    <a:lnTo>
                      <a:pt x="10729297" y="2521042"/>
                    </a:lnTo>
                    <a:cubicBezTo>
                      <a:pt x="10729297" y="2588411"/>
                      <a:pt x="10669532" y="2643069"/>
                      <a:pt x="10595786" y="2643069"/>
                    </a:cubicBezTo>
                    <a:lnTo>
                      <a:pt x="133511" y="2643069"/>
                    </a:lnTo>
                    <a:cubicBezTo>
                      <a:pt x="59765" y="2643069"/>
                      <a:pt x="0" y="2588411"/>
                      <a:pt x="0" y="2521042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10751729" cy="2663830"/>
              </a:xfrm>
              <a:custGeom>
                <a:avLst/>
                <a:gdLst/>
                <a:ahLst/>
                <a:cxnLst/>
                <a:rect r="r" b="b" t="t" l="l"/>
                <a:pathLst>
                  <a:path h="2663830" w="10751729">
                    <a:moveTo>
                      <a:pt x="0" y="132337"/>
                    </a:moveTo>
                    <a:cubicBezTo>
                      <a:pt x="0" y="59177"/>
                      <a:pt x="64835" y="0"/>
                      <a:pt x="144727" y="0"/>
                    </a:cubicBezTo>
                    <a:lnTo>
                      <a:pt x="10607002" y="0"/>
                    </a:lnTo>
                    <a:lnTo>
                      <a:pt x="10607002" y="10451"/>
                    </a:lnTo>
                    <a:lnTo>
                      <a:pt x="10607002" y="0"/>
                    </a:lnTo>
                    <a:cubicBezTo>
                      <a:pt x="10686894" y="0"/>
                      <a:pt x="10751729" y="59177"/>
                      <a:pt x="10751729" y="132337"/>
                    </a:cubicBezTo>
                    <a:lnTo>
                      <a:pt x="10740360" y="132337"/>
                    </a:lnTo>
                    <a:lnTo>
                      <a:pt x="10751729" y="132337"/>
                    </a:lnTo>
                    <a:lnTo>
                      <a:pt x="10751729" y="2531493"/>
                    </a:lnTo>
                    <a:lnTo>
                      <a:pt x="10740360" y="2531493"/>
                    </a:lnTo>
                    <a:lnTo>
                      <a:pt x="10751729" y="2531493"/>
                    </a:lnTo>
                    <a:cubicBezTo>
                      <a:pt x="10751729" y="2604653"/>
                      <a:pt x="10686894" y="2663830"/>
                      <a:pt x="10607002" y="2663830"/>
                    </a:cubicBezTo>
                    <a:lnTo>
                      <a:pt x="10607002" y="2653379"/>
                    </a:lnTo>
                    <a:lnTo>
                      <a:pt x="10607002" y="2663830"/>
                    </a:lnTo>
                    <a:lnTo>
                      <a:pt x="144727" y="2663830"/>
                    </a:lnTo>
                    <a:lnTo>
                      <a:pt x="144727" y="2653379"/>
                    </a:lnTo>
                    <a:lnTo>
                      <a:pt x="144727" y="2663830"/>
                    </a:lnTo>
                    <a:cubicBezTo>
                      <a:pt x="64835" y="2663830"/>
                      <a:pt x="0" y="2604653"/>
                      <a:pt x="0" y="2531493"/>
                    </a:cubicBezTo>
                    <a:lnTo>
                      <a:pt x="0" y="132337"/>
                    </a:lnTo>
                    <a:lnTo>
                      <a:pt x="11369" y="132337"/>
                    </a:lnTo>
                    <a:lnTo>
                      <a:pt x="0" y="132337"/>
                    </a:lnTo>
                    <a:moveTo>
                      <a:pt x="22585" y="132337"/>
                    </a:moveTo>
                    <a:lnTo>
                      <a:pt x="22585" y="2531493"/>
                    </a:lnTo>
                    <a:lnTo>
                      <a:pt x="11369" y="2531493"/>
                    </a:lnTo>
                    <a:lnTo>
                      <a:pt x="22738" y="2531493"/>
                    </a:lnTo>
                    <a:cubicBezTo>
                      <a:pt x="22738" y="2593071"/>
                      <a:pt x="77433" y="2643068"/>
                      <a:pt x="144880" y="2643068"/>
                    </a:cubicBezTo>
                    <a:lnTo>
                      <a:pt x="10607002" y="2643068"/>
                    </a:lnTo>
                    <a:cubicBezTo>
                      <a:pt x="10674449" y="2643068"/>
                      <a:pt x="10729144" y="2593071"/>
                      <a:pt x="10729144" y="2531493"/>
                    </a:cubicBezTo>
                    <a:lnTo>
                      <a:pt x="10729144" y="132337"/>
                    </a:lnTo>
                    <a:cubicBezTo>
                      <a:pt x="10729144" y="70759"/>
                      <a:pt x="10674449" y="20762"/>
                      <a:pt x="10607002" y="20762"/>
                    </a:cubicBezTo>
                    <a:lnTo>
                      <a:pt x="144727" y="20762"/>
                    </a:lnTo>
                    <a:lnTo>
                      <a:pt x="144727" y="10451"/>
                    </a:lnTo>
                    <a:lnTo>
                      <a:pt x="144727" y="20903"/>
                    </a:lnTo>
                    <a:cubicBezTo>
                      <a:pt x="77280" y="20903"/>
                      <a:pt x="22585" y="70900"/>
                      <a:pt x="22585" y="132478"/>
                    </a:cubicBezTo>
                    <a:close/>
                  </a:path>
                </a:pathLst>
              </a:custGeom>
              <a:solidFill>
                <a:srgbClr val="C9D6DF"/>
              </a:solidFill>
            </p:spPr>
          </p:sp>
        </p:grpSp>
        <p:grpSp>
          <p:nvGrpSpPr>
            <p:cNvPr name="Group 28" id="28"/>
            <p:cNvGrpSpPr/>
            <p:nvPr/>
          </p:nvGrpSpPr>
          <p:grpSpPr>
            <a:xfrm rot="0">
              <a:off x="371051" y="379438"/>
              <a:ext cx="77526" cy="1654556"/>
              <a:chOff x="0" y="0"/>
              <a:chExt cx="77526" cy="1654556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31623"/>
                <a:ext cx="77576" cy="1591183"/>
              </a:xfrm>
              <a:custGeom>
                <a:avLst/>
                <a:gdLst/>
                <a:ahLst/>
                <a:cxnLst/>
                <a:rect r="r" b="b" t="t" l="l"/>
                <a:pathLst>
                  <a:path h="1591183" w="77576">
                    <a:moveTo>
                      <a:pt x="76665" y="0"/>
                    </a:moveTo>
                    <a:lnTo>
                      <a:pt x="77576" y="1591183"/>
                    </a:lnTo>
                    <a:lnTo>
                      <a:pt x="922" y="1591183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2A9D8F"/>
              </a:solidFill>
            </p:spPr>
          </p:sp>
        </p:grpSp>
        <p:grpSp>
          <p:nvGrpSpPr>
            <p:cNvPr name="Group 30" id="30"/>
            <p:cNvGrpSpPr/>
            <p:nvPr/>
          </p:nvGrpSpPr>
          <p:grpSpPr>
            <a:xfrm rot="0">
              <a:off x="785658" y="338404"/>
              <a:ext cx="9512379" cy="506356"/>
              <a:chOff x="0" y="0"/>
              <a:chExt cx="9512379" cy="506356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9512382" cy="506356"/>
              </a:xfrm>
              <a:custGeom>
                <a:avLst/>
                <a:gdLst/>
                <a:ahLst/>
                <a:cxnLst/>
                <a:rect r="r" b="b" t="t" l="l"/>
                <a:pathLst>
                  <a:path h="506356" w="9512382">
                    <a:moveTo>
                      <a:pt x="0" y="0"/>
                    </a:moveTo>
                    <a:lnTo>
                      <a:pt x="9512382" y="0"/>
                    </a:lnTo>
                    <a:lnTo>
                      <a:pt x="9512382" y="506356"/>
                    </a:lnTo>
                    <a:lnTo>
                      <a:pt x="0" y="5063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59282" r="17338" b="-245877"/>
                </a:stretch>
              </a:blip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-9525"/>
                <a:ext cx="9512379" cy="51588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29"/>
                  </a:lnSpc>
                </a:pPr>
                <a:r>
                  <a:rPr lang="en-US" sz="2024" b="true">
                    <a:solidFill>
                      <a:srgbClr val="0B1F33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Okuma</a:t>
                </a:r>
              </a:p>
            </p:txBody>
          </p:sp>
        </p:grpSp>
        <p:grpSp>
          <p:nvGrpSpPr>
            <p:cNvPr name="Group 33" id="33"/>
            <p:cNvGrpSpPr/>
            <p:nvPr/>
          </p:nvGrpSpPr>
          <p:grpSpPr>
            <a:xfrm rot="0">
              <a:off x="785658" y="978486"/>
              <a:ext cx="9512379" cy="1401773"/>
              <a:chOff x="0" y="0"/>
              <a:chExt cx="9512379" cy="1401773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9512382" cy="1401767"/>
              </a:xfrm>
              <a:custGeom>
                <a:avLst/>
                <a:gdLst/>
                <a:ahLst/>
                <a:cxnLst/>
                <a:rect r="r" b="b" t="t" l="l"/>
                <a:pathLst>
                  <a:path h="1401767" w="9512382">
                    <a:moveTo>
                      <a:pt x="0" y="0"/>
                    </a:moveTo>
                    <a:lnTo>
                      <a:pt x="9512382" y="0"/>
                    </a:lnTo>
                    <a:lnTo>
                      <a:pt x="9512382" y="1401767"/>
                    </a:lnTo>
                    <a:lnTo>
                      <a:pt x="0" y="1401767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68876" r="17338" b="-49723"/>
                </a:stretch>
              </a:blipFill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0" y="9525"/>
                <a:ext cx="9512379" cy="1392248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585"/>
                  </a:lnSpc>
                </a:pPr>
                <a:r>
                  <a:rPr lang="en-US" sz="2154">
                    <a:solidFill>
                      <a:srgbClr val="52616F"/>
                    </a:solidFill>
                    <a:latin typeface="Aptos"/>
                    <a:ea typeface="Aptos"/>
                    <a:cs typeface="Aptos"/>
                    <a:sym typeface="Aptos"/>
                  </a:rPr>
                  <a:t>BERTurk raw PR-AUC’ta güçlü; ancak ana seçim macro-F1 olduğu için BERTurk light öne çıkıyor. Multilingual XLM-R, Türkçe odaklı modellere göre geride.</a:t>
                </a:r>
              </a:p>
            </p:txBody>
          </p:sp>
        </p:grpSp>
      </p:grpSp>
    </p:spTree>
  </p:cSld>
  <p:clrMapOvr>
    <a:masterClrMapping/>
  </p:clrMapOvr>
  <p:transition spd="fast">
    <p:fade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449" y="-9449"/>
            <a:ext cx="18306002" cy="10305364"/>
            <a:chOff x="0" y="0"/>
            <a:chExt cx="24408003" cy="137404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573" y="12573"/>
              <a:ext cx="24382857" cy="13715364"/>
            </a:xfrm>
            <a:custGeom>
              <a:avLst/>
              <a:gdLst/>
              <a:ahLst/>
              <a:cxnLst/>
              <a:rect r="r" b="b" t="t" l="l"/>
              <a:pathLst>
                <a:path h="13715364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3715364"/>
                  </a:lnTo>
                  <a:lnTo>
                    <a:pt x="0" y="13715364"/>
                  </a:lnTo>
                  <a:close/>
                </a:path>
              </a:pathLst>
            </a:custGeom>
            <a:solidFill>
              <a:srgbClr val="F7F9FC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408003" cy="13740510"/>
            </a:xfrm>
            <a:custGeom>
              <a:avLst/>
              <a:gdLst/>
              <a:ahLst/>
              <a:cxnLst/>
              <a:rect r="r" b="b" t="t" l="l"/>
              <a:pathLst>
                <a:path h="13740510" w="24408003">
                  <a:moveTo>
                    <a:pt x="12573" y="0"/>
                  </a:moveTo>
                  <a:lnTo>
                    <a:pt x="24395430" y="0"/>
                  </a:lnTo>
                  <a:cubicBezTo>
                    <a:pt x="24402416" y="0"/>
                    <a:pt x="24408003" y="5588"/>
                    <a:pt x="24408003" y="12573"/>
                  </a:cubicBezTo>
                  <a:lnTo>
                    <a:pt x="24408003" y="13727937"/>
                  </a:lnTo>
                  <a:cubicBezTo>
                    <a:pt x="24408003" y="13734923"/>
                    <a:pt x="24402416" y="13740510"/>
                    <a:pt x="24395430" y="13740510"/>
                  </a:cubicBezTo>
                  <a:lnTo>
                    <a:pt x="12573" y="13740510"/>
                  </a:lnTo>
                  <a:cubicBezTo>
                    <a:pt x="5588" y="13740510"/>
                    <a:pt x="0" y="13734923"/>
                    <a:pt x="0" y="13727937"/>
                  </a:cubicBezTo>
                  <a:lnTo>
                    <a:pt x="0" y="12573"/>
                  </a:lnTo>
                  <a:cubicBezTo>
                    <a:pt x="0" y="5588"/>
                    <a:pt x="5588" y="0"/>
                    <a:pt x="12573" y="0"/>
                  </a:cubicBezTo>
                  <a:moveTo>
                    <a:pt x="12573" y="25146"/>
                  </a:moveTo>
                  <a:lnTo>
                    <a:pt x="12573" y="12573"/>
                  </a:lnTo>
                  <a:lnTo>
                    <a:pt x="25146" y="12573"/>
                  </a:lnTo>
                  <a:lnTo>
                    <a:pt x="25146" y="13727937"/>
                  </a:lnTo>
                  <a:lnTo>
                    <a:pt x="12573" y="13727937"/>
                  </a:lnTo>
                  <a:lnTo>
                    <a:pt x="12573" y="13715364"/>
                  </a:lnTo>
                  <a:lnTo>
                    <a:pt x="24395430" y="13715364"/>
                  </a:lnTo>
                  <a:lnTo>
                    <a:pt x="24395430" y="13727937"/>
                  </a:lnTo>
                  <a:lnTo>
                    <a:pt x="24382857" y="13727937"/>
                  </a:lnTo>
                  <a:lnTo>
                    <a:pt x="24382857" y="12573"/>
                  </a:lnTo>
                  <a:lnTo>
                    <a:pt x="24395430" y="12573"/>
                  </a:lnTo>
                  <a:lnTo>
                    <a:pt x="24395430" y="25146"/>
                  </a:lnTo>
                  <a:lnTo>
                    <a:pt x="12573" y="25146"/>
                  </a:lnTo>
                  <a:close/>
                </a:path>
              </a:pathLst>
            </a:custGeom>
            <a:solidFill>
              <a:srgbClr val="F7F9F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883977" y="9703260"/>
            <a:ext cx="16542896" cy="15659"/>
            <a:chOff x="0" y="0"/>
            <a:chExt cx="22057195" cy="2087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033" y="0"/>
              <a:ext cx="22037040" cy="20955"/>
            </a:xfrm>
            <a:custGeom>
              <a:avLst/>
              <a:gdLst/>
              <a:ahLst/>
              <a:cxnLst/>
              <a:rect r="r" b="b" t="t" l="l"/>
              <a:pathLst>
                <a:path h="20955" w="22037040">
                  <a:moveTo>
                    <a:pt x="0" y="0"/>
                  </a:moveTo>
                  <a:lnTo>
                    <a:pt x="22037040" y="762"/>
                  </a:lnTo>
                  <a:lnTo>
                    <a:pt x="22037040" y="20955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D9E3EA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891540" y="9820437"/>
            <a:ext cx="3016977" cy="273777"/>
            <a:chOff x="0" y="0"/>
            <a:chExt cx="4022636" cy="3650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022640" cy="365040"/>
            </a:xfrm>
            <a:custGeom>
              <a:avLst/>
              <a:gdLst/>
              <a:ahLst/>
              <a:cxnLst/>
              <a:rect r="r" b="b" t="t" l="l"/>
              <a:pathLst>
                <a:path h="365040" w="4022640">
                  <a:moveTo>
                    <a:pt x="0" y="0"/>
                  </a:moveTo>
                  <a:lnTo>
                    <a:pt x="4022640" y="0"/>
                  </a:lnTo>
                  <a:lnTo>
                    <a:pt x="402264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4720" r="0" b="-16471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4022636" cy="3650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170"/>
                </a:lnSpc>
              </a:pPr>
              <a:r>
                <a:rPr lang="en-US" sz="975">
                  <a:solidFill>
                    <a:srgbClr val="6B7A88"/>
                  </a:solidFill>
                  <a:latin typeface="Aptos"/>
                  <a:ea typeface="Aptos"/>
                  <a:cs typeface="Aptos"/>
                  <a:sym typeface="Aptos"/>
                </a:rPr>
                <a:t>YZM304 Project 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853160" y="480060"/>
            <a:ext cx="3497037" cy="273777"/>
            <a:chOff x="0" y="0"/>
            <a:chExt cx="4662716" cy="36503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662720" cy="365040"/>
            </a:xfrm>
            <a:custGeom>
              <a:avLst/>
              <a:gdLst/>
              <a:ahLst/>
              <a:cxnLst/>
              <a:rect r="r" b="b" t="t" l="l"/>
              <a:pathLst>
                <a:path h="365040" w="4662720">
                  <a:moveTo>
                    <a:pt x="0" y="0"/>
                  </a:moveTo>
                  <a:lnTo>
                    <a:pt x="4662720" y="0"/>
                  </a:lnTo>
                  <a:lnTo>
                    <a:pt x="466272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886" r="0" b="-19888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4662716" cy="3745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RESULTS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91540" y="576177"/>
            <a:ext cx="12206697" cy="603180"/>
            <a:chOff x="0" y="0"/>
            <a:chExt cx="16275596" cy="8042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6275600" cy="804240"/>
            </a:xfrm>
            <a:custGeom>
              <a:avLst/>
              <a:gdLst/>
              <a:ahLst/>
              <a:cxnLst/>
              <a:rect r="r" b="b" t="t" l="l"/>
              <a:pathLst>
                <a:path h="804240" w="16275600">
                  <a:moveTo>
                    <a:pt x="0" y="0"/>
                  </a:moveTo>
                  <a:lnTo>
                    <a:pt x="16275600" y="0"/>
                  </a:lnTo>
                  <a:lnTo>
                    <a:pt x="16275600" y="804240"/>
                  </a:lnTo>
                  <a:lnTo>
                    <a:pt x="0" y="804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4323" r="0" b="-344323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47625"/>
              <a:ext cx="16275596" cy="7566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96"/>
                </a:lnSpc>
              </a:pPr>
              <a:r>
                <a:rPr lang="en-US" sz="3330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Confusion matrix hatanın nerede toplandığını gösteriyor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62917" y="1369981"/>
            <a:ext cx="1223096" cy="57779"/>
            <a:chOff x="0" y="0"/>
            <a:chExt cx="1630794" cy="7703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38100" y="0"/>
              <a:ext cx="1554607" cy="77089"/>
            </a:xfrm>
            <a:custGeom>
              <a:avLst/>
              <a:gdLst/>
              <a:ahLst/>
              <a:cxnLst/>
              <a:rect r="r" b="b" t="t" l="l"/>
              <a:pathLst>
                <a:path h="77089" w="1554607">
                  <a:moveTo>
                    <a:pt x="127" y="0"/>
                  </a:moveTo>
                  <a:lnTo>
                    <a:pt x="1554607" y="762"/>
                  </a:lnTo>
                  <a:lnTo>
                    <a:pt x="1554607" y="77089"/>
                  </a:lnTo>
                  <a:lnTo>
                    <a:pt x="0" y="76327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891540" y="1563843"/>
            <a:ext cx="13166817" cy="342357"/>
            <a:chOff x="0" y="0"/>
            <a:chExt cx="17555756" cy="4564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555759" cy="456480"/>
            </a:xfrm>
            <a:custGeom>
              <a:avLst/>
              <a:gdLst/>
              <a:ahLst/>
              <a:cxnLst/>
              <a:rect r="r" b="b" t="t" l="l"/>
              <a:pathLst>
                <a:path h="456480" w="17555759">
                  <a:moveTo>
                    <a:pt x="0" y="0"/>
                  </a:moveTo>
                  <a:lnTo>
                    <a:pt x="17555759" y="0"/>
                  </a:lnTo>
                  <a:lnTo>
                    <a:pt x="17555759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375" r="0" b="-69937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7555756" cy="4564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Raw sayımlar hata büyüklüğünü, normalized görünüm sınıf içi oranı gösterir.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303020" y="1988820"/>
            <a:ext cx="7963680" cy="6636266"/>
            <a:chOff x="0" y="0"/>
            <a:chExt cx="7131596" cy="5942876"/>
          </a:xfrm>
        </p:grpSpPr>
        <p:sp>
          <p:nvSpPr>
            <p:cNvPr name="Freeform 22" id="22" descr="/mnt/data/p7_extract/ppt/media/image4.png"/>
            <p:cNvSpPr/>
            <p:nvPr/>
          </p:nvSpPr>
          <p:spPr>
            <a:xfrm flipH="false" flipV="false" rot="0">
              <a:off x="0" y="0"/>
              <a:ext cx="7131558" cy="5942838"/>
            </a:xfrm>
            <a:custGeom>
              <a:avLst/>
              <a:gdLst/>
              <a:ahLst/>
              <a:cxnLst/>
              <a:rect r="r" b="b" t="t" l="l"/>
              <a:pathLst>
                <a:path h="5942838" w="7131558">
                  <a:moveTo>
                    <a:pt x="0" y="0"/>
                  </a:moveTo>
                  <a:lnTo>
                    <a:pt x="7131558" y="0"/>
                  </a:lnTo>
                  <a:lnTo>
                    <a:pt x="7131558" y="5942838"/>
                  </a:lnTo>
                  <a:lnTo>
                    <a:pt x="0" y="59428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0" b="-1"/>
              </a:stretch>
            </a:blipFill>
          </p:spPr>
        </p:sp>
      </p:grpSp>
      <p:graphicFrame>
        <p:nvGraphicFramePr>
          <p:cNvPr name="Table 23" id="23"/>
          <p:cNvGraphicFramePr>
            <a:graphicFrameLocks noGrp="true"/>
          </p:cNvGraphicFramePr>
          <p:nvPr/>
        </p:nvGraphicFramePr>
        <p:xfrm>
          <a:off x="9821637" y="1988820"/>
          <a:ext cx="7118682" cy="4244398"/>
        </p:xfrm>
        <a:graphic>
          <a:graphicData uri="http://schemas.openxmlformats.org/drawingml/2006/table">
            <a:tbl>
              <a:tblPr/>
              <a:tblGrid>
                <a:gridCol w="3689505"/>
                <a:gridCol w="1787734"/>
                <a:gridCol w="1641444"/>
              </a:tblGrid>
              <a:tr h="707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True → Pred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Adet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Oran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</a:tr>
              <a:tr h="707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OTHER → INSULT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108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0.02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7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INSULT → OTHER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92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0.06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07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INSULT → PROFANITY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77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0.05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7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PROFANITY → INSULT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59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0.02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07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PROFANITY → RACIST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56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0.02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name="Group 24" id="24"/>
          <p:cNvGrpSpPr/>
          <p:nvPr/>
        </p:nvGrpSpPr>
        <p:grpSpPr>
          <a:xfrm rot="0">
            <a:off x="9821637" y="6554403"/>
            <a:ext cx="3511077" cy="3148858"/>
            <a:chOff x="0" y="0"/>
            <a:chExt cx="4681436" cy="4198477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4681436" cy="4198477"/>
              <a:chOff x="0" y="0"/>
              <a:chExt cx="4681436" cy="419847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9271" y="15866"/>
                <a:ext cx="4662805" cy="4166809"/>
              </a:xfrm>
              <a:custGeom>
                <a:avLst/>
                <a:gdLst/>
                <a:ahLst/>
                <a:cxnLst/>
                <a:rect r="r" b="b" t="t" l="l"/>
                <a:pathLst>
                  <a:path h="4166809" w="4662805">
                    <a:moveTo>
                      <a:pt x="127" y="185034"/>
                    </a:moveTo>
                    <a:cubicBezTo>
                      <a:pt x="127" y="82762"/>
                      <a:pt x="49403" y="0"/>
                      <a:pt x="110109" y="0"/>
                    </a:cubicBezTo>
                    <a:lnTo>
                      <a:pt x="4552696" y="0"/>
                    </a:lnTo>
                    <a:cubicBezTo>
                      <a:pt x="4613529" y="0"/>
                      <a:pt x="4662805" y="82976"/>
                      <a:pt x="4662805" y="185249"/>
                    </a:cubicBezTo>
                    <a:lnTo>
                      <a:pt x="4662805" y="3981560"/>
                    </a:lnTo>
                    <a:cubicBezTo>
                      <a:pt x="4662805" y="4083833"/>
                      <a:pt x="4613529" y="4166809"/>
                      <a:pt x="4552696" y="4166809"/>
                    </a:cubicBezTo>
                    <a:lnTo>
                      <a:pt x="110109" y="4166809"/>
                    </a:lnTo>
                    <a:cubicBezTo>
                      <a:pt x="49276" y="4166809"/>
                      <a:pt x="0" y="4083833"/>
                      <a:pt x="0" y="398156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4681347" cy="4198327"/>
              </a:xfrm>
              <a:custGeom>
                <a:avLst/>
                <a:gdLst/>
                <a:ahLst/>
                <a:cxnLst/>
                <a:rect r="r" b="b" t="t" l="l"/>
                <a:pathLst>
                  <a:path h="4198327" w="4681347">
                    <a:moveTo>
                      <a:pt x="0" y="200900"/>
                    </a:moveTo>
                    <a:cubicBezTo>
                      <a:pt x="0" y="89837"/>
                      <a:pt x="53467" y="0"/>
                      <a:pt x="119380" y="0"/>
                    </a:cubicBezTo>
                    <a:lnTo>
                      <a:pt x="4561967" y="0"/>
                    </a:lnTo>
                    <a:lnTo>
                      <a:pt x="4561967" y="15866"/>
                    </a:lnTo>
                    <a:lnTo>
                      <a:pt x="4561967" y="0"/>
                    </a:lnTo>
                    <a:cubicBezTo>
                      <a:pt x="4627880" y="0"/>
                      <a:pt x="4681347" y="89837"/>
                      <a:pt x="4681347" y="200900"/>
                    </a:cubicBezTo>
                    <a:lnTo>
                      <a:pt x="4671949" y="200900"/>
                    </a:lnTo>
                    <a:lnTo>
                      <a:pt x="4681347" y="200900"/>
                    </a:lnTo>
                    <a:lnTo>
                      <a:pt x="4681347" y="3997426"/>
                    </a:lnTo>
                    <a:lnTo>
                      <a:pt x="4671949" y="3997426"/>
                    </a:lnTo>
                    <a:lnTo>
                      <a:pt x="4681347" y="3997426"/>
                    </a:lnTo>
                    <a:cubicBezTo>
                      <a:pt x="4681347" y="4108490"/>
                      <a:pt x="4627880" y="4198327"/>
                      <a:pt x="4561967" y="4198327"/>
                    </a:cubicBezTo>
                    <a:lnTo>
                      <a:pt x="4561967" y="4182461"/>
                    </a:lnTo>
                    <a:lnTo>
                      <a:pt x="4561967" y="4198327"/>
                    </a:lnTo>
                    <a:lnTo>
                      <a:pt x="119380" y="4198327"/>
                    </a:lnTo>
                    <a:lnTo>
                      <a:pt x="119380" y="4182461"/>
                    </a:lnTo>
                    <a:lnTo>
                      <a:pt x="119380" y="4198327"/>
                    </a:lnTo>
                    <a:cubicBezTo>
                      <a:pt x="53467" y="4198327"/>
                      <a:pt x="0" y="4108490"/>
                      <a:pt x="0" y="3997426"/>
                    </a:cubicBezTo>
                    <a:lnTo>
                      <a:pt x="0" y="200900"/>
                    </a:lnTo>
                    <a:lnTo>
                      <a:pt x="9398" y="200900"/>
                    </a:lnTo>
                    <a:lnTo>
                      <a:pt x="0" y="200900"/>
                    </a:lnTo>
                    <a:moveTo>
                      <a:pt x="18669" y="200900"/>
                    </a:moveTo>
                    <a:lnTo>
                      <a:pt x="18669" y="3997426"/>
                    </a:lnTo>
                    <a:lnTo>
                      <a:pt x="9398" y="3997426"/>
                    </a:lnTo>
                    <a:lnTo>
                      <a:pt x="18796" y="3997426"/>
                    </a:lnTo>
                    <a:cubicBezTo>
                      <a:pt x="18796" y="4090908"/>
                      <a:pt x="63881" y="4166809"/>
                      <a:pt x="119507" y="4166809"/>
                    </a:cubicBezTo>
                    <a:lnTo>
                      <a:pt x="4561967" y="4166809"/>
                    </a:lnTo>
                    <a:cubicBezTo>
                      <a:pt x="4617593" y="4166809"/>
                      <a:pt x="4662678" y="4090908"/>
                      <a:pt x="4662678" y="3997426"/>
                    </a:cubicBezTo>
                    <a:lnTo>
                      <a:pt x="4662678" y="200900"/>
                    </a:lnTo>
                    <a:cubicBezTo>
                      <a:pt x="4662678" y="107418"/>
                      <a:pt x="4617593" y="31518"/>
                      <a:pt x="4561967" y="31518"/>
                    </a:cubicBezTo>
                    <a:lnTo>
                      <a:pt x="119380" y="31518"/>
                    </a:lnTo>
                    <a:lnTo>
                      <a:pt x="119380" y="15866"/>
                    </a:lnTo>
                    <a:lnTo>
                      <a:pt x="119380" y="31732"/>
                    </a:lnTo>
                    <a:cubicBezTo>
                      <a:pt x="63754" y="31732"/>
                      <a:pt x="18669" y="107633"/>
                      <a:pt x="18669" y="201115"/>
                    </a:cubicBezTo>
                    <a:close/>
                  </a:path>
                </a:pathLst>
              </a:custGeom>
              <a:solidFill>
                <a:srgbClr val="C9D6DF"/>
              </a:solidFill>
            </p:spPr>
          </p:sp>
        </p:grpSp>
        <p:grpSp>
          <p:nvGrpSpPr>
            <p:cNvPr name="Group 28" id="28"/>
            <p:cNvGrpSpPr/>
            <p:nvPr/>
          </p:nvGrpSpPr>
          <p:grpSpPr>
            <a:xfrm rot="0">
              <a:off x="306730" y="379438"/>
              <a:ext cx="64084" cy="1745996"/>
              <a:chOff x="0" y="0"/>
              <a:chExt cx="64084" cy="1745996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31623"/>
                <a:ext cx="64135" cy="1682623"/>
              </a:xfrm>
              <a:custGeom>
                <a:avLst/>
                <a:gdLst/>
                <a:ahLst/>
                <a:cxnLst/>
                <a:rect r="r" b="b" t="t" l="l"/>
                <a:pathLst>
                  <a:path h="1682623" w="64135">
                    <a:moveTo>
                      <a:pt x="63373" y="0"/>
                    </a:moveTo>
                    <a:lnTo>
                      <a:pt x="64135" y="1682623"/>
                    </a:lnTo>
                    <a:lnTo>
                      <a:pt x="762" y="1682623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E76F51"/>
              </a:solidFill>
            </p:spPr>
          </p:sp>
        </p:grpSp>
        <p:grpSp>
          <p:nvGrpSpPr>
            <p:cNvPr name="Group 30" id="30"/>
            <p:cNvGrpSpPr/>
            <p:nvPr/>
          </p:nvGrpSpPr>
          <p:grpSpPr>
            <a:xfrm rot="0">
              <a:off x="649440" y="338404"/>
              <a:ext cx="3656876" cy="438480"/>
              <a:chOff x="0" y="0"/>
              <a:chExt cx="3656876" cy="438480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3656880" cy="438480"/>
              </a:xfrm>
              <a:custGeom>
                <a:avLst/>
                <a:gdLst/>
                <a:ahLst/>
                <a:cxnLst/>
                <a:rect r="r" b="b" t="t" l="l"/>
                <a:pathLst>
                  <a:path h="438480" w="3656880">
                    <a:moveTo>
                      <a:pt x="0" y="0"/>
                    </a:moveTo>
                    <a:lnTo>
                      <a:pt x="3656880" y="0"/>
                    </a:lnTo>
                    <a:lnTo>
                      <a:pt x="3656880" y="438480"/>
                    </a:lnTo>
                    <a:lnTo>
                      <a:pt x="0" y="4384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12503" r="0" b="-112503"/>
                </a:stretch>
              </a:blip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0"/>
                <a:ext cx="3656876" cy="43848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070"/>
                  </a:lnSpc>
                </a:pPr>
                <a:r>
                  <a:rPr lang="en-US" sz="1725" b="true">
                    <a:solidFill>
                      <a:srgbClr val="0B1F33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Hata yorumu</a:t>
                </a:r>
              </a:p>
            </p:txBody>
          </p:sp>
        </p:grpSp>
        <p:grpSp>
          <p:nvGrpSpPr>
            <p:cNvPr name="Group 33" id="33"/>
            <p:cNvGrpSpPr/>
            <p:nvPr/>
          </p:nvGrpSpPr>
          <p:grpSpPr>
            <a:xfrm rot="0">
              <a:off x="649440" y="978484"/>
              <a:ext cx="3656876" cy="2936325"/>
              <a:chOff x="0" y="0"/>
              <a:chExt cx="3656876" cy="2936325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3656880" cy="2936315"/>
              </a:xfrm>
              <a:custGeom>
                <a:avLst/>
                <a:gdLst/>
                <a:ahLst/>
                <a:cxnLst/>
                <a:rect r="r" b="b" t="t" l="l"/>
                <a:pathLst>
                  <a:path h="2936315" w="3656880">
                    <a:moveTo>
                      <a:pt x="0" y="0"/>
                    </a:moveTo>
                    <a:lnTo>
                      <a:pt x="3656880" y="0"/>
                    </a:lnTo>
                    <a:lnTo>
                      <a:pt x="3656880" y="2936315"/>
                    </a:lnTo>
                    <a:lnTo>
                      <a:pt x="0" y="2936315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411" r="0" b="54878"/>
                </a:stretch>
              </a:blipFill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0" y="57150"/>
                <a:ext cx="3656876" cy="2879175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060"/>
                  </a:lnSpc>
                </a:pPr>
                <a:r>
                  <a:rPr lang="en-US" sz="2145">
                    <a:solidFill>
                      <a:srgbClr val="52616F"/>
                    </a:solidFill>
                    <a:latin typeface="Aptos"/>
                    <a:ea typeface="Aptos"/>
                    <a:cs typeface="Aptos"/>
                    <a:sym typeface="Aptos"/>
                  </a:rPr>
                  <a:t>INSULT, OTHER ve PROFANITY sınırında kalıyor. Bu semantik sınır, basit küfür listesiyle çözülemeyecek bağlam ihtiyacını gösterir.</a:t>
                </a:r>
              </a:p>
            </p:txBody>
          </p:sp>
        </p:grpSp>
      </p:grpSp>
      <p:grpSp>
        <p:nvGrpSpPr>
          <p:cNvPr name="Group 36" id="36"/>
          <p:cNvGrpSpPr/>
          <p:nvPr/>
        </p:nvGrpSpPr>
        <p:grpSpPr>
          <a:xfrm rot="0">
            <a:off x="13605669" y="6554403"/>
            <a:ext cx="3420734" cy="3132735"/>
            <a:chOff x="0" y="0"/>
            <a:chExt cx="4560978" cy="4176980"/>
          </a:xfrm>
        </p:grpSpPr>
        <p:grpSp>
          <p:nvGrpSpPr>
            <p:cNvPr name="Group 37" id="37"/>
            <p:cNvGrpSpPr/>
            <p:nvPr/>
          </p:nvGrpSpPr>
          <p:grpSpPr>
            <a:xfrm rot="0">
              <a:off x="0" y="0"/>
              <a:ext cx="4560978" cy="4176980"/>
              <a:chOff x="0" y="0"/>
              <a:chExt cx="3830048" cy="3507588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7689" y="16241"/>
                <a:ext cx="3814701" cy="3475171"/>
              </a:xfrm>
              <a:custGeom>
                <a:avLst/>
                <a:gdLst/>
                <a:ahLst/>
                <a:cxnLst/>
                <a:rect r="r" b="b" t="t" l="l"/>
                <a:pathLst>
                  <a:path h="3475171" w="3814701">
                    <a:moveTo>
                      <a:pt x="0" y="189407"/>
                    </a:moveTo>
                    <a:cubicBezTo>
                      <a:pt x="0" y="84718"/>
                      <a:pt x="40314" y="0"/>
                      <a:pt x="90188" y="0"/>
                    </a:cubicBezTo>
                    <a:lnTo>
                      <a:pt x="3724513" y="0"/>
                    </a:lnTo>
                    <a:cubicBezTo>
                      <a:pt x="3774387" y="0"/>
                      <a:pt x="3814701" y="84937"/>
                      <a:pt x="3814701" y="189627"/>
                    </a:cubicBezTo>
                    <a:lnTo>
                      <a:pt x="3814701" y="3285545"/>
                    </a:lnTo>
                    <a:cubicBezTo>
                      <a:pt x="3814701" y="3390235"/>
                      <a:pt x="3774283" y="3475171"/>
                      <a:pt x="3724513" y="3475171"/>
                    </a:cubicBezTo>
                    <a:lnTo>
                      <a:pt x="90188" y="3475171"/>
                    </a:lnTo>
                    <a:cubicBezTo>
                      <a:pt x="40314" y="3475171"/>
                      <a:pt x="0" y="3390235"/>
                      <a:pt x="0" y="3285545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3830086" cy="3507434"/>
              </a:xfrm>
              <a:custGeom>
                <a:avLst/>
                <a:gdLst/>
                <a:ahLst/>
                <a:cxnLst/>
                <a:rect r="r" b="b" t="t" l="l"/>
                <a:pathLst>
                  <a:path h="3507434" w="3830086">
                    <a:moveTo>
                      <a:pt x="0" y="205648"/>
                    </a:moveTo>
                    <a:cubicBezTo>
                      <a:pt x="0" y="91960"/>
                      <a:pt x="43847" y="0"/>
                      <a:pt x="97877" y="0"/>
                    </a:cubicBezTo>
                    <a:lnTo>
                      <a:pt x="3732202" y="0"/>
                    </a:lnTo>
                    <a:lnTo>
                      <a:pt x="3732202" y="16241"/>
                    </a:lnTo>
                    <a:lnTo>
                      <a:pt x="3732202" y="0"/>
                    </a:lnTo>
                    <a:cubicBezTo>
                      <a:pt x="3786232" y="0"/>
                      <a:pt x="3830086" y="91960"/>
                      <a:pt x="3830086" y="205648"/>
                    </a:cubicBezTo>
                    <a:lnTo>
                      <a:pt x="3822390" y="205648"/>
                    </a:lnTo>
                    <a:lnTo>
                      <a:pt x="3830086" y="205648"/>
                    </a:lnTo>
                    <a:lnTo>
                      <a:pt x="3830086" y="3301786"/>
                    </a:lnTo>
                    <a:lnTo>
                      <a:pt x="3822390" y="3301786"/>
                    </a:lnTo>
                    <a:lnTo>
                      <a:pt x="3830086" y="3301786"/>
                    </a:lnTo>
                    <a:cubicBezTo>
                      <a:pt x="3830086" y="3415474"/>
                      <a:pt x="3786232" y="3507434"/>
                      <a:pt x="3732202" y="3507434"/>
                    </a:cubicBezTo>
                    <a:lnTo>
                      <a:pt x="3732202" y="3491193"/>
                    </a:lnTo>
                    <a:lnTo>
                      <a:pt x="3732202" y="3507434"/>
                    </a:lnTo>
                    <a:lnTo>
                      <a:pt x="97877" y="3507434"/>
                    </a:lnTo>
                    <a:lnTo>
                      <a:pt x="97877" y="3491193"/>
                    </a:lnTo>
                    <a:lnTo>
                      <a:pt x="97877" y="3507434"/>
                    </a:lnTo>
                    <a:cubicBezTo>
                      <a:pt x="43847" y="3507434"/>
                      <a:pt x="0" y="3415474"/>
                      <a:pt x="0" y="3301786"/>
                    </a:cubicBezTo>
                    <a:lnTo>
                      <a:pt x="0" y="205648"/>
                    </a:lnTo>
                    <a:lnTo>
                      <a:pt x="7689" y="205648"/>
                    </a:lnTo>
                    <a:lnTo>
                      <a:pt x="0" y="205648"/>
                    </a:lnTo>
                    <a:moveTo>
                      <a:pt x="15274" y="205648"/>
                    </a:moveTo>
                    <a:lnTo>
                      <a:pt x="15274" y="3301786"/>
                    </a:lnTo>
                    <a:lnTo>
                      <a:pt x="7689" y="3301786"/>
                    </a:lnTo>
                    <a:lnTo>
                      <a:pt x="15378" y="3301786"/>
                    </a:lnTo>
                    <a:cubicBezTo>
                      <a:pt x="15378" y="3397477"/>
                      <a:pt x="52263" y="3475171"/>
                      <a:pt x="97981" y="3475171"/>
                    </a:cubicBezTo>
                    <a:lnTo>
                      <a:pt x="3732202" y="3475171"/>
                    </a:lnTo>
                    <a:cubicBezTo>
                      <a:pt x="3777816" y="3475171"/>
                      <a:pt x="3814806" y="3397477"/>
                      <a:pt x="3814806" y="3301786"/>
                    </a:cubicBezTo>
                    <a:lnTo>
                      <a:pt x="3814806" y="205648"/>
                    </a:lnTo>
                    <a:cubicBezTo>
                      <a:pt x="3814806" y="109957"/>
                      <a:pt x="3777920" y="32263"/>
                      <a:pt x="3732202" y="32263"/>
                    </a:cubicBezTo>
                    <a:lnTo>
                      <a:pt x="97877" y="32263"/>
                    </a:lnTo>
                    <a:lnTo>
                      <a:pt x="97877" y="16241"/>
                    </a:lnTo>
                    <a:lnTo>
                      <a:pt x="97877" y="32482"/>
                    </a:lnTo>
                    <a:cubicBezTo>
                      <a:pt x="52263" y="32482"/>
                      <a:pt x="15274" y="110177"/>
                      <a:pt x="15274" y="205868"/>
                    </a:cubicBezTo>
                    <a:close/>
                  </a:path>
                </a:pathLst>
              </a:custGeom>
              <a:solidFill>
                <a:srgbClr val="C9D6DF"/>
              </a:solidFill>
            </p:spPr>
          </p:sp>
        </p:grpSp>
        <p:grpSp>
          <p:nvGrpSpPr>
            <p:cNvPr name="Group 40" id="40"/>
            <p:cNvGrpSpPr/>
            <p:nvPr/>
          </p:nvGrpSpPr>
          <p:grpSpPr>
            <a:xfrm rot="0">
              <a:off x="285655" y="451850"/>
              <a:ext cx="75618" cy="1534751"/>
              <a:chOff x="0" y="0"/>
              <a:chExt cx="63500" cy="1288796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31623"/>
                <a:ext cx="63551" cy="1225423"/>
              </a:xfrm>
              <a:custGeom>
                <a:avLst/>
                <a:gdLst/>
                <a:ahLst/>
                <a:cxnLst/>
                <a:rect r="r" b="b" t="t" l="l"/>
                <a:pathLst>
                  <a:path h="1225423" w="63551">
                    <a:moveTo>
                      <a:pt x="62795" y="0"/>
                    </a:moveTo>
                    <a:lnTo>
                      <a:pt x="63551" y="1225423"/>
                    </a:lnTo>
                    <a:lnTo>
                      <a:pt x="755" y="1225423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B23A48"/>
              </a:solidFill>
            </p:spPr>
          </p:sp>
        </p:grpSp>
        <p:grpSp>
          <p:nvGrpSpPr>
            <p:cNvPr name="Group 42" id="42"/>
            <p:cNvGrpSpPr/>
            <p:nvPr/>
          </p:nvGrpSpPr>
          <p:grpSpPr>
            <a:xfrm rot="0">
              <a:off x="632729" y="402986"/>
              <a:ext cx="3562781" cy="522160"/>
              <a:chOff x="0" y="0"/>
              <a:chExt cx="2991819" cy="438480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2991823" cy="438480"/>
              </a:xfrm>
              <a:custGeom>
                <a:avLst/>
                <a:gdLst/>
                <a:ahLst/>
                <a:cxnLst/>
                <a:rect r="r" b="b" t="t" l="l"/>
                <a:pathLst>
                  <a:path h="438480" w="2991823">
                    <a:moveTo>
                      <a:pt x="0" y="0"/>
                    </a:moveTo>
                    <a:lnTo>
                      <a:pt x="2991823" y="0"/>
                    </a:lnTo>
                    <a:lnTo>
                      <a:pt x="2991823" y="438480"/>
                    </a:lnTo>
                    <a:lnTo>
                      <a:pt x="0" y="4384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12503" r="-22229" b="-112503"/>
                </a:stretch>
              </a:blipFill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0" y="0"/>
                <a:ext cx="2991819" cy="43848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069"/>
                  </a:lnSpc>
                </a:pPr>
                <a:r>
                  <a:rPr lang="en-US" sz="1724" b="true">
                    <a:solidFill>
                      <a:srgbClr val="0B1F33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Risk</a:t>
                </a: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0">
              <a:off x="632729" y="1165219"/>
              <a:ext cx="3562781" cy="2186995"/>
              <a:chOff x="0" y="0"/>
              <a:chExt cx="2991819" cy="1836513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2991823" cy="1836502"/>
              </a:xfrm>
              <a:custGeom>
                <a:avLst/>
                <a:gdLst/>
                <a:ahLst/>
                <a:cxnLst/>
                <a:rect r="r" b="b" t="t" l="l"/>
                <a:pathLst>
                  <a:path h="1836502" w="2991823">
                    <a:moveTo>
                      <a:pt x="0" y="0"/>
                    </a:moveTo>
                    <a:lnTo>
                      <a:pt x="2991823" y="0"/>
                    </a:lnTo>
                    <a:lnTo>
                      <a:pt x="2991823" y="1836502"/>
                    </a:lnTo>
                    <a:lnTo>
                      <a:pt x="0" y="183650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7902" r="-22229" b="40304"/>
                </a:stretch>
              </a:blip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0" y="38100"/>
                <a:ext cx="2991819" cy="179841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033"/>
                  </a:lnSpc>
                </a:pPr>
                <a:r>
                  <a:rPr lang="en-US" sz="2118">
                    <a:solidFill>
                      <a:srgbClr val="52616F"/>
                    </a:solidFill>
                    <a:latin typeface="Aptos"/>
                    <a:ea typeface="Aptos"/>
                    <a:cs typeface="Aptos"/>
                    <a:sym typeface="Aptos"/>
                  </a:rPr>
                  <a:t>SEXIST recall yüksek olsa da destek düşük; tek başına F1 değeri güven aralığı olmadan fazla kesin yorumlanmamalı.</a:t>
                </a:r>
              </a:p>
            </p:txBody>
          </p:sp>
        </p:grpSp>
      </p:grpSp>
    </p:spTree>
  </p:cSld>
  <p:clrMapOvr>
    <a:masterClrMapping/>
  </p:clrMapOvr>
  <p:transition spd="fast">
    <p:fade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424" y="-211150"/>
            <a:ext cx="18306002" cy="10305364"/>
            <a:chOff x="0" y="0"/>
            <a:chExt cx="24408003" cy="137404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573" y="12573"/>
              <a:ext cx="24382857" cy="13715364"/>
            </a:xfrm>
            <a:custGeom>
              <a:avLst/>
              <a:gdLst/>
              <a:ahLst/>
              <a:cxnLst/>
              <a:rect r="r" b="b" t="t" l="l"/>
              <a:pathLst>
                <a:path h="13715364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3715364"/>
                  </a:lnTo>
                  <a:lnTo>
                    <a:pt x="0" y="13715364"/>
                  </a:lnTo>
                  <a:close/>
                </a:path>
              </a:pathLst>
            </a:custGeom>
            <a:solidFill>
              <a:srgbClr val="F7F9FC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408003" cy="13740510"/>
            </a:xfrm>
            <a:custGeom>
              <a:avLst/>
              <a:gdLst/>
              <a:ahLst/>
              <a:cxnLst/>
              <a:rect r="r" b="b" t="t" l="l"/>
              <a:pathLst>
                <a:path h="13740510" w="24408003">
                  <a:moveTo>
                    <a:pt x="12573" y="0"/>
                  </a:moveTo>
                  <a:lnTo>
                    <a:pt x="24395430" y="0"/>
                  </a:lnTo>
                  <a:cubicBezTo>
                    <a:pt x="24402416" y="0"/>
                    <a:pt x="24408003" y="5588"/>
                    <a:pt x="24408003" y="12573"/>
                  </a:cubicBezTo>
                  <a:lnTo>
                    <a:pt x="24408003" y="13727937"/>
                  </a:lnTo>
                  <a:cubicBezTo>
                    <a:pt x="24408003" y="13734923"/>
                    <a:pt x="24402416" y="13740510"/>
                    <a:pt x="24395430" y="13740510"/>
                  </a:cubicBezTo>
                  <a:lnTo>
                    <a:pt x="12573" y="13740510"/>
                  </a:lnTo>
                  <a:cubicBezTo>
                    <a:pt x="5588" y="13740510"/>
                    <a:pt x="0" y="13734923"/>
                    <a:pt x="0" y="13727937"/>
                  </a:cubicBezTo>
                  <a:lnTo>
                    <a:pt x="0" y="12573"/>
                  </a:lnTo>
                  <a:cubicBezTo>
                    <a:pt x="0" y="5588"/>
                    <a:pt x="5588" y="0"/>
                    <a:pt x="12573" y="0"/>
                  </a:cubicBezTo>
                  <a:moveTo>
                    <a:pt x="12573" y="25146"/>
                  </a:moveTo>
                  <a:lnTo>
                    <a:pt x="12573" y="12573"/>
                  </a:lnTo>
                  <a:lnTo>
                    <a:pt x="25146" y="12573"/>
                  </a:lnTo>
                  <a:lnTo>
                    <a:pt x="25146" y="13727937"/>
                  </a:lnTo>
                  <a:lnTo>
                    <a:pt x="12573" y="13727937"/>
                  </a:lnTo>
                  <a:lnTo>
                    <a:pt x="12573" y="13715364"/>
                  </a:lnTo>
                  <a:lnTo>
                    <a:pt x="24395430" y="13715364"/>
                  </a:lnTo>
                  <a:lnTo>
                    <a:pt x="24395430" y="13727937"/>
                  </a:lnTo>
                  <a:lnTo>
                    <a:pt x="24382857" y="13727937"/>
                  </a:lnTo>
                  <a:lnTo>
                    <a:pt x="24382857" y="12573"/>
                  </a:lnTo>
                  <a:lnTo>
                    <a:pt x="24395430" y="12573"/>
                  </a:lnTo>
                  <a:lnTo>
                    <a:pt x="24395430" y="25146"/>
                  </a:lnTo>
                  <a:lnTo>
                    <a:pt x="12573" y="25146"/>
                  </a:lnTo>
                  <a:close/>
                </a:path>
              </a:pathLst>
            </a:custGeom>
            <a:solidFill>
              <a:srgbClr val="F7F9F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883977" y="9703260"/>
            <a:ext cx="16542896" cy="15659"/>
            <a:chOff x="0" y="0"/>
            <a:chExt cx="22057195" cy="2087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033" y="0"/>
              <a:ext cx="22037040" cy="20955"/>
            </a:xfrm>
            <a:custGeom>
              <a:avLst/>
              <a:gdLst/>
              <a:ahLst/>
              <a:cxnLst/>
              <a:rect r="r" b="b" t="t" l="l"/>
              <a:pathLst>
                <a:path h="20955" w="22037040">
                  <a:moveTo>
                    <a:pt x="0" y="0"/>
                  </a:moveTo>
                  <a:lnTo>
                    <a:pt x="22037040" y="762"/>
                  </a:lnTo>
                  <a:lnTo>
                    <a:pt x="22037040" y="20955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D9E3EA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891540" y="9820437"/>
            <a:ext cx="3016977" cy="273777"/>
            <a:chOff x="0" y="0"/>
            <a:chExt cx="4022636" cy="3650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022640" cy="365040"/>
            </a:xfrm>
            <a:custGeom>
              <a:avLst/>
              <a:gdLst/>
              <a:ahLst/>
              <a:cxnLst/>
              <a:rect r="r" b="b" t="t" l="l"/>
              <a:pathLst>
                <a:path h="365040" w="4022640">
                  <a:moveTo>
                    <a:pt x="0" y="0"/>
                  </a:moveTo>
                  <a:lnTo>
                    <a:pt x="4022640" y="0"/>
                  </a:lnTo>
                  <a:lnTo>
                    <a:pt x="402264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4720" r="0" b="-16471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4022636" cy="3650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170"/>
                </a:lnSpc>
              </a:pPr>
              <a:r>
                <a:rPr lang="en-US" sz="975">
                  <a:solidFill>
                    <a:srgbClr val="6B7A88"/>
                  </a:solidFill>
                  <a:latin typeface="Aptos"/>
                  <a:ea typeface="Aptos"/>
                  <a:cs typeface="Aptos"/>
                  <a:sym typeface="Aptos"/>
                </a:rPr>
                <a:t>YZM304 Project 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853160" y="480060"/>
            <a:ext cx="3497037" cy="273777"/>
            <a:chOff x="0" y="0"/>
            <a:chExt cx="4662716" cy="36503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662720" cy="365040"/>
            </a:xfrm>
            <a:custGeom>
              <a:avLst/>
              <a:gdLst/>
              <a:ahLst/>
              <a:cxnLst/>
              <a:rect r="r" b="b" t="t" l="l"/>
              <a:pathLst>
                <a:path h="365040" w="4662720">
                  <a:moveTo>
                    <a:pt x="0" y="0"/>
                  </a:moveTo>
                  <a:lnTo>
                    <a:pt x="4662720" y="0"/>
                  </a:lnTo>
                  <a:lnTo>
                    <a:pt x="466272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886" r="0" b="-19888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4662716" cy="3745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RESULTS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91540" y="576177"/>
            <a:ext cx="12206697" cy="603180"/>
            <a:chOff x="0" y="0"/>
            <a:chExt cx="16275596" cy="8042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6275600" cy="804240"/>
            </a:xfrm>
            <a:custGeom>
              <a:avLst/>
              <a:gdLst/>
              <a:ahLst/>
              <a:cxnLst/>
              <a:rect r="r" b="b" t="t" l="l"/>
              <a:pathLst>
                <a:path h="804240" w="16275600">
                  <a:moveTo>
                    <a:pt x="0" y="0"/>
                  </a:moveTo>
                  <a:lnTo>
                    <a:pt x="16275600" y="0"/>
                  </a:lnTo>
                  <a:lnTo>
                    <a:pt x="16275600" y="804240"/>
                  </a:lnTo>
                  <a:lnTo>
                    <a:pt x="0" y="804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4323" r="0" b="-344323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16275596" cy="804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Sınıf bazlı sonuçlar accuracy’nin sakladığı riski açıyor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62917" y="1369981"/>
            <a:ext cx="1223096" cy="57779"/>
            <a:chOff x="0" y="0"/>
            <a:chExt cx="1630794" cy="7703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38100" y="0"/>
              <a:ext cx="1554607" cy="77089"/>
            </a:xfrm>
            <a:custGeom>
              <a:avLst/>
              <a:gdLst/>
              <a:ahLst/>
              <a:cxnLst/>
              <a:rect r="r" b="b" t="t" l="l"/>
              <a:pathLst>
                <a:path h="77089" w="1554607">
                  <a:moveTo>
                    <a:pt x="127" y="0"/>
                  </a:moveTo>
                  <a:lnTo>
                    <a:pt x="1554607" y="762"/>
                  </a:lnTo>
                  <a:lnTo>
                    <a:pt x="1554607" y="77089"/>
                  </a:lnTo>
                  <a:lnTo>
                    <a:pt x="0" y="76327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891540" y="1563843"/>
            <a:ext cx="13166817" cy="342357"/>
            <a:chOff x="0" y="0"/>
            <a:chExt cx="17555756" cy="4564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555759" cy="456480"/>
            </a:xfrm>
            <a:custGeom>
              <a:avLst/>
              <a:gdLst/>
              <a:ahLst/>
              <a:cxnLst/>
              <a:rect r="r" b="b" t="t" l="l"/>
              <a:pathLst>
                <a:path h="456480" w="17555759">
                  <a:moveTo>
                    <a:pt x="0" y="0"/>
                  </a:moveTo>
                  <a:lnTo>
                    <a:pt x="17555759" y="0"/>
                  </a:lnTo>
                  <a:lnTo>
                    <a:pt x="17555759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375" r="0" b="-69937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7555756" cy="4564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SEXIST, INSULT ve RACIST sınıfları moderasyon açısından ayrı yorumlanmalı.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028700" y="2932215"/>
            <a:ext cx="7663664" cy="4598088"/>
            <a:chOff x="0" y="0"/>
            <a:chExt cx="9509036" cy="5705284"/>
          </a:xfrm>
        </p:grpSpPr>
        <p:sp>
          <p:nvSpPr>
            <p:cNvPr name="Freeform 22" id="22" descr="/mnt/data/p7_extract/ppt/media/image6.png"/>
            <p:cNvSpPr/>
            <p:nvPr/>
          </p:nvSpPr>
          <p:spPr>
            <a:xfrm flipH="false" flipV="false" rot="0">
              <a:off x="0" y="0"/>
              <a:ext cx="9508998" cy="5705221"/>
            </a:xfrm>
            <a:custGeom>
              <a:avLst/>
              <a:gdLst/>
              <a:ahLst/>
              <a:cxnLst/>
              <a:rect r="r" b="b" t="t" l="l"/>
              <a:pathLst>
                <a:path h="5705221" w="9508998">
                  <a:moveTo>
                    <a:pt x="0" y="0"/>
                  </a:moveTo>
                  <a:lnTo>
                    <a:pt x="9508998" y="0"/>
                  </a:lnTo>
                  <a:lnTo>
                    <a:pt x="9508998" y="5705221"/>
                  </a:lnTo>
                  <a:lnTo>
                    <a:pt x="0" y="57052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0" b="-2"/>
              </a:stretch>
            </a:blipFill>
          </p:spPr>
        </p:sp>
      </p:grpSp>
      <p:graphicFrame>
        <p:nvGraphicFramePr>
          <p:cNvPr name="Table 23" id="23"/>
          <p:cNvGraphicFramePr>
            <a:graphicFrameLocks noGrp="true"/>
          </p:cNvGraphicFramePr>
          <p:nvPr/>
        </p:nvGraphicFramePr>
        <p:xfrm>
          <a:off x="9455524" y="2362907"/>
          <a:ext cx="6521577" cy="4230900"/>
        </p:xfrm>
        <a:graphic>
          <a:graphicData uri="http://schemas.openxmlformats.org/drawingml/2006/table">
            <a:tbl>
              <a:tblPr/>
              <a:tblGrid>
                <a:gridCol w="1825449"/>
                <a:gridCol w="1101652"/>
                <a:gridCol w="1101652"/>
                <a:gridCol w="1101652"/>
                <a:gridCol w="1391171"/>
              </a:tblGrid>
              <a:tr h="7051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Label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Prec.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Rec.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F1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Support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</a:tr>
              <a:tr h="7051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OTHER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0.974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0.969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0.971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5649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51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PROFANITY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0.952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0.946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0.949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2738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051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INSULT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0.876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0.860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0.868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1617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51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RACIST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0.902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0.932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0.917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1525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051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SEXIST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0.738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0.858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0.793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29"/>
                        </a:lnSpc>
                        <a:defRPr/>
                      </a:pPr>
                      <a:r>
                        <a:rPr lang="en-US" sz="1524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141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name="Group 24" id="24"/>
          <p:cNvGrpSpPr/>
          <p:nvPr/>
        </p:nvGrpSpPr>
        <p:grpSpPr>
          <a:xfrm rot="0">
            <a:off x="9455524" y="6799858"/>
            <a:ext cx="3099597" cy="2663846"/>
            <a:chOff x="0" y="0"/>
            <a:chExt cx="4132796" cy="3551794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4132796" cy="3551794"/>
              <a:chOff x="0" y="0"/>
              <a:chExt cx="4132796" cy="3551794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9398" y="14488"/>
                <a:ext cx="4114038" cy="3522877"/>
              </a:xfrm>
              <a:custGeom>
                <a:avLst/>
                <a:gdLst/>
                <a:ahLst/>
                <a:cxnLst/>
                <a:rect r="r" b="b" t="t" l="l"/>
                <a:pathLst>
                  <a:path h="3522877" w="4114038">
                    <a:moveTo>
                      <a:pt x="0" y="168958"/>
                    </a:moveTo>
                    <a:cubicBezTo>
                      <a:pt x="0" y="75571"/>
                      <a:pt x="49276" y="0"/>
                      <a:pt x="110109" y="0"/>
                    </a:cubicBezTo>
                    <a:lnTo>
                      <a:pt x="4003929" y="0"/>
                    </a:lnTo>
                    <a:cubicBezTo>
                      <a:pt x="4064762" y="0"/>
                      <a:pt x="4114038" y="75767"/>
                      <a:pt x="4114038" y="169154"/>
                    </a:cubicBezTo>
                    <a:lnTo>
                      <a:pt x="4114038" y="3353722"/>
                    </a:lnTo>
                    <a:cubicBezTo>
                      <a:pt x="4114038" y="3447110"/>
                      <a:pt x="4064762" y="3522877"/>
                      <a:pt x="4003929" y="3522877"/>
                    </a:cubicBezTo>
                    <a:lnTo>
                      <a:pt x="110109" y="3522877"/>
                    </a:lnTo>
                    <a:cubicBezTo>
                      <a:pt x="49276" y="3522877"/>
                      <a:pt x="0" y="3447110"/>
                      <a:pt x="0" y="3353722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4132834" cy="3551657"/>
              </a:xfrm>
              <a:custGeom>
                <a:avLst/>
                <a:gdLst/>
                <a:ahLst/>
                <a:cxnLst/>
                <a:rect r="r" b="b" t="t" l="l"/>
                <a:pathLst>
                  <a:path h="3551657" w="4132834">
                    <a:moveTo>
                      <a:pt x="0" y="183446"/>
                    </a:moveTo>
                    <a:cubicBezTo>
                      <a:pt x="0" y="82032"/>
                      <a:pt x="53467" y="0"/>
                      <a:pt x="119507" y="0"/>
                    </a:cubicBezTo>
                    <a:lnTo>
                      <a:pt x="4013327" y="0"/>
                    </a:lnTo>
                    <a:lnTo>
                      <a:pt x="4013327" y="14488"/>
                    </a:lnTo>
                    <a:lnTo>
                      <a:pt x="4013327" y="0"/>
                    </a:lnTo>
                    <a:cubicBezTo>
                      <a:pt x="4079240" y="0"/>
                      <a:pt x="4132834" y="82032"/>
                      <a:pt x="4132834" y="183446"/>
                    </a:cubicBezTo>
                    <a:lnTo>
                      <a:pt x="4123436" y="183446"/>
                    </a:lnTo>
                    <a:lnTo>
                      <a:pt x="4132834" y="183446"/>
                    </a:lnTo>
                    <a:lnTo>
                      <a:pt x="4132834" y="3368210"/>
                    </a:lnTo>
                    <a:lnTo>
                      <a:pt x="4123436" y="3368210"/>
                    </a:lnTo>
                    <a:lnTo>
                      <a:pt x="4132834" y="3368210"/>
                    </a:lnTo>
                    <a:cubicBezTo>
                      <a:pt x="4132834" y="3469625"/>
                      <a:pt x="4079367" y="3551657"/>
                      <a:pt x="4013327" y="3551657"/>
                    </a:cubicBezTo>
                    <a:lnTo>
                      <a:pt x="4013327" y="3537169"/>
                    </a:lnTo>
                    <a:lnTo>
                      <a:pt x="4013327" y="3551657"/>
                    </a:lnTo>
                    <a:lnTo>
                      <a:pt x="119507" y="3551657"/>
                    </a:lnTo>
                    <a:lnTo>
                      <a:pt x="119507" y="3537169"/>
                    </a:lnTo>
                    <a:lnTo>
                      <a:pt x="119507" y="3551657"/>
                    </a:lnTo>
                    <a:cubicBezTo>
                      <a:pt x="53594" y="3551657"/>
                      <a:pt x="0" y="3469625"/>
                      <a:pt x="0" y="3368210"/>
                    </a:cubicBezTo>
                    <a:lnTo>
                      <a:pt x="0" y="183446"/>
                    </a:lnTo>
                    <a:lnTo>
                      <a:pt x="9398" y="183446"/>
                    </a:lnTo>
                    <a:lnTo>
                      <a:pt x="0" y="183446"/>
                    </a:lnTo>
                    <a:moveTo>
                      <a:pt x="18669" y="183446"/>
                    </a:moveTo>
                    <a:lnTo>
                      <a:pt x="18669" y="3368210"/>
                    </a:lnTo>
                    <a:lnTo>
                      <a:pt x="9398" y="3368210"/>
                    </a:lnTo>
                    <a:lnTo>
                      <a:pt x="18796" y="3368210"/>
                    </a:lnTo>
                    <a:cubicBezTo>
                      <a:pt x="18796" y="3453571"/>
                      <a:pt x="63881" y="3522877"/>
                      <a:pt x="119507" y="3522877"/>
                    </a:cubicBezTo>
                    <a:lnTo>
                      <a:pt x="4013327" y="3522877"/>
                    </a:lnTo>
                    <a:cubicBezTo>
                      <a:pt x="4068953" y="3522877"/>
                      <a:pt x="4114038" y="3453571"/>
                      <a:pt x="4114038" y="3368210"/>
                    </a:cubicBezTo>
                    <a:lnTo>
                      <a:pt x="4114038" y="183446"/>
                    </a:lnTo>
                    <a:cubicBezTo>
                      <a:pt x="4114038" y="98086"/>
                      <a:pt x="4068953" y="28780"/>
                      <a:pt x="4013327" y="28780"/>
                    </a:cubicBezTo>
                    <a:lnTo>
                      <a:pt x="119507" y="28780"/>
                    </a:lnTo>
                    <a:lnTo>
                      <a:pt x="119507" y="14488"/>
                    </a:lnTo>
                    <a:lnTo>
                      <a:pt x="119507" y="28976"/>
                    </a:lnTo>
                    <a:cubicBezTo>
                      <a:pt x="63881" y="28976"/>
                      <a:pt x="18796" y="98282"/>
                      <a:pt x="18796" y="183642"/>
                    </a:cubicBezTo>
                    <a:close/>
                  </a:path>
                </a:pathLst>
              </a:custGeom>
              <a:solidFill>
                <a:srgbClr val="C9D6DF"/>
              </a:solidFill>
            </p:spPr>
          </p:sp>
        </p:grpSp>
        <p:grpSp>
          <p:nvGrpSpPr>
            <p:cNvPr name="Group 28" id="28"/>
            <p:cNvGrpSpPr/>
            <p:nvPr/>
          </p:nvGrpSpPr>
          <p:grpSpPr>
            <a:xfrm rot="0">
              <a:off x="297358" y="370440"/>
              <a:ext cx="64084" cy="1563116"/>
              <a:chOff x="0" y="0"/>
              <a:chExt cx="64084" cy="1563116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31623"/>
                <a:ext cx="64135" cy="1499743"/>
              </a:xfrm>
              <a:custGeom>
                <a:avLst/>
                <a:gdLst/>
                <a:ahLst/>
                <a:cxnLst/>
                <a:rect r="r" b="b" t="t" l="l"/>
                <a:pathLst>
                  <a:path h="1499743" w="64135">
                    <a:moveTo>
                      <a:pt x="63373" y="0"/>
                    </a:moveTo>
                    <a:lnTo>
                      <a:pt x="64135" y="1499743"/>
                    </a:lnTo>
                    <a:lnTo>
                      <a:pt x="762" y="1499743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2A9D8F"/>
              </a:solidFill>
            </p:spPr>
          </p:sp>
        </p:grpSp>
        <p:grpSp>
          <p:nvGrpSpPr>
            <p:cNvPr name="Group 30" id="30"/>
            <p:cNvGrpSpPr/>
            <p:nvPr/>
          </p:nvGrpSpPr>
          <p:grpSpPr>
            <a:xfrm rot="0">
              <a:off x="640080" y="329406"/>
              <a:ext cx="3108236" cy="506356"/>
              <a:chOff x="0" y="0"/>
              <a:chExt cx="3108236" cy="506356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3108240" cy="506356"/>
              </a:xfrm>
              <a:custGeom>
                <a:avLst/>
                <a:gdLst/>
                <a:ahLst/>
                <a:cxnLst/>
                <a:rect r="r" b="b" t="t" l="l"/>
                <a:pathLst>
                  <a:path h="506356" w="3108240">
                    <a:moveTo>
                      <a:pt x="0" y="0"/>
                    </a:moveTo>
                    <a:lnTo>
                      <a:pt x="3108240" y="0"/>
                    </a:lnTo>
                    <a:lnTo>
                      <a:pt x="3108240" y="506356"/>
                    </a:lnTo>
                    <a:lnTo>
                      <a:pt x="0" y="5063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76310" r="0" b="-62905"/>
                </a:stretch>
              </a:blip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-9525"/>
                <a:ext cx="3108236" cy="51588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29"/>
                  </a:lnSpc>
                </a:pPr>
                <a:r>
                  <a:rPr lang="en-US" sz="2024" b="true">
                    <a:solidFill>
                      <a:srgbClr val="0B1F33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Büyük sınıflar</a:t>
                </a:r>
              </a:p>
            </p:txBody>
          </p:sp>
        </p:grpSp>
        <p:grpSp>
          <p:nvGrpSpPr>
            <p:cNvPr name="Group 33" id="33"/>
            <p:cNvGrpSpPr/>
            <p:nvPr/>
          </p:nvGrpSpPr>
          <p:grpSpPr>
            <a:xfrm rot="0">
              <a:off x="640080" y="763330"/>
              <a:ext cx="3108236" cy="2591783"/>
              <a:chOff x="0" y="0"/>
              <a:chExt cx="3108236" cy="2591783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3108240" cy="2591771"/>
              </a:xfrm>
              <a:custGeom>
                <a:avLst/>
                <a:gdLst/>
                <a:ahLst/>
                <a:cxnLst/>
                <a:rect r="r" b="b" t="t" l="l"/>
                <a:pathLst>
                  <a:path h="2591771" w="3108240">
                    <a:moveTo>
                      <a:pt x="0" y="0"/>
                    </a:moveTo>
                    <a:lnTo>
                      <a:pt x="3108240" y="0"/>
                    </a:lnTo>
                    <a:lnTo>
                      <a:pt x="3108240" y="2591771"/>
                    </a:lnTo>
                    <a:lnTo>
                      <a:pt x="0" y="259177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268" r="0" b="56533"/>
                </a:stretch>
              </a:blipFill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0" y="38100"/>
                <a:ext cx="3108236" cy="255368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042"/>
                  </a:lnSpc>
                </a:pPr>
                <a:r>
                  <a:rPr lang="en-US" sz="2127">
                    <a:solidFill>
                      <a:srgbClr val="52616F"/>
                    </a:solidFill>
                    <a:latin typeface="Aptos"/>
                    <a:ea typeface="Aptos"/>
                    <a:cs typeface="Aptos"/>
                    <a:sym typeface="Aptos"/>
                  </a:rPr>
                  <a:t>OTHER ve PROFANITY çok güçlü görünüyor; fakat bunlar aynı zamanda en yüksek desteğe sahip sınıflar.</a:t>
                </a:r>
              </a:p>
            </p:txBody>
          </p:sp>
        </p:grpSp>
      </p:grpSp>
      <p:grpSp>
        <p:nvGrpSpPr>
          <p:cNvPr name="Group 36" id="36"/>
          <p:cNvGrpSpPr/>
          <p:nvPr/>
        </p:nvGrpSpPr>
        <p:grpSpPr>
          <a:xfrm rot="0">
            <a:off x="12877504" y="6793110"/>
            <a:ext cx="3099597" cy="2670594"/>
            <a:chOff x="0" y="0"/>
            <a:chExt cx="4132796" cy="3560792"/>
          </a:xfrm>
        </p:grpSpPr>
        <p:grpSp>
          <p:nvGrpSpPr>
            <p:cNvPr name="Group 37" id="37"/>
            <p:cNvGrpSpPr/>
            <p:nvPr/>
          </p:nvGrpSpPr>
          <p:grpSpPr>
            <a:xfrm rot="0">
              <a:off x="0" y="0"/>
              <a:ext cx="4132796" cy="3560792"/>
              <a:chOff x="0" y="0"/>
              <a:chExt cx="4132796" cy="3560792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9398" y="14524"/>
                <a:ext cx="4114038" cy="3531802"/>
              </a:xfrm>
              <a:custGeom>
                <a:avLst/>
                <a:gdLst/>
                <a:ahLst/>
                <a:cxnLst/>
                <a:rect r="r" b="b" t="t" l="l"/>
                <a:pathLst>
                  <a:path h="3531802" w="4114038">
                    <a:moveTo>
                      <a:pt x="0" y="169387"/>
                    </a:moveTo>
                    <a:cubicBezTo>
                      <a:pt x="0" y="75763"/>
                      <a:pt x="49276" y="0"/>
                      <a:pt x="110109" y="0"/>
                    </a:cubicBezTo>
                    <a:lnTo>
                      <a:pt x="4003929" y="0"/>
                    </a:lnTo>
                    <a:cubicBezTo>
                      <a:pt x="4064762" y="0"/>
                      <a:pt x="4114038" y="75960"/>
                      <a:pt x="4114038" y="169584"/>
                    </a:cubicBezTo>
                    <a:lnTo>
                      <a:pt x="4114038" y="3362219"/>
                    </a:lnTo>
                    <a:cubicBezTo>
                      <a:pt x="4114038" y="3455843"/>
                      <a:pt x="4064762" y="3531802"/>
                      <a:pt x="4003929" y="3531802"/>
                    </a:cubicBezTo>
                    <a:lnTo>
                      <a:pt x="110109" y="3531802"/>
                    </a:lnTo>
                    <a:cubicBezTo>
                      <a:pt x="49276" y="3531802"/>
                      <a:pt x="0" y="3455843"/>
                      <a:pt x="0" y="3362219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4132834" cy="3560654"/>
              </a:xfrm>
              <a:custGeom>
                <a:avLst/>
                <a:gdLst/>
                <a:ahLst/>
                <a:cxnLst/>
                <a:rect r="r" b="b" t="t" l="l"/>
                <a:pathLst>
                  <a:path h="3560654" w="4132834">
                    <a:moveTo>
                      <a:pt x="0" y="183911"/>
                    </a:moveTo>
                    <a:cubicBezTo>
                      <a:pt x="0" y="82240"/>
                      <a:pt x="53467" y="0"/>
                      <a:pt x="119507" y="0"/>
                    </a:cubicBezTo>
                    <a:lnTo>
                      <a:pt x="4013327" y="0"/>
                    </a:lnTo>
                    <a:lnTo>
                      <a:pt x="4013327" y="14524"/>
                    </a:lnTo>
                    <a:lnTo>
                      <a:pt x="4013327" y="0"/>
                    </a:lnTo>
                    <a:cubicBezTo>
                      <a:pt x="4079240" y="0"/>
                      <a:pt x="4132834" y="82240"/>
                      <a:pt x="4132834" y="183911"/>
                    </a:cubicBezTo>
                    <a:lnTo>
                      <a:pt x="4123436" y="183911"/>
                    </a:lnTo>
                    <a:lnTo>
                      <a:pt x="4132834" y="183911"/>
                    </a:lnTo>
                    <a:lnTo>
                      <a:pt x="4132834" y="3376743"/>
                    </a:lnTo>
                    <a:lnTo>
                      <a:pt x="4123436" y="3376743"/>
                    </a:lnTo>
                    <a:lnTo>
                      <a:pt x="4132834" y="3376743"/>
                    </a:lnTo>
                    <a:cubicBezTo>
                      <a:pt x="4132834" y="3478415"/>
                      <a:pt x="4079367" y="3560654"/>
                      <a:pt x="4013327" y="3560654"/>
                    </a:cubicBezTo>
                    <a:lnTo>
                      <a:pt x="4013327" y="3546130"/>
                    </a:lnTo>
                    <a:lnTo>
                      <a:pt x="4013327" y="3560654"/>
                    </a:lnTo>
                    <a:lnTo>
                      <a:pt x="119507" y="3560654"/>
                    </a:lnTo>
                    <a:lnTo>
                      <a:pt x="119507" y="3546130"/>
                    </a:lnTo>
                    <a:lnTo>
                      <a:pt x="119507" y="3560654"/>
                    </a:lnTo>
                    <a:cubicBezTo>
                      <a:pt x="53594" y="3560654"/>
                      <a:pt x="0" y="3478415"/>
                      <a:pt x="0" y="3376743"/>
                    </a:cubicBezTo>
                    <a:lnTo>
                      <a:pt x="0" y="183911"/>
                    </a:lnTo>
                    <a:lnTo>
                      <a:pt x="9398" y="183911"/>
                    </a:lnTo>
                    <a:lnTo>
                      <a:pt x="0" y="183911"/>
                    </a:lnTo>
                    <a:moveTo>
                      <a:pt x="18669" y="183911"/>
                    </a:moveTo>
                    <a:lnTo>
                      <a:pt x="18669" y="3376743"/>
                    </a:lnTo>
                    <a:lnTo>
                      <a:pt x="9398" y="3376743"/>
                    </a:lnTo>
                    <a:lnTo>
                      <a:pt x="18796" y="3376743"/>
                    </a:lnTo>
                    <a:cubicBezTo>
                      <a:pt x="18796" y="3462320"/>
                      <a:pt x="63881" y="3531802"/>
                      <a:pt x="119507" y="3531802"/>
                    </a:cubicBezTo>
                    <a:lnTo>
                      <a:pt x="4013327" y="3531802"/>
                    </a:lnTo>
                    <a:cubicBezTo>
                      <a:pt x="4068953" y="3531802"/>
                      <a:pt x="4114038" y="3462320"/>
                      <a:pt x="4114038" y="3376743"/>
                    </a:cubicBezTo>
                    <a:lnTo>
                      <a:pt x="4114038" y="183911"/>
                    </a:lnTo>
                    <a:cubicBezTo>
                      <a:pt x="4114038" y="98335"/>
                      <a:pt x="4068953" y="28853"/>
                      <a:pt x="4013327" y="28853"/>
                    </a:cubicBezTo>
                    <a:lnTo>
                      <a:pt x="119507" y="28853"/>
                    </a:lnTo>
                    <a:lnTo>
                      <a:pt x="119507" y="14524"/>
                    </a:lnTo>
                    <a:lnTo>
                      <a:pt x="119507" y="29049"/>
                    </a:lnTo>
                    <a:cubicBezTo>
                      <a:pt x="63881" y="29049"/>
                      <a:pt x="18796" y="98531"/>
                      <a:pt x="18796" y="184108"/>
                    </a:cubicBezTo>
                    <a:close/>
                  </a:path>
                </a:pathLst>
              </a:custGeom>
              <a:solidFill>
                <a:srgbClr val="C9D6DF"/>
              </a:solidFill>
            </p:spPr>
          </p:sp>
        </p:grpSp>
        <p:grpSp>
          <p:nvGrpSpPr>
            <p:cNvPr name="Group 40" id="40"/>
            <p:cNvGrpSpPr/>
            <p:nvPr/>
          </p:nvGrpSpPr>
          <p:grpSpPr>
            <a:xfrm rot="0">
              <a:off x="306718" y="421048"/>
              <a:ext cx="64084" cy="1734532"/>
              <a:chOff x="0" y="0"/>
              <a:chExt cx="64084" cy="1734532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35091"/>
                <a:ext cx="64135" cy="1664210"/>
              </a:xfrm>
              <a:custGeom>
                <a:avLst/>
                <a:gdLst/>
                <a:ahLst/>
                <a:cxnLst/>
                <a:rect r="r" b="b" t="t" l="l"/>
                <a:pathLst>
                  <a:path h="1664210" w="64135">
                    <a:moveTo>
                      <a:pt x="63373" y="0"/>
                    </a:moveTo>
                    <a:lnTo>
                      <a:pt x="64135" y="1664210"/>
                    </a:lnTo>
                    <a:lnTo>
                      <a:pt x="762" y="1664210"/>
                    </a:lnTo>
                    <a:lnTo>
                      <a:pt x="0" y="141"/>
                    </a:lnTo>
                    <a:close/>
                  </a:path>
                </a:pathLst>
              </a:custGeom>
              <a:solidFill>
                <a:srgbClr val="B23A48"/>
              </a:solidFill>
            </p:spPr>
          </p:sp>
        </p:grpSp>
        <p:grpSp>
          <p:nvGrpSpPr>
            <p:cNvPr name="Group 42" id="42"/>
            <p:cNvGrpSpPr/>
            <p:nvPr/>
          </p:nvGrpSpPr>
          <p:grpSpPr>
            <a:xfrm rot="0">
              <a:off x="649440" y="375515"/>
              <a:ext cx="3108236" cy="561885"/>
              <a:chOff x="0" y="0"/>
              <a:chExt cx="3108236" cy="561885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3108240" cy="561885"/>
              </a:xfrm>
              <a:custGeom>
                <a:avLst/>
                <a:gdLst/>
                <a:ahLst/>
                <a:cxnLst/>
                <a:rect r="r" b="b" t="t" l="l"/>
                <a:pathLst>
                  <a:path h="561885" w="3108240">
                    <a:moveTo>
                      <a:pt x="0" y="0"/>
                    </a:moveTo>
                    <a:lnTo>
                      <a:pt x="3108240" y="0"/>
                    </a:lnTo>
                    <a:lnTo>
                      <a:pt x="3108240" y="561885"/>
                    </a:lnTo>
                    <a:lnTo>
                      <a:pt x="0" y="561885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68768" r="0" b="-46806"/>
                </a:stretch>
              </a:blipFill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0" y="-9525"/>
                <a:ext cx="3108236" cy="57141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29"/>
                  </a:lnSpc>
                </a:pPr>
                <a:r>
                  <a:rPr lang="en-US" sz="2024" b="true">
                    <a:solidFill>
                      <a:srgbClr val="0B1F33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Kırılgan sınıf</a:t>
                </a: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0">
              <a:off x="649440" y="862080"/>
              <a:ext cx="3108236" cy="2495502"/>
              <a:chOff x="0" y="0"/>
              <a:chExt cx="3108236" cy="2495502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3108240" cy="2495492"/>
              </a:xfrm>
              <a:custGeom>
                <a:avLst/>
                <a:gdLst/>
                <a:ahLst/>
                <a:cxnLst/>
                <a:rect r="r" b="b" t="t" l="l"/>
                <a:pathLst>
                  <a:path h="2495492" w="3108240">
                    <a:moveTo>
                      <a:pt x="0" y="0"/>
                    </a:moveTo>
                    <a:lnTo>
                      <a:pt x="3108240" y="0"/>
                    </a:lnTo>
                    <a:lnTo>
                      <a:pt x="3108240" y="2495492"/>
                    </a:lnTo>
                    <a:lnTo>
                      <a:pt x="0" y="249549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394" r="0" b="54856"/>
                </a:stretch>
              </a:blip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0" y="38100"/>
                <a:ext cx="3108236" cy="245740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042"/>
                  </a:lnSpc>
                </a:pPr>
                <a:r>
                  <a:rPr lang="en-US" sz="2127">
                    <a:solidFill>
                      <a:srgbClr val="52616F"/>
                    </a:solidFill>
                    <a:latin typeface="Aptos"/>
                    <a:ea typeface="Aptos"/>
                    <a:cs typeface="Aptos"/>
                    <a:sym typeface="Aptos"/>
                  </a:rPr>
                  <a:t>SEXIST testte yalnızca 141 örnek içeriyor. Precision düşük kaldığı için yanlış pozitif riski ayrı raporlanmalı.</a:t>
                </a:r>
              </a:p>
            </p:txBody>
          </p:sp>
        </p:grpSp>
      </p:grpSp>
    </p:spTree>
  </p:cSld>
  <p:clrMapOvr>
    <a:masterClrMapping/>
  </p:clrMapOvr>
  <p:transition spd="fast">
    <p:fade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424" y="52378"/>
            <a:ext cx="18306002" cy="10305364"/>
            <a:chOff x="0" y="0"/>
            <a:chExt cx="24408003" cy="137404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573" y="12573"/>
              <a:ext cx="24382857" cy="13715364"/>
            </a:xfrm>
            <a:custGeom>
              <a:avLst/>
              <a:gdLst/>
              <a:ahLst/>
              <a:cxnLst/>
              <a:rect r="r" b="b" t="t" l="l"/>
              <a:pathLst>
                <a:path h="13715364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3715364"/>
                  </a:lnTo>
                  <a:lnTo>
                    <a:pt x="0" y="13715364"/>
                  </a:lnTo>
                  <a:close/>
                </a:path>
              </a:pathLst>
            </a:custGeom>
            <a:solidFill>
              <a:srgbClr val="F7F9FC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408003" cy="13740510"/>
            </a:xfrm>
            <a:custGeom>
              <a:avLst/>
              <a:gdLst/>
              <a:ahLst/>
              <a:cxnLst/>
              <a:rect r="r" b="b" t="t" l="l"/>
              <a:pathLst>
                <a:path h="13740510" w="24408003">
                  <a:moveTo>
                    <a:pt x="12573" y="0"/>
                  </a:moveTo>
                  <a:lnTo>
                    <a:pt x="24395430" y="0"/>
                  </a:lnTo>
                  <a:cubicBezTo>
                    <a:pt x="24402416" y="0"/>
                    <a:pt x="24408003" y="5588"/>
                    <a:pt x="24408003" y="12573"/>
                  </a:cubicBezTo>
                  <a:lnTo>
                    <a:pt x="24408003" y="13727937"/>
                  </a:lnTo>
                  <a:cubicBezTo>
                    <a:pt x="24408003" y="13734923"/>
                    <a:pt x="24402416" y="13740510"/>
                    <a:pt x="24395430" y="13740510"/>
                  </a:cubicBezTo>
                  <a:lnTo>
                    <a:pt x="12573" y="13740510"/>
                  </a:lnTo>
                  <a:cubicBezTo>
                    <a:pt x="5588" y="13740510"/>
                    <a:pt x="0" y="13734923"/>
                    <a:pt x="0" y="13727937"/>
                  </a:cubicBezTo>
                  <a:lnTo>
                    <a:pt x="0" y="12573"/>
                  </a:lnTo>
                  <a:cubicBezTo>
                    <a:pt x="0" y="5588"/>
                    <a:pt x="5588" y="0"/>
                    <a:pt x="12573" y="0"/>
                  </a:cubicBezTo>
                  <a:moveTo>
                    <a:pt x="12573" y="25146"/>
                  </a:moveTo>
                  <a:lnTo>
                    <a:pt x="12573" y="12573"/>
                  </a:lnTo>
                  <a:lnTo>
                    <a:pt x="25146" y="12573"/>
                  </a:lnTo>
                  <a:lnTo>
                    <a:pt x="25146" y="13727937"/>
                  </a:lnTo>
                  <a:lnTo>
                    <a:pt x="12573" y="13727937"/>
                  </a:lnTo>
                  <a:lnTo>
                    <a:pt x="12573" y="13715364"/>
                  </a:lnTo>
                  <a:lnTo>
                    <a:pt x="24395430" y="13715364"/>
                  </a:lnTo>
                  <a:lnTo>
                    <a:pt x="24395430" y="13727937"/>
                  </a:lnTo>
                  <a:lnTo>
                    <a:pt x="24382857" y="13727937"/>
                  </a:lnTo>
                  <a:lnTo>
                    <a:pt x="24382857" y="12573"/>
                  </a:lnTo>
                  <a:lnTo>
                    <a:pt x="24395430" y="12573"/>
                  </a:lnTo>
                  <a:lnTo>
                    <a:pt x="24395430" y="25146"/>
                  </a:lnTo>
                  <a:lnTo>
                    <a:pt x="12573" y="25146"/>
                  </a:lnTo>
                  <a:close/>
                </a:path>
              </a:pathLst>
            </a:custGeom>
            <a:solidFill>
              <a:srgbClr val="F7F9F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883977" y="9703260"/>
            <a:ext cx="16542896" cy="15659"/>
            <a:chOff x="0" y="0"/>
            <a:chExt cx="22057195" cy="2087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033" y="0"/>
              <a:ext cx="22037040" cy="20955"/>
            </a:xfrm>
            <a:custGeom>
              <a:avLst/>
              <a:gdLst/>
              <a:ahLst/>
              <a:cxnLst/>
              <a:rect r="r" b="b" t="t" l="l"/>
              <a:pathLst>
                <a:path h="20955" w="22037040">
                  <a:moveTo>
                    <a:pt x="0" y="0"/>
                  </a:moveTo>
                  <a:lnTo>
                    <a:pt x="22037040" y="762"/>
                  </a:lnTo>
                  <a:lnTo>
                    <a:pt x="22037040" y="20955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D9E3EA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891540" y="9820437"/>
            <a:ext cx="3016977" cy="273777"/>
            <a:chOff x="0" y="0"/>
            <a:chExt cx="4022636" cy="3650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022640" cy="365040"/>
            </a:xfrm>
            <a:custGeom>
              <a:avLst/>
              <a:gdLst/>
              <a:ahLst/>
              <a:cxnLst/>
              <a:rect r="r" b="b" t="t" l="l"/>
              <a:pathLst>
                <a:path h="365040" w="4022640">
                  <a:moveTo>
                    <a:pt x="0" y="0"/>
                  </a:moveTo>
                  <a:lnTo>
                    <a:pt x="4022640" y="0"/>
                  </a:lnTo>
                  <a:lnTo>
                    <a:pt x="402264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4720" r="0" b="-16471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4022636" cy="3650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170"/>
                </a:lnSpc>
              </a:pPr>
              <a:r>
                <a:rPr lang="en-US" sz="975">
                  <a:solidFill>
                    <a:srgbClr val="6B7A88"/>
                  </a:solidFill>
                  <a:latin typeface="Aptos"/>
                  <a:ea typeface="Aptos"/>
                  <a:cs typeface="Aptos"/>
                  <a:sym typeface="Aptos"/>
                </a:rPr>
                <a:t>YZM304 Project 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853160" y="480060"/>
            <a:ext cx="3497037" cy="273777"/>
            <a:chOff x="0" y="0"/>
            <a:chExt cx="4662716" cy="36503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662720" cy="365040"/>
            </a:xfrm>
            <a:custGeom>
              <a:avLst/>
              <a:gdLst/>
              <a:ahLst/>
              <a:cxnLst/>
              <a:rect r="r" b="b" t="t" l="l"/>
              <a:pathLst>
                <a:path h="365040" w="4662720">
                  <a:moveTo>
                    <a:pt x="0" y="0"/>
                  </a:moveTo>
                  <a:lnTo>
                    <a:pt x="4662720" y="0"/>
                  </a:lnTo>
                  <a:lnTo>
                    <a:pt x="466272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886" r="0" b="-19888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4662716" cy="3745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RESULTS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91540" y="576177"/>
            <a:ext cx="12206697" cy="603180"/>
            <a:chOff x="0" y="0"/>
            <a:chExt cx="16275596" cy="8042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6275600" cy="804240"/>
            </a:xfrm>
            <a:custGeom>
              <a:avLst/>
              <a:gdLst/>
              <a:ahLst/>
              <a:cxnLst/>
              <a:rect r="r" b="b" t="t" l="l"/>
              <a:pathLst>
                <a:path h="804240" w="16275600">
                  <a:moveTo>
                    <a:pt x="0" y="0"/>
                  </a:moveTo>
                  <a:lnTo>
                    <a:pt x="16275600" y="0"/>
                  </a:lnTo>
                  <a:lnTo>
                    <a:pt x="16275600" y="804240"/>
                  </a:lnTo>
                  <a:lnTo>
                    <a:pt x="0" y="804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4323" r="0" b="-344323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66675"/>
              <a:ext cx="16275596" cy="7375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8"/>
                </a:lnSpc>
              </a:pPr>
              <a:r>
                <a:rPr lang="en-US" sz="2790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Kalibrasyon: yüksek skorun güvenilir olasılık üretmesi gerekiyor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62917" y="1369981"/>
            <a:ext cx="1223096" cy="57779"/>
            <a:chOff x="0" y="0"/>
            <a:chExt cx="1630794" cy="7703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38100" y="0"/>
              <a:ext cx="1554607" cy="77089"/>
            </a:xfrm>
            <a:custGeom>
              <a:avLst/>
              <a:gdLst/>
              <a:ahLst/>
              <a:cxnLst/>
              <a:rect r="r" b="b" t="t" l="l"/>
              <a:pathLst>
                <a:path h="77089" w="1554607">
                  <a:moveTo>
                    <a:pt x="127" y="0"/>
                  </a:moveTo>
                  <a:lnTo>
                    <a:pt x="1554607" y="762"/>
                  </a:lnTo>
                  <a:lnTo>
                    <a:pt x="1554607" y="77089"/>
                  </a:lnTo>
                  <a:lnTo>
                    <a:pt x="0" y="76327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891540" y="1563843"/>
            <a:ext cx="13166817" cy="342357"/>
            <a:chOff x="0" y="0"/>
            <a:chExt cx="17555756" cy="4564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555759" cy="456480"/>
            </a:xfrm>
            <a:custGeom>
              <a:avLst/>
              <a:gdLst/>
              <a:ahLst/>
              <a:cxnLst/>
              <a:rect r="r" b="b" t="t" l="l"/>
              <a:pathLst>
                <a:path h="456480" w="17555759">
                  <a:moveTo>
                    <a:pt x="0" y="0"/>
                  </a:moveTo>
                  <a:lnTo>
                    <a:pt x="17555759" y="0"/>
                  </a:lnTo>
                  <a:lnTo>
                    <a:pt x="17555759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375" r="0" b="-69937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7555756" cy="4564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Temperature scaling validation logits üzerinde öğrenildi; test metrikleri kalibre olasılıklardan raporlandı.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299989" y="2477692"/>
            <a:ext cx="6718756" cy="6023892"/>
            <a:chOff x="0" y="0"/>
            <a:chExt cx="7240321" cy="6491516"/>
          </a:xfrm>
        </p:grpSpPr>
        <p:sp>
          <p:nvSpPr>
            <p:cNvPr name="Freeform 22" id="22" descr="/mnt/data/p7_extract/ppt/media/image7.png"/>
            <p:cNvSpPr/>
            <p:nvPr/>
          </p:nvSpPr>
          <p:spPr>
            <a:xfrm flipH="false" flipV="false" rot="0">
              <a:off x="0" y="0"/>
              <a:ext cx="7240270" cy="6491478"/>
            </a:xfrm>
            <a:custGeom>
              <a:avLst/>
              <a:gdLst/>
              <a:ahLst/>
              <a:cxnLst/>
              <a:rect r="r" b="b" t="t" l="l"/>
              <a:pathLst>
                <a:path h="6491478" w="7240270">
                  <a:moveTo>
                    <a:pt x="0" y="0"/>
                  </a:moveTo>
                  <a:lnTo>
                    <a:pt x="7240270" y="0"/>
                  </a:lnTo>
                  <a:lnTo>
                    <a:pt x="7240270" y="6491478"/>
                  </a:lnTo>
                  <a:lnTo>
                    <a:pt x="0" y="64914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t="0" r="-2" b="0"/>
              </a:stretch>
            </a:blipFill>
          </p:spPr>
        </p:sp>
      </p:grpSp>
      <p:graphicFrame>
        <p:nvGraphicFramePr>
          <p:cNvPr name="Table 23" id="23"/>
          <p:cNvGraphicFramePr>
            <a:graphicFrameLocks noGrp="true"/>
          </p:cNvGraphicFramePr>
          <p:nvPr/>
        </p:nvGraphicFramePr>
        <p:xfrm>
          <a:off x="9144000" y="2477692"/>
          <a:ext cx="7214397" cy="3183756"/>
        </p:xfrm>
        <a:graphic>
          <a:graphicData uri="http://schemas.openxmlformats.org/drawingml/2006/table">
            <a:tbl>
              <a:tblPr/>
              <a:tblGrid>
                <a:gridCol w="3131313"/>
                <a:gridCol w="1361028"/>
                <a:gridCol w="1361028"/>
                <a:gridCol w="1361028"/>
              </a:tblGrid>
              <a:tr h="53062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Model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Top ECE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Class ECE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Log loss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</a:tr>
              <a:tr h="53062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BERTurk light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0.0089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0.0078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0.1708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62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BERTurk raw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0.0111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0.0094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0.1659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53062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ConvBERTurk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0.0184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0.0113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0.1925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62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Turkish ELECTRA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0.0193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0.0116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0.1999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53062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XLM-R base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0.0168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0.0137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0.2694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name="Group 24" id="24"/>
          <p:cNvGrpSpPr/>
          <p:nvPr/>
        </p:nvGrpSpPr>
        <p:grpSpPr>
          <a:xfrm rot="0">
            <a:off x="9155425" y="5755728"/>
            <a:ext cx="3373917" cy="3853253"/>
            <a:chOff x="0" y="0"/>
            <a:chExt cx="4498556" cy="5137671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4498556" cy="5137671"/>
              <a:chOff x="0" y="0"/>
              <a:chExt cx="4498556" cy="5137671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9271" y="16400"/>
                <a:ext cx="4479925" cy="5104937"/>
              </a:xfrm>
              <a:custGeom>
                <a:avLst/>
                <a:gdLst/>
                <a:ahLst/>
                <a:cxnLst/>
                <a:rect r="r" b="b" t="t" l="l"/>
                <a:pathLst>
                  <a:path h="5104937" w="4479925">
                    <a:moveTo>
                      <a:pt x="127" y="191264"/>
                    </a:moveTo>
                    <a:cubicBezTo>
                      <a:pt x="127" y="85548"/>
                      <a:pt x="49276" y="0"/>
                      <a:pt x="109982" y="0"/>
                    </a:cubicBezTo>
                    <a:lnTo>
                      <a:pt x="4369943" y="0"/>
                    </a:lnTo>
                    <a:cubicBezTo>
                      <a:pt x="4430649" y="0"/>
                      <a:pt x="4479925" y="85770"/>
                      <a:pt x="4479925" y="191485"/>
                    </a:cubicBezTo>
                    <a:lnTo>
                      <a:pt x="4479925" y="4913452"/>
                    </a:lnTo>
                    <a:cubicBezTo>
                      <a:pt x="4479925" y="5019168"/>
                      <a:pt x="4430649" y="5104937"/>
                      <a:pt x="4369943" y="5104937"/>
                    </a:cubicBezTo>
                    <a:lnTo>
                      <a:pt x="109982" y="5104937"/>
                    </a:lnTo>
                    <a:cubicBezTo>
                      <a:pt x="49276" y="5104937"/>
                      <a:pt x="0" y="5019168"/>
                      <a:pt x="0" y="4913452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4498467" cy="5137516"/>
              </a:xfrm>
              <a:custGeom>
                <a:avLst/>
                <a:gdLst/>
                <a:ahLst/>
                <a:cxnLst/>
                <a:rect r="r" b="b" t="t" l="l"/>
                <a:pathLst>
                  <a:path h="5137516" w="4498467">
                    <a:moveTo>
                      <a:pt x="0" y="207664"/>
                    </a:moveTo>
                    <a:cubicBezTo>
                      <a:pt x="0" y="93083"/>
                      <a:pt x="53467" y="0"/>
                      <a:pt x="119253" y="0"/>
                    </a:cubicBezTo>
                    <a:lnTo>
                      <a:pt x="4379214" y="0"/>
                    </a:lnTo>
                    <a:lnTo>
                      <a:pt x="4379214" y="16400"/>
                    </a:lnTo>
                    <a:lnTo>
                      <a:pt x="4379214" y="0"/>
                    </a:lnTo>
                    <a:cubicBezTo>
                      <a:pt x="4445127" y="0"/>
                      <a:pt x="4498467" y="93083"/>
                      <a:pt x="4498467" y="207664"/>
                    </a:cubicBezTo>
                    <a:lnTo>
                      <a:pt x="4489069" y="207664"/>
                    </a:lnTo>
                    <a:lnTo>
                      <a:pt x="4498467" y="207664"/>
                    </a:lnTo>
                    <a:lnTo>
                      <a:pt x="4498467" y="4929852"/>
                    </a:lnTo>
                    <a:lnTo>
                      <a:pt x="4489069" y="4929852"/>
                    </a:lnTo>
                    <a:lnTo>
                      <a:pt x="4498467" y="4929852"/>
                    </a:lnTo>
                    <a:cubicBezTo>
                      <a:pt x="4498467" y="5044655"/>
                      <a:pt x="4445000" y="5137516"/>
                      <a:pt x="4379214" y="5137516"/>
                    </a:cubicBezTo>
                    <a:lnTo>
                      <a:pt x="4379214" y="5121116"/>
                    </a:lnTo>
                    <a:lnTo>
                      <a:pt x="4379214" y="5137516"/>
                    </a:lnTo>
                    <a:lnTo>
                      <a:pt x="119253" y="5137516"/>
                    </a:lnTo>
                    <a:lnTo>
                      <a:pt x="119253" y="5121116"/>
                    </a:lnTo>
                    <a:lnTo>
                      <a:pt x="119253" y="5137516"/>
                    </a:lnTo>
                    <a:cubicBezTo>
                      <a:pt x="53340" y="5137516"/>
                      <a:pt x="0" y="5044433"/>
                      <a:pt x="0" y="4929852"/>
                    </a:cubicBezTo>
                    <a:lnTo>
                      <a:pt x="0" y="207664"/>
                    </a:lnTo>
                    <a:lnTo>
                      <a:pt x="9398" y="207664"/>
                    </a:lnTo>
                    <a:lnTo>
                      <a:pt x="0" y="207664"/>
                    </a:lnTo>
                    <a:moveTo>
                      <a:pt x="18669" y="207664"/>
                    </a:moveTo>
                    <a:lnTo>
                      <a:pt x="18669" y="4929852"/>
                    </a:lnTo>
                    <a:lnTo>
                      <a:pt x="9398" y="4929852"/>
                    </a:lnTo>
                    <a:lnTo>
                      <a:pt x="18796" y="4929852"/>
                    </a:lnTo>
                    <a:cubicBezTo>
                      <a:pt x="18796" y="5026481"/>
                      <a:pt x="63754" y="5104937"/>
                      <a:pt x="119380" y="5104937"/>
                    </a:cubicBezTo>
                    <a:lnTo>
                      <a:pt x="4379214" y="5104937"/>
                    </a:lnTo>
                    <a:cubicBezTo>
                      <a:pt x="4434840" y="5104937"/>
                      <a:pt x="4479798" y="5026481"/>
                      <a:pt x="4479798" y="4929852"/>
                    </a:cubicBezTo>
                    <a:lnTo>
                      <a:pt x="4479798" y="207664"/>
                    </a:lnTo>
                    <a:cubicBezTo>
                      <a:pt x="4479798" y="111035"/>
                      <a:pt x="4434840" y="32579"/>
                      <a:pt x="4379214" y="32579"/>
                    </a:cubicBezTo>
                    <a:lnTo>
                      <a:pt x="119253" y="32579"/>
                    </a:lnTo>
                    <a:lnTo>
                      <a:pt x="119253" y="16400"/>
                    </a:lnTo>
                    <a:lnTo>
                      <a:pt x="119253" y="32801"/>
                    </a:lnTo>
                    <a:cubicBezTo>
                      <a:pt x="63627" y="32801"/>
                      <a:pt x="18669" y="111256"/>
                      <a:pt x="18669" y="207885"/>
                    </a:cubicBezTo>
                    <a:close/>
                  </a:path>
                </a:pathLst>
              </a:custGeom>
              <a:solidFill>
                <a:srgbClr val="C9D6DF"/>
              </a:solidFill>
            </p:spPr>
          </p:sp>
        </p:grpSp>
        <p:grpSp>
          <p:nvGrpSpPr>
            <p:cNvPr name="Group 28" id="28"/>
            <p:cNvGrpSpPr/>
            <p:nvPr/>
          </p:nvGrpSpPr>
          <p:grpSpPr>
            <a:xfrm rot="0">
              <a:off x="306718" y="379438"/>
              <a:ext cx="64084" cy="2203196"/>
              <a:chOff x="0" y="0"/>
              <a:chExt cx="64084" cy="2203196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31623"/>
                <a:ext cx="64135" cy="2139823"/>
              </a:xfrm>
              <a:custGeom>
                <a:avLst/>
                <a:gdLst/>
                <a:ahLst/>
                <a:cxnLst/>
                <a:rect r="r" b="b" t="t" l="l"/>
                <a:pathLst>
                  <a:path h="2139823" w="64135">
                    <a:moveTo>
                      <a:pt x="63373" y="0"/>
                    </a:moveTo>
                    <a:lnTo>
                      <a:pt x="64135" y="2139823"/>
                    </a:lnTo>
                    <a:lnTo>
                      <a:pt x="762" y="2139823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2A9D8F"/>
              </a:solidFill>
            </p:spPr>
          </p:sp>
        </p:grpSp>
        <p:grpSp>
          <p:nvGrpSpPr>
            <p:cNvPr name="Group 30" id="30"/>
            <p:cNvGrpSpPr/>
            <p:nvPr/>
          </p:nvGrpSpPr>
          <p:grpSpPr>
            <a:xfrm rot="0">
              <a:off x="649440" y="338404"/>
              <a:ext cx="3473996" cy="506356"/>
              <a:chOff x="0" y="0"/>
              <a:chExt cx="3473996" cy="506356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3474000" cy="506356"/>
              </a:xfrm>
              <a:custGeom>
                <a:avLst/>
                <a:gdLst/>
                <a:ahLst/>
                <a:cxnLst/>
                <a:rect r="r" b="b" t="t" l="l"/>
                <a:pathLst>
                  <a:path h="506356" w="3474000">
                    <a:moveTo>
                      <a:pt x="0" y="0"/>
                    </a:moveTo>
                    <a:lnTo>
                      <a:pt x="3474000" y="0"/>
                    </a:lnTo>
                    <a:lnTo>
                      <a:pt x="3474000" y="506356"/>
                    </a:lnTo>
                    <a:lnTo>
                      <a:pt x="0" y="5063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0384" r="0" b="-76980"/>
                </a:stretch>
              </a:blip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-9525"/>
                <a:ext cx="3473996" cy="51588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29"/>
                  </a:lnSpc>
                </a:pPr>
                <a:r>
                  <a:rPr lang="en-US" sz="2024" b="true">
                    <a:solidFill>
                      <a:srgbClr val="0B1F33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ECE nasıl okunur?</a:t>
                </a:r>
              </a:p>
            </p:txBody>
          </p:sp>
        </p:grpSp>
        <p:grpSp>
          <p:nvGrpSpPr>
            <p:cNvPr name="Group 33" id="33"/>
            <p:cNvGrpSpPr/>
            <p:nvPr/>
          </p:nvGrpSpPr>
          <p:grpSpPr>
            <a:xfrm rot="0">
              <a:off x="649440" y="787689"/>
              <a:ext cx="3473996" cy="3959522"/>
              <a:chOff x="0" y="0"/>
              <a:chExt cx="3473996" cy="3959522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3474000" cy="3959511"/>
              </a:xfrm>
              <a:custGeom>
                <a:avLst/>
                <a:gdLst/>
                <a:ahLst/>
                <a:cxnLst/>
                <a:rect r="r" b="b" t="t" l="l"/>
                <a:pathLst>
                  <a:path h="3959511" w="3474000">
                    <a:moveTo>
                      <a:pt x="0" y="0"/>
                    </a:moveTo>
                    <a:lnTo>
                      <a:pt x="3474000" y="0"/>
                    </a:lnTo>
                    <a:lnTo>
                      <a:pt x="3474000" y="3959511"/>
                    </a:lnTo>
                    <a:lnTo>
                      <a:pt x="0" y="39595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12117" t="0" r="-12117" b="57521"/>
                </a:stretch>
              </a:blipFill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0" y="28575"/>
                <a:ext cx="3473996" cy="3930947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317"/>
                  </a:lnSpc>
                </a:pPr>
                <a:r>
                  <a:rPr lang="en-US" sz="2145">
                    <a:solidFill>
                      <a:srgbClr val="52616F"/>
                    </a:solidFill>
                    <a:latin typeface="Aptos"/>
                    <a:ea typeface="Aptos"/>
                    <a:cs typeface="Aptos"/>
                    <a:sym typeface="Aptos"/>
                  </a:rPr>
                  <a:t>ECE düşükse modelin “%80 eminim” dediği örneklerde gerçek doğruluk oranı da yaklaşık %80’e yakındır. Bu, moderasyon sisteminde güven skoru yorumlamak için kritiktir.</a:t>
                </a:r>
              </a:p>
            </p:txBody>
          </p:sp>
        </p:grpSp>
      </p:grpSp>
      <p:grpSp>
        <p:nvGrpSpPr>
          <p:cNvPr name="Group 36" id="36"/>
          <p:cNvGrpSpPr/>
          <p:nvPr/>
        </p:nvGrpSpPr>
        <p:grpSpPr>
          <a:xfrm rot="0">
            <a:off x="12858745" y="5755728"/>
            <a:ext cx="3511077" cy="3840388"/>
            <a:chOff x="0" y="0"/>
            <a:chExt cx="4681436" cy="5120517"/>
          </a:xfrm>
        </p:grpSpPr>
        <p:grpSp>
          <p:nvGrpSpPr>
            <p:cNvPr name="Group 37" id="37"/>
            <p:cNvGrpSpPr/>
            <p:nvPr/>
          </p:nvGrpSpPr>
          <p:grpSpPr>
            <a:xfrm rot="0">
              <a:off x="0" y="0"/>
              <a:ext cx="4681436" cy="5120517"/>
              <a:chOff x="0" y="0"/>
              <a:chExt cx="4681436" cy="5120517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9398" y="16346"/>
                <a:ext cx="4662678" cy="5087892"/>
              </a:xfrm>
              <a:custGeom>
                <a:avLst/>
                <a:gdLst/>
                <a:ahLst/>
                <a:cxnLst/>
                <a:rect r="r" b="b" t="t" l="l"/>
                <a:pathLst>
                  <a:path h="5087892" w="4662678">
                    <a:moveTo>
                      <a:pt x="0" y="190624"/>
                    </a:moveTo>
                    <a:cubicBezTo>
                      <a:pt x="0" y="85262"/>
                      <a:pt x="49149" y="0"/>
                      <a:pt x="109982" y="0"/>
                    </a:cubicBezTo>
                    <a:lnTo>
                      <a:pt x="4552696" y="0"/>
                    </a:lnTo>
                    <a:cubicBezTo>
                      <a:pt x="4613402" y="0"/>
                      <a:pt x="4662678" y="85483"/>
                      <a:pt x="4662678" y="190845"/>
                    </a:cubicBezTo>
                    <a:lnTo>
                      <a:pt x="4662678" y="4897046"/>
                    </a:lnTo>
                    <a:cubicBezTo>
                      <a:pt x="4662678" y="5002409"/>
                      <a:pt x="4613402" y="5087892"/>
                      <a:pt x="4552696" y="5087892"/>
                    </a:cubicBezTo>
                    <a:lnTo>
                      <a:pt x="109982" y="5087892"/>
                    </a:lnTo>
                    <a:cubicBezTo>
                      <a:pt x="49276" y="5087892"/>
                      <a:pt x="0" y="5002409"/>
                      <a:pt x="0" y="4897046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4681474" cy="5120363"/>
              </a:xfrm>
              <a:custGeom>
                <a:avLst/>
                <a:gdLst/>
                <a:ahLst/>
                <a:cxnLst/>
                <a:rect r="r" b="b" t="t" l="l"/>
                <a:pathLst>
                  <a:path h="5120363" w="4681474">
                    <a:moveTo>
                      <a:pt x="0" y="206970"/>
                    </a:moveTo>
                    <a:cubicBezTo>
                      <a:pt x="0" y="92772"/>
                      <a:pt x="53467" y="0"/>
                      <a:pt x="119380" y="0"/>
                    </a:cubicBezTo>
                    <a:lnTo>
                      <a:pt x="4562094" y="0"/>
                    </a:lnTo>
                    <a:lnTo>
                      <a:pt x="4562094" y="16346"/>
                    </a:lnTo>
                    <a:lnTo>
                      <a:pt x="4562094" y="0"/>
                    </a:lnTo>
                    <a:cubicBezTo>
                      <a:pt x="4628007" y="0"/>
                      <a:pt x="4681474" y="92772"/>
                      <a:pt x="4681474" y="206970"/>
                    </a:cubicBezTo>
                    <a:lnTo>
                      <a:pt x="4672076" y="206970"/>
                    </a:lnTo>
                    <a:lnTo>
                      <a:pt x="4681474" y="206970"/>
                    </a:lnTo>
                    <a:lnTo>
                      <a:pt x="4681474" y="4913392"/>
                    </a:lnTo>
                    <a:lnTo>
                      <a:pt x="4672076" y="4913392"/>
                    </a:lnTo>
                    <a:lnTo>
                      <a:pt x="4681474" y="4913392"/>
                    </a:lnTo>
                    <a:cubicBezTo>
                      <a:pt x="4681474" y="5027812"/>
                      <a:pt x="4628007" y="5120363"/>
                      <a:pt x="4562094" y="5120363"/>
                    </a:cubicBezTo>
                    <a:lnTo>
                      <a:pt x="4562094" y="5104017"/>
                    </a:lnTo>
                    <a:lnTo>
                      <a:pt x="4562094" y="5120363"/>
                    </a:lnTo>
                    <a:lnTo>
                      <a:pt x="119380" y="5120363"/>
                    </a:lnTo>
                    <a:lnTo>
                      <a:pt x="119380" y="5104017"/>
                    </a:lnTo>
                    <a:lnTo>
                      <a:pt x="119380" y="5120363"/>
                    </a:lnTo>
                    <a:cubicBezTo>
                      <a:pt x="53467" y="5120363"/>
                      <a:pt x="0" y="5027590"/>
                      <a:pt x="0" y="4913392"/>
                    </a:cubicBezTo>
                    <a:lnTo>
                      <a:pt x="0" y="206970"/>
                    </a:lnTo>
                    <a:lnTo>
                      <a:pt x="9398" y="206970"/>
                    </a:lnTo>
                    <a:lnTo>
                      <a:pt x="0" y="206970"/>
                    </a:lnTo>
                    <a:moveTo>
                      <a:pt x="18669" y="206970"/>
                    </a:moveTo>
                    <a:lnTo>
                      <a:pt x="18669" y="4913392"/>
                    </a:lnTo>
                    <a:lnTo>
                      <a:pt x="9398" y="4913392"/>
                    </a:lnTo>
                    <a:lnTo>
                      <a:pt x="18796" y="4913392"/>
                    </a:lnTo>
                    <a:cubicBezTo>
                      <a:pt x="18796" y="5009699"/>
                      <a:pt x="63754" y="5087892"/>
                      <a:pt x="119380" y="5087892"/>
                    </a:cubicBezTo>
                    <a:lnTo>
                      <a:pt x="4562094" y="5087892"/>
                    </a:lnTo>
                    <a:cubicBezTo>
                      <a:pt x="4617720" y="5087892"/>
                      <a:pt x="4662678" y="5009699"/>
                      <a:pt x="4662678" y="4913392"/>
                    </a:cubicBezTo>
                    <a:lnTo>
                      <a:pt x="4662678" y="206970"/>
                    </a:lnTo>
                    <a:cubicBezTo>
                      <a:pt x="4662678" y="110664"/>
                      <a:pt x="4617720" y="32470"/>
                      <a:pt x="4562094" y="32470"/>
                    </a:cubicBezTo>
                    <a:lnTo>
                      <a:pt x="119380" y="32470"/>
                    </a:lnTo>
                    <a:lnTo>
                      <a:pt x="119380" y="16346"/>
                    </a:lnTo>
                    <a:lnTo>
                      <a:pt x="119380" y="32691"/>
                    </a:lnTo>
                    <a:cubicBezTo>
                      <a:pt x="63754" y="32691"/>
                      <a:pt x="18796" y="110885"/>
                      <a:pt x="18796" y="207191"/>
                    </a:cubicBezTo>
                    <a:close/>
                  </a:path>
                </a:pathLst>
              </a:custGeom>
              <a:solidFill>
                <a:srgbClr val="C9D6DF"/>
              </a:solidFill>
            </p:spPr>
          </p:sp>
        </p:grpSp>
        <p:grpSp>
          <p:nvGrpSpPr>
            <p:cNvPr name="Group 40" id="40"/>
            <p:cNvGrpSpPr/>
            <p:nvPr/>
          </p:nvGrpSpPr>
          <p:grpSpPr>
            <a:xfrm rot="0">
              <a:off x="306718" y="379438"/>
              <a:ext cx="64084" cy="2203196"/>
              <a:chOff x="0" y="0"/>
              <a:chExt cx="64084" cy="2203196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31623"/>
                <a:ext cx="64135" cy="2139823"/>
              </a:xfrm>
              <a:custGeom>
                <a:avLst/>
                <a:gdLst/>
                <a:ahLst/>
                <a:cxnLst/>
                <a:rect r="r" b="b" t="t" l="l"/>
                <a:pathLst>
                  <a:path h="2139823" w="64135">
                    <a:moveTo>
                      <a:pt x="63373" y="0"/>
                    </a:moveTo>
                    <a:lnTo>
                      <a:pt x="64135" y="2139823"/>
                    </a:lnTo>
                    <a:lnTo>
                      <a:pt x="762" y="2139823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E76F51"/>
              </a:solidFill>
            </p:spPr>
          </p:sp>
        </p:grpSp>
        <p:grpSp>
          <p:nvGrpSpPr>
            <p:cNvPr name="Group 42" id="42"/>
            <p:cNvGrpSpPr/>
            <p:nvPr/>
          </p:nvGrpSpPr>
          <p:grpSpPr>
            <a:xfrm rot="0">
              <a:off x="649440" y="338404"/>
              <a:ext cx="3656876" cy="506356"/>
              <a:chOff x="0" y="0"/>
              <a:chExt cx="3656876" cy="506356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3656880" cy="506356"/>
              </a:xfrm>
              <a:custGeom>
                <a:avLst/>
                <a:gdLst/>
                <a:ahLst/>
                <a:cxnLst/>
                <a:rect r="r" b="b" t="t" l="l"/>
                <a:pathLst>
                  <a:path h="506356" w="3656880">
                    <a:moveTo>
                      <a:pt x="0" y="0"/>
                    </a:moveTo>
                    <a:lnTo>
                      <a:pt x="3656880" y="0"/>
                    </a:lnTo>
                    <a:lnTo>
                      <a:pt x="3656880" y="506356"/>
                    </a:lnTo>
                    <a:lnTo>
                      <a:pt x="0" y="5063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7422" r="0" b="-84017"/>
                </a:stretch>
              </a:blipFill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0" y="-9525"/>
                <a:ext cx="3656876" cy="51588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29"/>
                  </a:lnSpc>
                </a:pPr>
                <a:r>
                  <a:rPr lang="en-US" sz="2024" b="true">
                    <a:solidFill>
                      <a:srgbClr val="0B1F33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Bu sonuçta</a:t>
                </a: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0">
              <a:off x="649440" y="978484"/>
              <a:ext cx="3656876" cy="3560773"/>
              <a:chOff x="0" y="0"/>
              <a:chExt cx="3656876" cy="3560773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3656880" cy="3560763"/>
              </a:xfrm>
              <a:custGeom>
                <a:avLst/>
                <a:gdLst/>
                <a:ahLst/>
                <a:cxnLst/>
                <a:rect r="r" b="b" t="t" l="l"/>
                <a:pathLst>
                  <a:path h="3560763" w="3656880">
                    <a:moveTo>
                      <a:pt x="0" y="0"/>
                    </a:moveTo>
                    <a:lnTo>
                      <a:pt x="3656880" y="0"/>
                    </a:lnTo>
                    <a:lnTo>
                      <a:pt x="3656880" y="3560763"/>
                    </a:lnTo>
                    <a:lnTo>
                      <a:pt x="0" y="3560763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9011" t="0" r="-9011" b="52765"/>
                </a:stretch>
              </a:blip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0" y="9525"/>
                <a:ext cx="3656876" cy="3551248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585"/>
                  </a:lnSpc>
                </a:pPr>
                <a:r>
                  <a:rPr lang="en-US" sz="2154">
                    <a:solidFill>
                      <a:srgbClr val="52616F"/>
                    </a:solidFill>
                    <a:latin typeface="Aptos"/>
                    <a:ea typeface="Aptos"/>
                    <a:cs typeface="Aptos"/>
                    <a:sym typeface="Aptos"/>
                  </a:rPr>
                  <a:t>BERTurk light hem macro-F1 hem classwise ECE açısından dengeli görünüyor; bu yüzden yalnızca en yüksek PR-AUC’a göre seçim yapılmadı.</a:t>
                </a:r>
              </a:p>
            </p:txBody>
          </p:sp>
        </p:grpSp>
      </p:grpSp>
    </p:spTree>
  </p:cSld>
  <p:clrMapOvr>
    <a:masterClrMapping/>
  </p:clrMapOvr>
  <p:transition spd="fast">
    <p:fade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449" y="-9449"/>
            <a:ext cx="18306002" cy="10305364"/>
            <a:chOff x="0" y="0"/>
            <a:chExt cx="24408003" cy="137404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573" y="12573"/>
              <a:ext cx="24382857" cy="13715364"/>
            </a:xfrm>
            <a:custGeom>
              <a:avLst/>
              <a:gdLst/>
              <a:ahLst/>
              <a:cxnLst/>
              <a:rect r="r" b="b" t="t" l="l"/>
              <a:pathLst>
                <a:path h="13715364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3715364"/>
                  </a:lnTo>
                  <a:lnTo>
                    <a:pt x="0" y="13715364"/>
                  </a:lnTo>
                  <a:close/>
                </a:path>
              </a:pathLst>
            </a:custGeom>
            <a:solidFill>
              <a:srgbClr val="F7F9FC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408003" cy="13740510"/>
            </a:xfrm>
            <a:custGeom>
              <a:avLst/>
              <a:gdLst/>
              <a:ahLst/>
              <a:cxnLst/>
              <a:rect r="r" b="b" t="t" l="l"/>
              <a:pathLst>
                <a:path h="13740510" w="24408003">
                  <a:moveTo>
                    <a:pt x="12573" y="0"/>
                  </a:moveTo>
                  <a:lnTo>
                    <a:pt x="24395430" y="0"/>
                  </a:lnTo>
                  <a:cubicBezTo>
                    <a:pt x="24402416" y="0"/>
                    <a:pt x="24408003" y="5588"/>
                    <a:pt x="24408003" y="12573"/>
                  </a:cubicBezTo>
                  <a:lnTo>
                    <a:pt x="24408003" y="13727937"/>
                  </a:lnTo>
                  <a:cubicBezTo>
                    <a:pt x="24408003" y="13734923"/>
                    <a:pt x="24402416" y="13740510"/>
                    <a:pt x="24395430" y="13740510"/>
                  </a:cubicBezTo>
                  <a:lnTo>
                    <a:pt x="12573" y="13740510"/>
                  </a:lnTo>
                  <a:cubicBezTo>
                    <a:pt x="5588" y="13740510"/>
                    <a:pt x="0" y="13734923"/>
                    <a:pt x="0" y="13727937"/>
                  </a:cubicBezTo>
                  <a:lnTo>
                    <a:pt x="0" y="12573"/>
                  </a:lnTo>
                  <a:cubicBezTo>
                    <a:pt x="0" y="5588"/>
                    <a:pt x="5588" y="0"/>
                    <a:pt x="12573" y="0"/>
                  </a:cubicBezTo>
                  <a:moveTo>
                    <a:pt x="12573" y="25146"/>
                  </a:moveTo>
                  <a:lnTo>
                    <a:pt x="12573" y="12573"/>
                  </a:lnTo>
                  <a:lnTo>
                    <a:pt x="25146" y="12573"/>
                  </a:lnTo>
                  <a:lnTo>
                    <a:pt x="25146" y="13727937"/>
                  </a:lnTo>
                  <a:lnTo>
                    <a:pt x="12573" y="13727937"/>
                  </a:lnTo>
                  <a:lnTo>
                    <a:pt x="12573" y="13715364"/>
                  </a:lnTo>
                  <a:lnTo>
                    <a:pt x="24395430" y="13715364"/>
                  </a:lnTo>
                  <a:lnTo>
                    <a:pt x="24395430" y="13727937"/>
                  </a:lnTo>
                  <a:lnTo>
                    <a:pt x="24382857" y="13727937"/>
                  </a:lnTo>
                  <a:lnTo>
                    <a:pt x="24382857" y="12573"/>
                  </a:lnTo>
                  <a:lnTo>
                    <a:pt x="24395430" y="12573"/>
                  </a:lnTo>
                  <a:lnTo>
                    <a:pt x="24395430" y="25146"/>
                  </a:lnTo>
                  <a:lnTo>
                    <a:pt x="12573" y="25146"/>
                  </a:lnTo>
                  <a:close/>
                </a:path>
              </a:pathLst>
            </a:custGeom>
            <a:solidFill>
              <a:srgbClr val="F7F9F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883977" y="9703260"/>
            <a:ext cx="16542896" cy="15659"/>
            <a:chOff x="0" y="0"/>
            <a:chExt cx="22057195" cy="2087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033" y="0"/>
              <a:ext cx="22037040" cy="20955"/>
            </a:xfrm>
            <a:custGeom>
              <a:avLst/>
              <a:gdLst/>
              <a:ahLst/>
              <a:cxnLst/>
              <a:rect r="r" b="b" t="t" l="l"/>
              <a:pathLst>
                <a:path h="20955" w="22037040">
                  <a:moveTo>
                    <a:pt x="0" y="0"/>
                  </a:moveTo>
                  <a:lnTo>
                    <a:pt x="22037040" y="762"/>
                  </a:lnTo>
                  <a:lnTo>
                    <a:pt x="22037040" y="20955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D9E3EA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891540" y="9820437"/>
            <a:ext cx="3016977" cy="273777"/>
            <a:chOff x="0" y="0"/>
            <a:chExt cx="4022636" cy="3650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022640" cy="365040"/>
            </a:xfrm>
            <a:custGeom>
              <a:avLst/>
              <a:gdLst/>
              <a:ahLst/>
              <a:cxnLst/>
              <a:rect r="r" b="b" t="t" l="l"/>
              <a:pathLst>
                <a:path h="365040" w="4022640">
                  <a:moveTo>
                    <a:pt x="0" y="0"/>
                  </a:moveTo>
                  <a:lnTo>
                    <a:pt x="4022640" y="0"/>
                  </a:lnTo>
                  <a:lnTo>
                    <a:pt x="402264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4720" r="0" b="-16471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4022636" cy="3650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170"/>
                </a:lnSpc>
              </a:pPr>
              <a:r>
                <a:rPr lang="en-US" sz="975">
                  <a:solidFill>
                    <a:srgbClr val="6B7A88"/>
                  </a:solidFill>
                  <a:latin typeface="Aptos"/>
                  <a:ea typeface="Aptos"/>
                  <a:cs typeface="Aptos"/>
                  <a:sym typeface="Aptos"/>
                </a:rPr>
                <a:t>YZM304 Project 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853160" y="480060"/>
            <a:ext cx="3497037" cy="273777"/>
            <a:chOff x="0" y="0"/>
            <a:chExt cx="4662716" cy="36503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662720" cy="365040"/>
            </a:xfrm>
            <a:custGeom>
              <a:avLst/>
              <a:gdLst/>
              <a:ahLst/>
              <a:cxnLst/>
              <a:rect r="r" b="b" t="t" l="l"/>
              <a:pathLst>
                <a:path h="365040" w="4662720">
                  <a:moveTo>
                    <a:pt x="0" y="0"/>
                  </a:moveTo>
                  <a:lnTo>
                    <a:pt x="4662720" y="0"/>
                  </a:lnTo>
                  <a:lnTo>
                    <a:pt x="466272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886" r="0" b="-19888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4662716" cy="3745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DISCUSSION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91540" y="576177"/>
            <a:ext cx="12206697" cy="603180"/>
            <a:chOff x="0" y="0"/>
            <a:chExt cx="16275596" cy="8042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6275600" cy="804240"/>
            </a:xfrm>
            <a:custGeom>
              <a:avLst/>
              <a:gdLst/>
              <a:ahLst/>
              <a:cxnLst/>
              <a:rect r="r" b="b" t="t" l="l"/>
              <a:pathLst>
                <a:path h="804240" w="16275600">
                  <a:moveTo>
                    <a:pt x="0" y="0"/>
                  </a:moveTo>
                  <a:lnTo>
                    <a:pt x="16275600" y="0"/>
                  </a:lnTo>
                  <a:lnTo>
                    <a:pt x="16275600" y="804240"/>
                  </a:lnTo>
                  <a:lnTo>
                    <a:pt x="0" y="804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4323" r="0" b="-344323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47625"/>
              <a:ext cx="16275596" cy="7566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96"/>
                </a:lnSpc>
              </a:pPr>
              <a:r>
                <a:rPr lang="en-US" sz="3330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Threshold seçimi moderasyon davranışını değiştiriyor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62917" y="1369981"/>
            <a:ext cx="1223096" cy="57779"/>
            <a:chOff x="0" y="0"/>
            <a:chExt cx="1630794" cy="7703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38100" y="0"/>
              <a:ext cx="1554607" cy="77089"/>
            </a:xfrm>
            <a:custGeom>
              <a:avLst/>
              <a:gdLst/>
              <a:ahLst/>
              <a:cxnLst/>
              <a:rect r="r" b="b" t="t" l="l"/>
              <a:pathLst>
                <a:path h="77089" w="1554607">
                  <a:moveTo>
                    <a:pt x="127" y="0"/>
                  </a:moveTo>
                  <a:lnTo>
                    <a:pt x="1554607" y="762"/>
                  </a:lnTo>
                  <a:lnTo>
                    <a:pt x="1554607" y="77089"/>
                  </a:lnTo>
                  <a:lnTo>
                    <a:pt x="0" y="76327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891540" y="1563843"/>
            <a:ext cx="13166817" cy="342357"/>
            <a:chOff x="0" y="0"/>
            <a:chExt cx="17555756" cy="4564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555759" cy="456480"/>
            </a:xfrm>
            <a:custGeom>
              <a:avLst/>
              <a:gdLst/>
              <a:ahLst/>
              <a:cxnLst/>
              <a:rect r="r" b="b" t="t" l="l"/>
              <a:pathLst>
                <a:path h="456480" w="17555759">
                  <a:moveTo>
                    <a:pt x="0" y="0"/>
                  </a:moveTo>
                  <a:lnTo>
                    <a:pt x="17555759" y="0"/>
                  </a:lnTo>
                  <a:lnTo>
                    <a:pt x="17555759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375" r="0" b="-69937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7555756" cy="4564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Model çıktısı tek başına karar değildir; deployment davranışı seçilen politikayla belirlenir.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91540" y="2954809"/>
            <a:ext cx="7766571" cy="4659597"/>
            <a:chOff x="0" y="0"/>
            <a:chExt cx="9753117" cy="5851436"/>
          </a:xfrm>
        </p:grpSpPr>
        <p:sp>
          <p:nvSpPr>
            <p:cNvPr name="Freeform 22" id="22" descr="/mnt/data/p7_extract/ppt/media/image8.png"/>
            <p:cNvSpPr/>
            <p:nvPr/>
          </p:nvSpPr>
          <p:spPr>
            <a:xfrm flipH="false" flipV="false" rot="0">
              <a:off x="0" y="0"/>
              <a:ext cx="9753092" cy="5851398"/>
            </a:xfrm>
            <a:custGeom>
              <a:avLst/>
              <a:gdLst/>
              <a:ahLst/>
              <a:cxnLst/>
              <a:rect r="r" b="b" t="t" l="l"/>
              <a:pathLst>
                <a:path h="5851398" w="9753092">
                  <a:moveTo>
                    <a:pt x="0" y="0"/>
                  </a:moveTo>
                  <a:lnTo>
                    <a:pt x="9753092" y="0"/>
                  </a:lnTo>
                  <a:lnTo>
                    <a:pt x="9753092" y="5851398"/>
                  </a:lnTo>
                  <a:lnTo>
                    <a:pt x="0" y="58513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3" r="0" b="-4"/>
              </a:stretch>
            </a:blipFill>
          </p:spPr>
        </p:sp>
      </p:grpSp>
      <p:graphicFrame>
        <p:nvGraphicFramePr>
          <p:cNvPr name="Table 23" id="23"/>
          <p:cNvGraphicFramePr>
            <a:graphicFrameLocks noGrp="true"/>
          </p:cNvGraphicFramePr>
          <p:nvPr/>
        </p:nvGraphicFramePr>
        <p:xfrm>
          <a:off x="9515313" y="2496155"/>
          <a:ext cx="6991350" cy="2026453"/>
        </p:xfrm>
        <a:graphic>
          <a:graphicData uri="http://schemas.openxmlformats.org/drawingml/2006/table">
            <a:tbl>
              <a:tblPr/>
              <a:tblGrid>
                <a:gridCol w="2044871"/>
                <a:gridCol w="826899"/>
                <a:gridCol w="1029895"/>
                <a:gridCol w="1029895"/>
                <a:gridCol w="1029895"/>
                <a:gridCol w="1029895"/>
              </a:tblGrid>
              <a:tr h="67548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Policy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Thr.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Prec.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Rec.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F1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Aptos Bold"/>
                          <a:ea typeface="Aptos Bold"/>
                          <a:cs typeface="Aptos Bold"/>
                          <a:sym typeface="Aptos Bold"/>
                        </a:rPr>
                        <a:t>Flagged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</a:tr>
              <a:tr h="67548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best_f1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0.58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0.9734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0.9736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0.9735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51.6%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48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recall_floor_90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0.95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0.9934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0.9226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0.9567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0B1F33"/>
                          </a:solidFill>
                          <a:latin typeface="Aptos"/>
                          <a:ea typeface="Aptos"/>
                          <a:cs typeface="Aptos"/>
                          <a:sym typeface="Aptos"/>
                        </a:rPr>
                        <a:t>47.9%</a:t>
                      </a:r>
                      <a:endParaRPr lang="en-US" sz="1100"/>
                    </a:p>
                  </a:txBody>
                  <a:tcPr marL="36360" marR="36360" marT="36360" marB="36360" anchor="t">
                    <a:lnL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040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grpSp>
        <p:nvGrpSpPr>
          <p:cNvPr name="Group 24" id="24"/>
          <p:cNvGrpSpPr/>
          <p:nvPr/>
        </p:nvGrpSpPr>
        <p:grpSpPr>
          <a:xfrm rot="0">
            <a:off x="9515313" y="4631073"/>
            <a:ext cx="3236757" cy="2983333"/>
            <a:chOff x="0" y="0"/>
            <a:chExt cx="4315676" cy="3977777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4315676" cy="3977777"/>
              <a:chOff x="0" y="0"/>
              <a:chExt cx="4315676" cy="397777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9271" y="15606"/>
                <a:ext cx="4297045" cy="3946629"/>
              </a:xfrm>
              <a:custGeom>
                <a:avLst/>
                <a:gdLst/>
                <a:ahLst/>
                <a:cxnLst/>
                <a:rect r="r" b="b" t="t" l="l"/>
                <a:pathLst>
                  <a:path h="3946629" w="4297045">
                    <a:moveTo>
                      <a:pt x="127" y="182000"/>
                    </a:moveTo>
                    <a:cubicBezTo>
                      <a:pt x="127" y="81404"/>
                      <a:pt x="49403" y="0"/>
                      <a:pt x="110109" y="0"/>
                    </a:cubicBezTo>
                    <a:lnTo>
                      <a:pt x="4186936" y="0"/>
                    </a:lnTo>
                    <a:cubicBezTo>
                      <a:pt x="4247769" y="0"/>
                      <a:pt x="4297045" y="81615"/>
                      <a:pt x="4297045" y="182210"/>
                    </a:cubicBezTo>
                    <a:lnTo>
                      <a:pt x="4297045" y="3764418"/>
                    </a:lnTo>
                    <a:cubicBezTo>
                      <a:pt x="4297045" y="3865014"/>
                      <a:pt x="4247769" y="3946629"/>
                      <a:pt x="4186936" y="3946629"/>
                    </a:cubicBezTo>
                    <a:lnTo>
                      <a:pt x="110109" y="3946629"/>
                    </a:lnTo>
                    <a:cubicBezTo>
                      <a:pt x="49276" y="3946629"/>
                      <a:pt x="0" y="3865014"/>
                      <a:pt x="0" y="3764418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4315587" cy="3977630"/>
              </a:xfrm>
              <a:custGeom>
                <a:avLst/>
                <a:gdLst/>
                <a:ahLst/>
                <a:cxnLst/>
                <a:rect r="r" b="b" t="t" l="l"/>
                <a:pathLst>
                  <a:path h="3977630" w="4315587">
                    <a:moveTo>
                      <a:pt x="0" y="197606"/>
                    </a:moveTo>
                    <a:cubicBezTo>
                      <a:pt x="0" y="88364"/>
                      <a:pt x="53467" y="0"/>
                      <a:pt x="119380" y="0"/>
                    </a:cubicBezTo>
                    <a:lnTo>
                      <a:pt x="4196207" y="0"/>
                    </a:lnTo>
                    <a:lnTo>
                      <a:pt x="4196207" y="15606"/>
                    </a:lnTo>
                    <a:lnTo>
                      <a:pt x="4196207" y="0"/>
                    </a:lnTo>
                    <a:cubicBezTo>
                      <a:pt x="4262120" y="0"/>
                      <a:pt x="4315587" y="88364"/>
                      <a:pt x="4315587" y="197606"/>
                    </a:cubicBezTo>
                    <a:lnTo>
                      <a:pt x="4306189" y="197606"/>
                    </a:lnTo>
                    <a:lnTo>
                      <a:pt x="4315587" y="197606"/>
                    </a:lnTo>
                    <a:lnTo>
                      <a:pt x="4315587" y="3780024"/>
                    </a:lnTo>
                    <a:lnTo>
                      <a:pt x="4306189" y="3780024"/>
                    </a:lnTo>
                    <a:lnTo>
                      <a:pt x="4315587" y="3780024"/>
                    </a:lnTo>
                    <a:cubicBezTo>
                      <a:pt x="4315587" y="3889266"/>
                      <a:pt x="4262120" y="3977630"/>
                      <a:pt x="4196207" y="3977630"/>
                    </a:cubicBezTo>
                    <a:lnTo>
                      <a:pt x="4196207" y="3962024"/>
                    </a:lnTo>
                    <a:lnTo>
                      <a:pt x="4196207" y="3977630"/>
                    </a:lnTo>
                    <a:lnTo>
                      <a:pt x="119380" y="3977630"/>
                    </a:lnTo>
                    <a:lnTo>
                      <a:pt x="119380" y="3962024"/>
                    </a:lnTo>
                    <a:lnTo>
                      <a:pt x="119380" y="3977630"/>
                    </a:lnTo>
                    <a:cubicBezTo>
                      <a:pt x="53467" y="3977630"/>
                      <a:pt x="0" y="3889266"/>
                      <a:pt x="0" y="3780024"/>
                    </a:cubicBezTo>
                    <a:lnTo>
                      <a:pt x="0" y="197606"/>
                    </a:lnTo>
                    <a:lnTo>
                      <a:pt x="9398" y="197606"/>
                    </a:lnTo>
                    <a:lnTo>
                      <a:pt x="0" y="197606"/>
                    </a:lnTo>
                    <a:moveTo>
                      <a:pt x="18669" y="197606"/>
                    </a:moveTo>
                    <a:lnTo>
                      <a:pt x="18669" y="3780024"/>
                    </a:lnTo>
                    <a:lnTo>
                      <a:pt x="9398" y="3780024"/>
                    </a:lnTo>
                    <a:lnTo>
                      <a:pt x="18796" y="3780024"/>
                    </a:lnTo>
                    <a:cubicBezTo>
                      <a:pt x="18796" y="3871973"/>
                      <a:pt x="63881" y="3946629"/>
                      <a:pt x="119507" y="3946629"/>
                    </a:cubicBezTo>
                    <a:lnTo>
                      <a:pt x="4196207" y="3946629"/>
                    </a:lnTo>
                    <a:cubicBezTo>
                      <a:pt x="4251833" y="3946629"/>
                      <a:pt x="4296918" y="3871973"/>
                      <a:pt x="4296918" y="3780024"/>
                    </a:cubicBezTo>
                    <a:lnTo>
                      <a:pt x="4296918" y="197606"/>
                    </a:lnTo>
                    <a:cubicBezTo>
                      <a:pt x="4296918" y="105657"/>
                      <a:pt x="4251833" y="31001"/>
                      <a:pt x="4196207" y="31001"/>
                    </a:cubicBezTo>
                    <a:lnTo>
                      <a:pt x="119380" y="31001"/>
                    </a:lnTo>
                    <a:lnTo>
                      <a:pt x="119380" y="15606"/>
                    </a:lnTo>
                    <a:lnTo>
                      <a:pt x="119380" y="31212"/>
                    </a:lnTo>
                    <a:cubicBezTo>
                      <a:pt x="63754" y="31212"/>
                      <a:pt x="18669" y="105868"/>
                      <a:pt x="18669" y="197816"/>
                    </a:cubicBezTo>
                    <a:close/>
                  </a:path>
                </a:pathLst>
              </a:custGeom>
              <a:solidFill>
                <a:srgbClr val="C9D6DF"/>
              </a:solidFill>
            </p:spPr>
          </p:sp>
        </p:grpSp>
        <p:grpSp>
          <p:nvGrpSpPr>
            <p:cNvPr name="Group 28" id="28"/>
            <p:cNvGrpSpPr/>
            <p:nvPr/>
          </p:nvGrpSpPr>
          <p:grpSpPr>
            <a:xfrm rot="0">
              <a:off x="306718" y="379438"/>
              <a:ext cx="64084" cy="1654556"/>
              <a:chOff x="0" y="0"/>
              <a:chExt cx="64084" cy="1654556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31623"/>
                <a:ext cx="64135" cy="1591183"/>
              </a:xfrm>
              <a:custGeom>
                <a:avLst/>
                <a:gdLst/>
                <a:ahLst/>
                <a:cxnLst/>
                <a:rect r="r" b="b" t="t" l="l"/>
                <a:pathLst>
                  <a:path h="1591183" w="64135">
                    <a:moveTo>
                      <a:pt x="63373" y="0"/>
                    </a:moveTo>
                    <a:lnTo>
                      <a:pt x="64135" y="1591183"/>
                    </a:lnTo>
                    <a:lnTo>
                      <a:pt x="762" y="1591183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2A9D8F"/>
              </a:solidFill>
            </p:spPr>
          </p:sp>
        </p:grpSp>
        <p:grpSp>
          <p:nvGrpSpPr>
            <p:cNvPr name="Group 30" id="30"/>
            <p:cNvGrpSpPr/>
            <p:nvPr/>
          </p:nvGrpSpPr>
          <p:grpSpPr>
            <a:xfrm rot="0">
              <a:off x="649440" y="338404"/>
              <a:ext cx="3291116" cy="506356"/>
              <a:chOff x="0" y="0"/>
              <a:chExt cx="3291116" cy="506356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3291120" cy="506356"/>
              </a:xfrm>
              <a:custGeom>
                <a:avLst/>
                <a:gdLst/>
                <a:ahLst/>
                <a:cxnLst/>
                <a:rect r="r" b="b" t="t" l="l"/>
                <a:pathLst>
                  <a:path h="506356" w="3291120">
                    <a:moveTo>
                      <a:pt x="0" y="0"/>
                    </a:moveTo>
                    <a:lnTo>
                      <a:pt x="3291120" y="0"/>
                    </a:lnTo>
                    <a:lnTo>
                      <a:pt x="3291120" y="506356"/>
                    </a:lnTo>
                    <a:lnTo>
                      <a:pt x="0" y="5063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3347" r="0" b="-69942"/>
                </a:stretch>
              </a:blip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-9525"/>
                <a:ext cx="3291116" cy="51588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29"/>
                  </a:lnSpc>
                </a:pPr>
                <a:r>
                  <a:rPr lang="en-US" sz="2024" b="true">
                    <a:solidFill>
                      <a:srgbClr val="0B1F33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best_f1</a:t>
                </a:r>
              </a:p>
            </p:txBody>
          </p:sp>
        </p:grpSp>
        <p:grpSp>
          <p:nvGrpSpPr>
            <p:cNvPr name="Group 33" id="33"/>
            <p:cNvGrpSpPr/>
            <p:nvPr/>
          </p:nvGrpSpPr>
          <p:grpSpPr>
            <a:xfrm rot="0">
              <a:off x="649440" y="978484"/>
              <a:ext cx="3291116" cy="2816522"/>
              <a:chOff x="0" y="0"/>
              <a:chExt cx="3291116" cy="2816522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3291120" cy="2816511"/>
              </a:xfrm>
              <a:custGeom>
                <a:avLst/>
                <a:gdLst/>
                <a:ahLst/>
                <a:cxnLst/>
                <a:rect r="r" b="b" t="t" l="l"/>
                <a:pathLst>
                  <a:path h="2816511" w="3291120">
                    <a:moveTo>
                      <a:pt x="0" y="0"/>
                    </a:moveTo>
                    <a:lnTo>
                      <a:pt x="3291120" y="0"/>
                    </a:lnTo>
                    <a:lnTo>
                      <a:pt x="3291120" y="2816511"/>
                    </a:lnTo>
                    <a:lnTo>
                      <a:pt x="0" y="28165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649" r="0" b="57112"/>
                </a:stretch>
              </a:blipFill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0" y="28575"/>
                <a:ext cx="3291116" cy="2787947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317"/>
                  </a:lnSpc>
                </a:pPr>
                <a:r>
                  <a:rPr lang="en-US" sz="2145">
                    <a:solidFill>
                      <a:srgbClr val="52616F"/>
                    </a:solidFill>
                    <a:latin typeface="Aptos"/>
                    <a:ea typeface="Aptos"/>
                    <a:cs typeface="Aptos"/>
                    <a:sym typeface="Aptos"/>
                  </a:rPr>
                  <a:t>Dengeli politika: precision ve recall birlikte yüksek tutulur. Sunumda “genel kalite” senaryosu olarak anlatılabilir.</a:t>
                </a:r>
              </a:p>
            </p:txBody>
          </p:sp>
        </p:grpSp>
      </p:grpSp>
      <p:grpSp>
        <p:nvGrpSpPr>
          <p:cNvPr name="Group 36" id="36"/>
          <p:cNvGrpSpPr/>
          <p:nvPr/>
        </p:nvGrpSpPr>
        <p:grpSpPr>
          <a:xfrm rot="0">
            <a:off x="13150053" y="4631073"/>
            <a:ext cx="3236757" cy="2898803"/>
            <a:chOff x="0" y="0"/>
            <a:chExt cx="4315676" cy="3865071"/>
          </a:xfrm>
        </p:grpSpPr>
        <p:grpSp>
          <p:nvGrpSpPr>
            <p:cNvPr name="Group 37" id="37"/>
            <p:cNvGrpSpPr/>
            <p:nvPr/>
          </p:nvGrpSpPr>
          <p:grpSpPr>
            <a:xfrm rot="0">
              <a:off x="0" y="0"/>
              <a:ext cx="4315676" cy="3865071"/>
              <a:chOff x="0" y="0"/>
              <a:chExt cx="4315676" cy="3865071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9271" y="15164"/>
                <a:ext cx="4297045" cy="3834805"/>
              </a:xfrm>
              <a:custGeom>
                <a:avLst/>
                <a:gdLst/>
                <a:ahLst/>
                <a:cxnLst/>
                <a:rect r="r" b="b" t="t" l="l"/>
                <a:pathLst>
                  <a:path h="3834805" w="4297045">
                    <a:moveTo>
                      <a:pt x="127" y="176843"/>
                    </a:moveTo>
                    <a:cubicBezTo>
                      <a:pt x="127" y="79098"/>
                      <a:pt x="49403" y="0"/>
                      <a:pt x="110109" y="0"/>
                    </a:cubicBezTo>
                    <a:lnTo>
                      <a:pt x="4186936" y="0"/>
                    </a:lnTo>
                    <a:cubicBezTo>
                      <a:pt x="4247769" y="0"/>
                      <a:pt x="4297045" y="79302"/>
                      <a:pt x="4297045" y="177048"/>
                    </a:cubicBezTo>
                    <a:lnTo>
                      <a:pt x="4297045" y="3657757"/>
                    </a:lnTo>
                    <a:cubicBezTo>
                      <a:pt x="4297045" y="3755502"/>
                      <a:pt x="4247769" y="3834804"/>
                      <a:pt x="4186936" y="3834804"/>
                    </a:cubicBezTo>
                    <a:lnTo>
                      <a:pt x="110109" y="3834804"/>
                    </a:lnTo>
                    <a:cubicBezTo>
                      <a:pt x="49276" y="3834804"/>
                      <a:pt x="0" y="3755502"/>
                      <a:pt x="0" y="3657757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4315587" cy="3864927"/>
              </a:xfrm>
              <a:custGeom>
                <a:avLst/>
                <a:gdLst/>
                <a:ahLst/>
                <a:cxnLst/>
                <a:rect r="r" b="b" t="t" l="l"/>
                <a:pathLst>
                  <a:path h="3864927" w="4315587">
                    <a:moveTo>
                      <a:pt x="0" y="192007"/>
                    </a:moveTo>
                    <a:cubicBezTo>
                      <a:pt x="0" y="85860"/>
                      <a:pt x="53467" y="0"/>
                      <a:pt x="119380" y="0"/>
                    </a:cubicBezTo>
                    <a:lnTo>
                      <a:pt x="4196207" y="0"/>
                    </a:lnTo>
                    <a:lnTo>
                      <a:pt x="4196207" y="15164"/>
                    </a:lnTo>
                    <a:lnTo>
                      <a:pt x="4196207" y="0"/>
                    </a:lnTo>
                    <a:cubicBezTo>
                      <a:pt x="4262120" y="0"/>
                      <a:pt x="4315587" y="85860"/>
                      <a:pt x="4315587" y="192007"/>
                    </a:cubicBezTo>
                    <a:lnTo>
                      <a:pt x="4306189" y="192007"/>
                    </a:lnTo>
                    <a:lnTo>
                      <a:pt x="4315587" y="192007"/>
                    </a:lnTo>
                    <a:lnTo>
                      <a:pt x="4315587" y="3672921"/>
                    </a:lnTo>
                    <a:lnTo>
                      <a:pt x="4306189" y="3672921"/>
                    </a:lnTo>
                    <a:lnTo>
                      <a:pt x="4315587" y="3672921"/>
                    </a:lnTo>
                    <a:cubicBezTo>
                      <a:pt x="4315587" y="3779068"/>
                      <a:pt x="4262120" y="3864927"/>
                      <a:pt x="4196207" y="3864927"/>
                    </a:cubicBezTo>
                    <a:lnTo>
                      <a:pt x="4196207" y="3849764"/>
                    </a:lnTo>
                    <a:lnTo>
                      <a:pt x="4196207" y="3864927"/>
                    </a:lnTo>
                    <a:lnTo>
                      <a:pt x="119380" y="3864927"/>
                    </a:lnTo>
                    <a:lnTo>
                      <a:pt x="119380" y="3849764"/>
                    </a:lnTo>
                    <a:lnTo>
                      <a:pt x="119380" y="3864927"/>
                    </a:lnTo>
                    <a:cubicBezTo>
                      <a:pt x="53467" y="3864927"/>
                      <a:pt x="0" y="3779068"/>
                      <a:pt x="0" y="3672921"/>
                    </a:cubicBezTo>
                    <a:lnTo>
                      <a:pt x="0" y="192007"/>
                    </a:lnTo>
                    <a:lnTo>
                      <a:pt x="9398" y="192007"/>
                    </a:lnTo>
                    <a:lnTo>
                      <a:pt x="0" y="192007"/>
                    </a:lnTo>
                    <a:moveTo>
                      <a:pt x="18669" y="192007"/>
                    </a:moveTo>
                    <a:lnTo>
                      <a:pt x="18669" y="3672921"/>
                    </a:lnTo>
                    <a:lnTo>
                      <a:pt x="9398" y="3672921"/>
                    </a:lnTo>
                    <a:lnTo>
                      <a:pt x="18796" y="3672921"/>
                    </a:lnTo>
                    <a:cubicBezTo>
                      <a:pt x="18796" y="3762265"/>
                      <a:pt x="63881" y="3834805"/>
                      <a:pt x="119507" y="3834805"/>
                    </a:cubicBezTo>
                    <a:lnTo>
                      <a:pt x="4196207" y="3834805"/>
                    </a:lnTo>
                    <a:cubicBezTo>
                      <a:pt x="4251833" y="3834805"/>
                      <a:pt x="4296918" y="3762265"/>
                      <a:pt x="4296918" y="3672921"/>
                    </a:cubicBezTo>
                    <a:lnTo>
                      <a:pt x="4296918" y="192007"/>
                    </a:lnTo>
                    <a:cubicBezTo>
                      <a:pt x="4296918" y="102663"/>
                      <a:pt x="4251833" y="30123"/>
                      <a:pt x="4196207" y="30123"/>
                    </a:cubicBezTo>
                    <a:lnTo>
                      <a:pt x="119380" y="30123"/>
                    </a:lnTo>
                    <a:lnTo>
                      <a:pt x="119380" y="15164"/>
                    </a:lnTo>
                    <a:lnTo>
                      <a:pt x="119380" y="30328"/>
                    </a:lnTo>
                    <a:cubicBezTo>
                      <a:pt x="63754" y="30328"/>
                      <a:pt x="18669" y="102868"/>
                      <a:pt x="18669" y="192212"/>
                    </a:cubicBezTo>
                    <a:close/>
                  </a:path>
                </a:pathLst>
              </a:custGeom>
              <a:solidFill>
                <a:srgbClr val="C9D6DF"/>
              </a:solidFill>
            </p:spPr>
          </p:sp>
        </p:grpSp>
        <p:grpSp>
          <p:nvGrpSpPr>
            <p:cNvPr name="Group 40" id="40"/>
            <p:cNvGrpSpPr/>
            <p:nvPr/>
          </p:nvGrpSpPr>
          <p:grpSpPr>
            <a:xfrm rot="0">
              <a:off x="306718" y="379438"/>
              <a:ext cx="64084" cy="1654556"/>
              <a:chOff x="0" y="0"/>
              <a:chExt cx="64084" cy="1654556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31623"/>
                <a:ext cx="64135" cy="1591183"/>
              </a:xfrm>
              <a:custGeom>
                <a:avLst/>
                <a:gdLst/>
                <a:ahLst/>
                <a:cxnLst/>
                <a:rect r="r" b="b" t="t" l="l"/>
                <a:pathLst>
                  <a:path h="1591183" w="64135">
                    <a:moveTo>
                      <a:pt x="63373" y="0"/>
                    </a:moveTo>
                    <a:lnTo>
                      <a:pt x="64135" y="1591183"/>
                    </a:lnTo>
                    <a:lnTo>
                      <a:pt x="762" y="1591183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E76F51"/>
              </a:solidFill>
            </p:spPr>
          </p:sp>
        </p:grpSp>
        <p:grpSp>
          <p:nvGrpSpPr>
            <p:cNvPr name="Group 42" id="42"/>
            <p:cNvGrpSpPr/>
            <p:nvPr/>
          </p:nvGrpSpPr>
          <p:grpSpPr>
            <a:xfrm rot="0">
              <a:off x="649440" y="338404"/>
              <a:ext cx="3291116" cy="506356"/>
              <a:chOff x="0" y="0"/>
              <a:chExt cx="3291116" cy="506356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3291120" cy="506356"/>
              </a:xfrm>
              <a:custGeom>
                <a:avLst/>
                <a:gdLst/>
                <a:ahLst/>
                <a:cxnLst/>
                <a:rect r="r" b="b" t="t" l="l"/>
                <a:pathLst>
                  <a:path h="506356" w="3291120">
                    <a:moveTo>
                      <a:pt x="0" y="0"/>
                    </a:moveTo>
                    <a:lnTo>
                      <a:pt x="3291120" y="0"/>
                    </a:lnTo>
                    <a:lnTo>
                      <a:pt x="3291120" y="506356"/>
                    </a:lnTo>
                    <a:lnTo>
                      <a:pt x="0" y="5063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3347" r="0" b="-69942"/>
                </a:stretch>
              </a:blipFill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0" y="-9525"/>
                <a:ext cx="3291116" cy="51588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29"/>
                  </a:lnSpc>
                </a:pPr>
                <a:r>
                  <a:rPr lang="en-US" sz="2024" b="true">
                    <a:solidFill>
                      <a:srgbClr val="0B1F33"/>
                    </a:solidFill>
                    <a:latin typeface="Aptos Bold"/>
                    <a:ea typeface="Aptos Bold"/>
                    <a:cs typeface="Aptos Bold"/>
                    <a:sym typeface="Aptos Bold"/>
                  </a:rPr>
                  <a:t>recall_floor_90</a:t>
                </a: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0">
              <a:off x="649440" y="978484"/>
              <a:ext cx="3291116" cy="2435522"/>
              <a:chOff x="0" y="0"/>
              <a:chExt cx="3291116" cy="2435522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3291120" cy="2435512"/>
              </a:xfrm>
              <a:custGeom>
                <a:avLst/>
                <a:gdLst/>
                <a:ahLst/>
                <a:cxnLst/>
                <a:rect r="r" b="b" t="t" l="l"/>
                <a:pathLst>
                  <a:path h="2435512" w="3291120">
                    <a:moveTo>
                      <a:pt x="0" y="0"/>
                    </a:moveTo>
                    <a:lnTo>
                      <a:pt x="3291120" y="0"/>
                    </a:lnTo>
                    <a:lnTo>
                      <a:pt x="3291120" y="2435512"/>
                    </a:lnTo>
                    <a:lnTo>
                      <a:pt x="0" y="243551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064" r="0" b="50403"/>
                </a:stretch>
              </a:blip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0" y="28575"/>
                <a:ext cx="3291116" cy="2406947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317"/>
                  </a:lnSpc>
                </a:pPr>
                <a:r>
                  <a:rPr lang="en-US" sz="2145">
                    <a:solidFill>
                      <a:srgbClr val="52616F"/>
                    </a:solidFill>
                    <a:latin typeface="Aptos"/>
                    <a:ea typeface="Aptos"/>
                    <a:cs typeface="Aptos"/>
                    <a:sym typeface="Aptos"/>
                  </a:rPr>
                  <a:t>Daha seçici politika: precision artar; fakat kaçan toksik örnek sayısı yükselir. Kuruma göre tercih edilebilir.</a:t>
                </a:r>
              </a:p>
            </p:txBody>
          </p:sp>
        </p:grpSp>
      </p:grpSp>
      <p:grpSp>
        <p:nvGrpSpPr>
          <p:cNvPr name="Group 48" id="48"/>
          <p:cNvGrpSpPr/>
          <p:nvPr/>
        </p:nvGrpSpPr>
        <p:grpSpPr>
          <a:xfrm rot="0">
            <a:off x="9580626" y="7874844"/>
            <a:ext cx="1508217" cy="392069"/>
            <a:chOff x="0" y="0"/>
            <a:chExt cx="2010956" cy="522758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2010960" cy="522762"/>
            </a:xfrm>
            <a:custGeom>
              <a:avLst/>
              <a:gdLst/>
              <a:ahLst/>
              <a:cxnLst/>
              <a:rect r="r" b="b" t="t" l="l"/>
              <a:pathLst>
                <a:path h="522762" w="2010960">
                  <a:moveTo>
                    <a:pt x="0" y="0"/>
                  </a:moveTo>
                  <a:lnTo>
                    <a:pt x="2010960" y="0"/>
                  </a:lnTo>
                  <a:lnTo>
                    <a:pt x="2010960" y="522762"/>
                  </a:lnTo>
                  <a:lnTo>
                    <a:pt x="0" y="5227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040" r="0" b="-9869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9525"/>
              <a:ext cx="2010956" cy="53228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19"/>
                </a:lnSpc>
              </a:pPr>
              <a:r>
                <a:rPr lang="en-US" sz="2099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Ana sonuç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9580626" y="8286324"/>
            <a:ext cx="6926037" cy="966994"/>
            <a:chOff x="0" y="0"/>
            <a:chExt cx="9234716" cy="1289325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9234720" cy="1289329"/>
            </a:xfrm>
            <a:custGeom>
              <a:avLst/>
              <a:gdLst/>
              <a:ahLst/>
              <a:cxnLst/>
              <a:rect r="r" b="b" t="t" l="l"/>
              <a:pathLst>
                <a:path h="1289329" w="9234720">
                  <a:moveTo>
                    <a:pt x="0" y="0"/>
                  </a:moveTo>
                  <a:lnTo>
                    <a:pt x="9234720" y="0"/>
                  </a:lnTo>
                  <a:lnTo>
                    <a:pt x="9234720" y="1289329"/>
                  </a:lnTo>
                  <a:lnTo>
                    <a:pt x="0" y="12893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0581" r="0" b="-78538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19050"/>
              <a:ext cx="9234716" cy="12702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68"/>
                </a:lnSpc>
              </a:pPr>
              <a:r>
                <a:rPr lang="en-US" sz="2099">
                  <a:solidFill>
                    <a:srgbClr val="0B1F33"/>
                  </a:solidFill>
                  <a:latin typeface="Aptos"/>
                  <a:ea typeface="Aptos"/>
                  <a:cs typeface="Aptos"/>
                  <a:sym typeface="Aptos"/>
                </a:rPr>
                <a:t>Moderasyon sisteminde “en iyi model” ifadesi eksiktir; hangi eşikte, hangi hata maliyetiyle ve hangi insan denetimi akışıyla kullanılacağı ayrıca tanımlanmalıdır.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449" y="-9449"/>
            <a:ext cx="18306002" cy="10305364"/>
            <a:chOff x="0" y="0"/>
            <a:chExt cx="24408003" cy="137404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573" y="12573"/>
              <a:ext cx="24382857" cy="13715364"/>
            </a:xfrm>
            <a:custGeom>
              <a:avLst/>
              <a:gdLst/>
              <a:ahLst/>
              <a:cxnLst/>
              <a:rect r="r" b="b" t="t" l="l"/>
              <a:pathLst>
                <a:path h="13715364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3715364"/>
                  </a:lnTo>
                  <a:lnTo>
                    <a:pt x="0" y="13715364"/>
                  </a:lnTo>
                  <a:close/>
                </a:path>
              </a:pathLst>
            </a:custGeom>
            <a:solidFill>
              <a:srgbClr val="F7F9FC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408003" cy="13740510"/>
            </a:xfrm>
            <a:custGeom>
              <a:avLst/>
              <a:gdLst/>
              <a:ahLst/>
              <a:cxnLst/>
              <a:rect r="r" b="b" t="t" l="l"/>
              <a:pathLst>
                <a:path h="13740510" w="24408003">
                  <a:moveTo>
                    <a:pt x="12573" y="0"/>
                  </a:moveTo>
                  <a:lnTo>
                    <a:pt x="24395430" y="0"/>
                  </a:lnTo>
                  <a:cubicBezTo>
                    <a:pt x="24402416" y="0"/>
                    <a:pt x="24408003" y="5588"/>
                    <a:pt x="24408003" y="12573"/>
                  </a:cubicBezTo>
                  <a:lnTo>
                    <a:pt x="24408003" y="13727937"/>
                  </a:lnTo>
                  <a:cubicBezTo>
                    <a:pt x="24408003" y="13734923"/>
                    <a:pt x="24402416" y="13740510"/>
                    <a:pt x="24395430" y="13740510"/>
                  </a:cubicBezTo>
                  <a:lnTo>
                    <a:pt x="12573" y="13740510"/>
                  </a:lnTo>
                  <a:cubicBezTo>
                    <a:pt x="5588" y="13740510"/>
                    <a:pt x="0" y="13734923"/>
                    <a:pt x="0" y="13727937"/>
                  </a:cubicBezTo>
                  <a:lnTo>
                    <a:pt x="0" y="12573"/>
                  </a:lnTo>
                  <a:cubicBezTo>
                    <a:pt x="0" y="5588"/>
                    <a:pt x="5588" y="0"/>
                    <a:pt x="12573" y="0"/>
                  </a:cubicBezTo>
                  <a:moveTo>
                    <a:pt x="12573" y="25146"/>
                  </a:moveTo>
                  <a:lnTo>
                    <a:pt x="12573" y="12573"/>
                  </a:lnTo>
                  <a:lnTo>
                    <a:pt x="25146" y="12573"/>
                  </a:lnTo>
                  <a:lnTo>
                    <a:pt x="25146" y="13727937"/>
                  </a:lnTo>
                  <a:lnTo>
                    <a:pt x="12573" y="13727937"/>
                  </a:lnTo>
                  <a:lnTo>
                    <a:pt x="12573" y="13715364"/>
                  </a:lnTo>
                  <a:lnTo>
                    <a:pt x="24395430" y="13715364"/>
                  </a:lnTo>
                  <a:lnTo>
                    <a:pt x="24395430" y="13727937"/>
                  </a:lnTo>
                  <a:lnTo>
                    <a:pt x="24382857" y="13727937"/>
                  </a:lnTo>
                  <a:lnTo>
                    <a:pt x="24382857" y="12573"/>
                  </a:lnTo>
                  <a:lnTo>
                    <a:pt x="24395430" y="12573"/>
                  </a:lnTo>
                  <a:lnTo>
                    <a:pt x="24395430" y="25146"/>
                  </a:lnTo>
                  <a:lnTo>
                    <a:pt x="12573" y="25146"/>
                  </a:lnTo>
                  <a:close/>
                </a:path>
              </a:pathLst>
            </a:custGeom>
            <a:solidFill>
              <a:srgbClr val="F7F9F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883977" y="9703260"/>
            <a:ext cx="16542896" cy="15659"/>
            <a:chOff x="0" y="0"/>
            <a:chExt cx="22057195" cy="2087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033" y="0"/>
              <a:ext cx="22037040" cy="20955"/>
            </a:xfrm>
            <a:custGeom>
              <a:avLst/>
              <a:gdLst/>
              <a:ahLst/>
              <a:cxnLst/>
              <a:rect r="r" b="b" t="t" l="l"/>
              <a:pathLst>
                <a:path h="20955" w="22037040">
                  <a:moveTo>
                    <a:pt x="0" y="0"/>
                  </a:moveTo>
                  <a:lnTo>
                    <a:pt x="22037040" y="762"/>
                  </a:lnTo>
                  <a:lnTo>
                    <a:pt x="22037040" y="20955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D9E3EA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891540" y="9820437"/>
            <a:ext cx="3016977" cy="273777"/>
            <a:chOff x="0" y="0"/>
            <a:chExt cx="4022636" cy="3650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022640" cy="365040"/>
            </a:xfrm>
            <a:custGeom>
              <a:avLst/>
              <a:gdLst/>
              <a:ahLst/>
              <a:cxnLst/>
              <a:rect r="r" b="b" t="t" l="l"/>
              <a:pathLst>
                <a:path h="365040" w="4022640">
                  <a:moveTo>
                    <a:pt x="0" y="0"/>
                  </a:moveTo>
                  <a:lnTo>
                    <a:pt x="4022640" y="0"/>
                  </a:lnTo>
                  <a:lnTo>
                    <a:pt x="402264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4720" r="0" b="-16471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4022636" cy="3650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170"/>
                </a:lnSpc>
              </a:pPr>
              <a:r>
                <a:rPr lang="en-US" sz="975">
                  <a:solidFill>
                    <a:srgbClr val="6B7A88"/>
                  </a:solidFill>
                  <a:latin typeface="Aptos"/>
                  <a:ea typeface="Aptos"/>
                  <a:cs typeface="Aptos"/>
                  <a:sym typeface="Aptos"/>
                </a:rPr>
                <a:t>YZM304 Project 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853160" y="480060"/>
            <a:ext cx="3497037" cy="273777"/>
            <a:chOff x="0" y="0"/>
            <a:chExt cx="4662716" cy="36503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662720" cy="365040"/>
            </a:xfrm>
            <a:custGeom>
              <a:avLst/>
              <a:gdLst/>
              <a:ahLst/>
              <a:cxnLst/>
              <a:rect r="r" b="b" t="t" l="l"/>
              <a:pathLst>
                <a:path h="365040" w="4662720">
                  <a:moveTo>
                    <a:pt x="0" y="0"/>
                  </a:moveTo>
                  <a:lnTo>
                    <a:pt x="4662720" y="0"/>
                  </a:lnTo>
                  <a:lnTo>
                    <a:pt x="4662720" y="365040"/>
                  </a:lnTo>
                  <a:lnTo>
                    <a:pt x="0" y="365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886" r="0" b="-19888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4662716" cy="3745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REFERENCES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91540" y="576177"/>
            <a:ext cx="12206697" cy="603180"/>
            <a:chOff x="0" y="0"/>
            <a:chExt cx="16275596" cy="8042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6275600" cy="804240"/>
            </a:xfrm>
            <a:custGeom>
              <a:avLst/>
              <a:gdLst/>
              <a:ahLst/>
              <a:cxnLst/>
              <a:rect r="r" b="b" t="t" l="l"/>
              <a:pathLst>
                <a:path h="804240" w="16275600">
                  <a:moveTo>
                    <a:pt x="0" y="0"/>
                  </a:moveTo>
                  <a:lnTo>
                    <a:pt x="16275600" y="0"/>
                  </a:lnTo>
                  <a:lnTo>
                    <a:pt x="16275600" y="804240"/>
                  </a:lnTo>
                  <a:lnTo>
                    <a:pt x="0" y="804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4323" r="0" b="-344323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16275596" cy="804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0B1F33"/>
                  </a:solidFill>
                  <a:latin typeface="Aptos Bold"/>
                  <a:ea typeface="Aptos Bold"/>
                  <a:cs typeface="Aptos Bold"/>
                  <a:sym typeface="Aptos Bold"/>
                </a:rPr>
                <a:t>Kaynaklar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62917" y="1369981"/>
            <a:ext cx="1223096" cy="57779"/>
            <a:chOff x="0" y="0"/>
            <a:chExt cx="1630794" cy="7703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38100" y="0"/>
              <a:ext cx="1554607" cy="77089"/>
            </a:xfrm>
            <a:custGeom>
              <a:avLst/>
              <a:gdLst/>
              <a:ahLst/>
              <a:cxnLst/>
              <a:rect r="r" b="b" t="t" l="l"/>
              <a:pathLst>
                <a:path h="77089" w="1554607">
                  <a:moveTo>
                    <a:pt x="127" y="0"/>
                  </a:moveTo>
                  <a:lnTo>
                    <a:pt x="1554607" y="762"/>
                  </a:lnTo>
                  <a:lnTo>
                    <a:pt x="1554607" y="77089"/>
                  </a:lnTo>
                  <a:lnTo>
                    <a:pt x="0" y="76327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891540" y="1563843"/>
            <a:ext cx="13166817" cy="342357"/>
            <a:chOff x="0" y="0"/>
            <a:chExt cx="17555756" cy="4564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555759" cy="456480"/>
            </a:xfrm>
            <a:custGeom>
              <a:avLst/>
              <a:gdLst/>
              <a:ahLst/>
              <a:cxnLst/>
              <a:rect r="r" b="b" t="t" l="l"/>
              <a:pathLst>
                <a:path h="456480" w="17555759">
                  <a:moveTo>
                    <a:pt x="0" y="0"/>
                  </a:moveTo>
                  <a:lnTo>
                    <a:pt x="17555759" y="0"/>
                  </a:lnTo>
                  <a:lnTo>
                    <a:pt x="17555759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375" r="0" b="-69937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7555756" cy="4564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16F"/>
                  </a:solidFill>
                  <a:latin typeface="Aptos"/>
                  <a:ea typeface="Aptos"/>
                  <a:cs typeface="Aptos"/>
                  <a:sym typeface="Aptos"/>
                </a:rPr>
                <a:t>Literatür ve veri seti referansları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91540" y="2715825"/>
            <a:ext cx="15910017" cy="5691600"/>
            <a:chOff x="0" y="0"/>
            <a:chExt cx="21213356" cy="7588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213359" cy="7588804"/>
            </a:xfrm>
            <a:custGeom>
              <a:avLst/>
              <a:gdLst/>
              <a:ahLst/>
              <a:cxnLst/>
              <a:rect r="r" b="b" t="t" l="l"/>
              <a:pathLst>
                <a:path h="7588804" w="21213359">
                  <a:moveTo>
                    <a:pt x="0" y="0"/>
                  </a:moveTo>
                  <a:lnTo>
                    <a:pt x="21213359" y="0"/>
                  </a:lnTo>
                  <a:lnTo>
                    <a:pt x="21213359" y="7588804"/>
                  </a:lnTo>
                  <a:lnTo>
                    <a:pt x="0" y="75888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467" r="0" b="-4467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21213356" cy="7588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35"/>
                </a:lnSpc>
              </a:pPr>
              <a:r>
                <a:rPr lang="en-US" sz="1779">
                  <a:solidFill>
                    <a:srgbClr val="0B1F33"/>
                  </a:solidFill>
                  <a:latin typeface="Aptos"/>
                  <a:ea typeface="Aptos"/>
                  <a:cs typeface="Aptos"/>
                  <a:sym typeface="Aptos"/>
                </a:rPr>
                <a:t>[1] Çöltekin, Ç. (2020). A Corpus of Turkish Offensive Language on Social Media. LREC 2020.</a:t>
              </a:r>
            </a:p>
            <a:p>
              <a:pPr algn="l">
                <a:lnSpc>
                  <a:spcPts val="2135"/>
                </a:lnSpc>
              </a:pPr>
            </a:p>
            <a:p>
              <a:pPr algn="l">
                <a:lnSpc>
                  <a:spcPts val="2135"/>
                </a:lnSpc>
              </a:pPr>
              <a:r>
                <a:rPr lang="en-US" sz="1779">
                  <a:solidFill>
                    <a:srgbClr val="0B1F33"/>
                  </a:solidFill>
                  <a:latin typeface="Aptos"/>
                  <a:ea typeface="Aptos"/>
                  <a:cs typeface="Aptos"/>
                  <a:sym typeface="Aptos"/>
                </a:rPr>
                <a:t>[2] Zampieri et al. (2020). SemEval-2020 Task 12: Multilingual Offensive Language Identification in Social Media.</a:t>
              </a:r>
            </a:p>
            <a:p>
              <a:pPr algn="l">
                <a:lnSpc>
                  <a:spcPts val="2135"/>
                </a:lnSpc>
              </a:pPr>
            </a:p>
            <a:p>
              <a:pPr algn="l">
                <a:lnSpc>
                  <a:spcPts val="2135"/>
                </a:lnSpc>
              </a:pPr>
              <a:r>
                <a:rPr lang="en-US" sz="1779">
                  <a:solidFill>
                    <a:srgbClr val="0B1F33"/>
                  </a:solidFill>
                  <a:latin typeface="Aptos"/>
                  <a:ea typeface="Aptos"/>
                  <a:cs typeface="Aptos"/>
                  <a:sym typeface="Aptos"/>
                </a:rPr>
                <a:t>[3] Overfit-GM. Turkish Texts for Toxic Language Detection. Hugging Face dataset card, Apache-2.0.</a:t>
              </a:r>
            </a:p>
            <a:p>
              <a:pPr algn="l">
                <a:lnSpc>
                  <a:spcPts val="2135"/>
                </a:lnSpc>
              </a:pPr>
            </a:p>
            <a:p>
              <a:pPr algn="l">
                <a:lnSpc>
                  <a:spcPts val="2135"/>
                </a:lnSpc>
              </a:pPr>
              <a:r>
                <a:rPr lang="en-US" sz="1779">
                  <a:solidFill>
                    <a:srgbClr val="0B1F33"/>
                  </a:solidFill>
                  <a:latin typeface="Aptos"/>
                  <a:ea typeface="Aptos"/>
                  <a:cs typeface="Aptos"/>
                  <a:sym typeface="Aptos"/>
                </a:rPr>
                <a:t>[4] TURKCELL/bert-offensive-lang-detection-tr and atasoglu OffensEval-TR model cards. Hugging Face.</a:t>
              </a:r>
            </a:p>
            <a:p>
              <a:pPr algn="l">
                <a:lnSpc>
                  <a:spcPts val="2135"/>
                </a:lnSpc>
              </a:pPr>
            </a:p>
            <a:p>
              <a:pPr algn="l">
                <a:lnSpc>
                  <a:spcPts val="2135"/>
                </a:lnSpc>
              </a:pPr>
              <a:r>
                <a:rPr lang="en-US" sz="1779">
                  <a:solidFill>
                    <a:srgbClr val="0B1F33"/>
                  </a:solidFill>
                  <a:latin typeface="Aptos"/>
                  <a:ea typeface="Aptos"/>
                  <a:cs typeface="Aptos"/>
                  <a:sym typeface="Aptos"/>
                </a:rPr>
                <a:t>[5] fc63/turkish-toxic-language-detection and related model cards trained on Overfit-GM/turkish-toxic-language.</a:t>
              </a:r>
            </a:p>
            <a:p>
              <a:pPr algn="l">
                <a:lnSpc>
                  <a:spcPts val="2135"/>
                </a:lnSpc>
              </a:pPr>
            </a:p>
            <a:p>
              <a:pPr algn="l">
                <a:lnSpc>
                  <a:spcPts val="2135"/>
                </a:lnSpc>
              </a:pPr>
              <a:r>
                <a:rPr lang="en-US" sz="1779">
                  <a:solidFill>
                    <a:srgbClr val="0B1F33"/>
                  </a:solidFill>
                  <a:latin typeface="Aptos"/>
                  <a:ea typeface="Aptos"/>
                  <a:cs typeface="Aptos"/>
                  <a:sym typeface="Aptos"/>
                </a:rPr>
                <a:t>[6] Guo, C., Pleiss, G., Sun, Y., Weinberger, K. (2017). On Calibration of Modern Neural Networks. ICML.</a:t>
              </a:r>
            </a:p>
            <a:p>
              <a:pPr algn="l">
                <a:lnSpc>
                  <a:spcPts val="2135"/>
                </a:lnSpc>
              </a:pPr>
            </a:p>
            <a:p>
              <a:pPr algn="l">
                <a:lnSpc>
                  <a:spcPts val="2135"/>
                </a:lnSpc>
              </a:pPr>
              <a:r>
                <a:rPr lang="en-US" sz="1779">
                  <a:solidFill>
                    <a:srgbClr val="0B1F33"/>
                  </a:solidFill>
                  <a:latin typeface="Aptos"/>
                  <a:ea typeface="Aptos"/>
                  <a:cs typeface="Aptos"/>
                  <a:sym typeface="Aptos"/>
                </a:rPr>
                <a:t>[7] dbmdz/bert-base-turkish-cased and Turkish transformer model cards used for contextual Turkish representation.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DAHJq6i-OXA</dc:identifier>
  <dcterms:modified xsi:type="dcterms:W3CDTF">2011-08-01T06:04:30Z</dcterms:modified>
  <cp:revision>1</cp:revision>
  <dc:title>Project4_Turkish_Toxic_Language_Detection.pptx</dc:title>
</cp:coreProperties>
</file>