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3cf2720fdb461b" /><Relationship Type="http://schemas.openxmlformats.org/officeDocument/2006/relationships/extended-properties" Target="/docProps/app.xml" Id="Rbd03c1f362ca414f" /><Relationship Type="http://schemas.openxmlformats.org/officeDocument/2006/relationships/officeDocument" Target="/ppt/presentation.xml" Id="Rdc871d368e7046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90cc0df0bb4ac5"/>
  </p:sldMasterIdLst>
  <p:notesMasterIdLst>
    <p:notesMasterId xmlns:r="http://schemas.openxmlformats.org/officeDocument/2006/relationships" r:id="Rab32619039884efa"/>
  </p:notesMasterIdLst>
  <p:sldIdLst>
    <p:sldId xmlns:r="http://schemas.openxmlformats.org/officeDocument/2006/relationships" id="256" r:id="R2a137aed3ae94a42"/>
    <p:sldId xmlns:r="http://schemas.openxmlformats.org/officeDocument/2006/relationships" id="257" r:id="R8377fb5e0fa64cd4"/>
    <p:sldId xmlns:r="http://schemas.openxmlformats.org/officeDocument/2006/relationships" id="258" r:id="R0ba7613d4cf84b4e"/>
    <p:sldId xmlns:r="http://schemas.openxmlformats.org/officeDocument/2006/relationships" id="259" r:id="Rdffe11ac1b2d425e"/>
    <p:sldId xmlns:r="http://schemas.openxmlformats.org/officeDocument/2006/relationships" id="260" r:id="R8bf13c7a68d44ff5"/>
    <p:sldId xmlns:r="http://schemas.openxmlformats.org/officeDocument/2006/relationships" id="261" r:id="R24bae3b9b2b9449c"/>
    <p:sldId xmlns:r="http://schemas.openxmlformats.org/officeDocument/2006/relationships" id="262" r:id="R492692f12fe94e68"/>
    <p:sldId xmlns:r="http://schemas.openxmlformats.org/officeDocument/2006/relationships" id="263" r:id="Re9162171da674d07"/>
    <p:sldId xmlns:r="http://schemas.openxmlformats.org/officeDocument/2006/relationships" id="264" r:id="R9b06086862cf481e"/>
    <p:sldId xmlns:r="http://schemas.openxmlformats.org/officeDocument/2006/relationships" id="265" r:id="R68b3137727954bfe"/>
    <p:sldId xmlns:r="http://schemas.openxmlformats.org/officeDocument/2006/relationships" id="266" r:id="R9ff937a75d1540e1"/>
    <p:sldId xmlns:r="http://schemas.openxmlformats.org/officeDocument/2006/relationships" id="267" r:id="R3c95e6bf80fe4700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90cc0df0bb4ac5" /><Relationship Type="http://schemas.openxmlformats.org/officeDocument/2006/relationships/theme" Target="/ppt/theme/theme1.xml" Id="Rc1723575ef034380" /><Relationship Type="http://schemas.openxmlformats.org/officeDocument/2006/relationships/notesMaster" Target="/ppt/notesMasters/notesMaster1.xml" Id="Rab32619039884efa" /><Relationship Type="http://schemas.openxmlformats.org/officeDocument/2006/relationships/presProps" Target="/ppt/presProps.xml" Id="R980bf0c55b1346cb" /><Relationship Type="http://schemas.openxmlformats.org/officeDocument/2006/relationships/viewProps" Target="/ppt/viewProps.xml" Id="R938fe0a116ce4eeb" /><Relationship Type="http://schemas.openxmlformats.org/officeDocument/2006/relationships/tableStyles" Target="/ppt/tableStyles.xml" Id="R713be6df922447ca" /><Relationship Type="http://schemas.openxmlformats.org/officeDocument/2006/relationships/slide" Target="/ppt/slides/slide1.xml" Id="R2a137aed3ae94a42" /><Relationship Type="http://schemas.openxmlformats.org/officeDocument/2006/relationships/slide" Target="/ppt/slides/slide2.xml" Id="R8377fb5e0fa64cd4" /><Relationship Type="http://schemas.openxmlformats.org/officeDocument/2006/relationships/slide" Target="/ppt/slides/slide3.xml" Id="R0ba7613d4cf84b4e" /><Relationship Type="http://schemas.openxmlformats.org/officeDocument/2006/relationships/slide" Target="/ppt/slides/slide4.xml" Id="Rdffe11ac1b2d425e" /><Relationship Type="http://schemas.openxmlformats.org/officeDocument/2006/relationships/slide" Target="/ppt/slides/slide5.xml" Id="R8bf13c7a68d44ff5" /><Relationship Type="http://schemas.openxmlformats.org/officeDocument/2006/relationships/slide" Target="/ppt/slides/slide6.xml" Id="R24bae3b9b2b9449c" /><Relationship Type="http://schemas.openxmlformats.org/officeDocument/2006/relationships/slide" Target="/ppt/slides/slide7.xml" Id="R492692f12fe94e68" /><Relationship Type="http://schemas.openxmlformats.org/officeDocument/2006/relationships/slide" Target="/ppt/slides/slide8.xml" Id="Re9162171da674d07" /><Relationship Type="http://schemas.openxmlformats.org/officeDocument/2006/relationships/slide" Target="/ppt/slides/slide9.xml" Id="R9b06086862cf481e" /><Relationship Type="http://schemas.openxmlformats.org/officeDocument/2006/relationships/slide" Target="/ppt/slides/slide10.xml" Id="R68b3137727954bfe" /><Relationship Type="http://schemas.openxmlformats.org/officeDocument/2006/relationships/slide" Target="/ppt/slides/slide11.xml" Id="R9ff937a75d1540e1" /><Relationship Type="http://schemas.openxmlformats.org/officeDocument/2006/relationships/slide" Target="/ppt/slides/slide12.xml" Id="R3c95e6bf80fe47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0ea509f15dd43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f6a362a61d4bf1" /><Relationship Type="http://schemas.openxmlformats.org/officeDocument/2006/relationships/notesMaster" Target="/ppt/notesMasters/notesMaster1.xml" Id="Ra42deba5c5ed4f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7d5be548d9468f" /><Relationship Type="http://schemas.openxmlformats.org/officeDocument/2006/relationships/notesMaster" Target="/ppt/notesMasters/notesMaster1.xml" Id="Radb6d9d224ce47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963eabce5e4181" /><Relationship Type="http://schemas.openxmlformats.org/officeDocument/2006/relationships/notesMaster" Target="/ppt/notesMasters/notesMaster1.xml" Id="R15e68eec3b0247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4593b4f7544707" /><Relationship Type="http://schemas.openxmlformats.org/officeDocument/2006/relationships/notesMaster" Target="/ppt/notesMasters/notesMaster1.xml" Id="Rdbbd334742f945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8bf783a8c94226" /><Relationship Type="http://schemas.openxmlformats.org/officeDocument/2006/relationships/notesMaster" Target="/ppt/notesMasters/notesMaster1.xml" Id="Rfef66bb4b58b40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2e3257798a497f" /><Relationship Type="http://schemas.openxmlformats.org/officeDocument/2006/relationships/notesMaster" Target="/ppt/notesMasters/notesMaster1.xml" Id="Rc1d4fa6148a948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f4e9af1a50409f" /><Relationship Type="http://schemas.openxmlformats.org/officeDocument/2006/relationships/notesMaster" Target="/ppt/notesMasters/notesMaster1.xml" Id="Rb9d64d83925047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f5669d45d345fa" /><Relationship Type="http://schemas.openxmlformats.org/officeDocument/2006/relationships/notesMaster" Target="/ppt/notesMasters/notesMaster1.xml" Id="Rbed71ca0611e440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8c678006c942df" /><Relationship Type="http://schemas.openxmlformats.org/officeDocument/2006/relationships/notesMaster" Target="/ppt/notesMasters/notesMaster1.xml" Id="R07c815f4a7274d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986535b40834ac6" /><Relationship Type="http://schemas.openxmlformats.org/officeDocument/2006/relationships/notesMaster" Target="/ppt/notesMasters/notesMaster1.xml" Id="Rf845c551692d4d1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730025a6d0146ed" /><Relationship Type="http://schemas.openxmlformats.org/officeDocument/2006/relationships/notesMaster" Target="/ppt/notesMasters/notesMaster1.xml" Id="R6fefb14f69f74d9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dc6fdca671e41e6" /><Relationship Type="http://schemas.openxmlformats.org/officeDocument/2006/relationships/notesMaster" Target="/ppt/notesMasters/notesMaster1.xml" Id="R869585efacf040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8b5d32e604464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d848afc79d84206" /><Relationship Type="http://schemas.openxmlformats.org/officeDocument/2006/relationships/slideLayout" Target="/ppt/slideLayouts/slideLayout2.xml" Id="R7c003a5ed6f542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003a5ed6f542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c65ef7dabf44c8" /><Relationship Type="http://schemas.openxmlformats.org/officeDocument/2006/relationships/notesSlide" Target="/ppt/notesSlides/notesSlide1.xml" Id="R9df406715bec41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52457ffffb49d7" /><Relationship Type="http://schemas.openxmlformats.org/officeDocument/2006/relationships/notesSlide" Target="/ppt/notesSlides/notesSlide2.xml" Id="Reb39c4384c4d4d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a5670919f94f66" /><Relationship Type="http://schemas.openxmlformats.org/officeDocument/2006/relationships/image" Target="/ppt/media/image.png" Id="R387e1bb66f8f4341" /><Relationship Type="http://schemas.openxmlformats.org/officeDocument/2006/relationships/image" Target="/ppt/media/image2.png" Id="R133f4685bef9426b" /><Relationship Type="http://schemas.openxmlformats.org/officeDocument/2006/relationships/notesSlide" Target="/ppt/notesSlides/notesSlide3.xml" Id="Ra7a0fc8c93b847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48e5fbcea3429c" /><Relationship Type="http://schemas.openxmlformats.org/officeDocument/2006/relationships/notesSlide" Target="/ppt/notesSlides/notesSlide4.xml" Id="R1e1f85a2c51d44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7b34eb0d714518" /><Relationship Type="http://schemas.openxmlformats.org/officeDocument/2006/relationships/notesSlide" Target="/ppt/notesSlides/notesSlide5.xml" Id="R1614c5e6362f45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d869d554504eed" /><Relationship Type="http://schemas.openxmlformats.org/officeDocument/2006/relationships/image" Target="/ppt/media/image3.png" Id="R8399f611052442b6" /><Relationship Type="http://schemas.openxmlformats.org/officeDocument/2006/relationships/notesSlide" Target="/ppt/notesSlides/notesSlide6.xml" Id="R4875c30668a243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d23c73592b4aa5" /><Relationship Type="http://schemas.openxmlformats.org/officeDocument/2006/relationships/image" Target="/ppt/media/image4.png" Id="R3056b09492b0447b" /><Relationship Type="http://schemas.openxmlformats.org/officeDocument/2006/relationships/image" Target="/ppt/media/image5.png" Id="R1b7859811db24029" /><Relationship Type="http://schemas.openxmlformats.org/officeDocument/2006/relationships/notesSlide" Target="/ppt/notesSlides/notesSlide7.xml" Id="R96bdd76e09e149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9659eb8ae1464b" /><Relationship Type="http://schemas.openxmlformats.org/officeDocument/2006/relationships/image" Target="/ppt/media/image6.png" Id="R2b8b51df12d343ee" /><Relationship Type="http://schemas.openxmlformats.org/officeDocument/2006/relationships/notesSlide" Target="/ppt/notesSlides/notesSlide8.xml" Id="R56e284eed60a4f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928604ecba4f2f" /><Relationship Type="http://schemas.openxmlformats.org/officeDocument/2006/relationships/image" Target="/ppt/media/image7.png" Id="Rb72320889379400b" /><Relationship Type="http://schemas.openxmlformats.org/officeDocument/2006/relationships/notesSlide" Target="/ppt/notesSlides/notesSlide9.xml" Id="Rbc2be918f6b94f9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351bf129ce4aca" /><Relationship Type="http://schemas.openxmlformats.org/officeDocument/2006/relationships/image" Target="/ppt/media/image8.png" Id="R9aa29f4603f94460" /><Relationship Type="http://schemas.openxmlformats.org/officeDocument/2006/relationships/notesSlide" Target="/ppt/notesSlides/notesSlide10.xml" Id="R40846fe618aa454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02aef8e46149fc" /><Relationship Type="http://schemas.openxmlformats.org/officeDocument/2006/relationships/notesSlide" Target="/ppt/notesSlides/notesSlide11.xml" Id="R0d3f9e0153d04a7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4e69cd27f84fd0" /><Relationship Type="http://schemas.openxmlformats.org/officeDocument/2006/relationships/image" Target="/ppt/media/image9.png" Id="R8010ac2247a84a54" /><Relationship Type="http://schemas.openxmlformats.org/officeDocument/2006/relationships/image" Target="/ppt/media/image10.png" Id="Ra3957780a88248d1" /><Relationship Type="http://schemas.openxmlformats.org/officeDocument/2006/relationships/image" Target="/ppt/media/image11.png" Id="R4214384cdcab42a6" /><Relationship Type="http://schemas.openxmlformats.org/officeDocument/2006/relationships/image" Target="/ppt/media/image12.png" Id="Rafc5dccb49364f34" /><Relationship Type="http://schemas.openxmlformats.org/officeDocument/2006/relationships/image" Target="/ppt/media/image13.png" Id="R5921c1c6506e44ca" /><Relationship Type="http://schemas.openxmlformats.org/officeDocument/2006/relationships/image" Target="/ppt/media/image14.png" Id="Rc2b8f426d9e846c4" /><Relationship Type="http://schemas.openxmlformats.org/officeDocument/2006/relationships/notesSlide" Target="/ppt/notesSlides/notesSlide12.xml" Id="Rdc6a5788e0854b4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FCCD64FF-2BCC-4CB3-9B9E-39C701F8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"/>
            <a:ext cx="1645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E7C7B"/>
                </a:solidFill>
              </a:defRPr>
            </a:pPr>
            <a:r>
              <a:rPr sz="1650" b="1">
                <a:solidFill>
                  <a:srgbClr val="0E7C7B"/>
                </a:solidFill>
              </a:rPr>
              <a:t>PROJECT 4 / YZM304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6C4DCFD-0284-4645-891F-88811766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38250"/>
            <a:ext cx="111633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212B"/>
                </a:solidFill>
              </a:defRPr>
            </a:pPr>
            <a:r>
              <a:rPr sz="4650" b="1">
                <a:solidFill>
                  <a:srgbClr val="17212B"/>
                </a:solidFill>
              </a:rPr>
              <a:t>Birleştirilmiş Türkçe Toksisite Verisinde Model Güvenilirliği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47A40B9-F929-4856-B45E-FCABB999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68199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B6673"/>
                </a:solidFill>
              </a:defRPr>
            </a:pPr>
            <a:r>
              <a:rPr sz="2025">
                <a:solidFill>
                  <a:srgbClr val="5B6673"/>
                </a:solidFill>
              </a:rPr>
              <a:t>Macro-F1, kalibrasyon ve eşik seçimi accuracy'den daha açıklayıcı.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112AD-F1A4-438B-9F6C-2334B298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13201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Ana iddia: En iyi skor tek başına yeterli değil; dengesiz sınıflarda güvenilir karar için macro-F1, confusion matrix, ECE ve threshold politikası birlikte okunmalı.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682810-1A95-4FBC-AFE0-10E8EC93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3581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E7C7B"/>
                </a:solidFill>
              </a:defRPr>
            </a:pPr>
            <a:r>
              <a:rPr sz="3600" b="1">
                <a:solidFill>
                  <a:srgbClr val="0E7C7B"/>
                </a:solidFill>
              </a:rPr>
              <a:t>0.8997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190036-ADA5-4A8C-ACFC-D5DBA316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358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B6673"/>
                </a:solidFill>
              </a:defRPr>
            </a:pPr>
            <a:r>
              <a:rPr sz="1275" b="1">
                <a:solidFill>
                  <a:srgbClr val="5B6673"/>
                </a:solidFill>
              </a:rPr>
              <a:t>best macro-F1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624AA5-A84B-4354-AD67-5B35F451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0065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673"/>
                </a:solidFill>
              </a:defRPr>
            </a:pPr>
            <a:r>
              <a:rPr sz="1050">
                <a:solidFill>
                  <a:srgbClr val="5B6673"/>
                </a:solidFill>
              </a:rPr>
              <a:t>berturk_light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3699E6-F0BB-455B-A929-19EFE432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381500"/>
            <a:ext cx="3581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12B"/>
                </a:solidFill>
              </a:defRPr>
            </a:pPr>
            <a:r>
              <a:rPr sz="3600" b="1">
                <a:solidFill>
                  <a:srgbClr val="17212B"/>
                </a:solidFill>
              </a:rPr>
              <a:t>0.9423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0EB467-0D74-4E43-9A7C-9A396A15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72050"/>
            <a:ext cx="358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B6673"/>
                </a:solidFill>
              </a:defRPr>
            </a:pPr>
            <a:r>
              <a:rPr sz="1275" b="1">
                <a:solidFill>
                  <a:srgbClr val="5B6673"/>
                </a:solidFill>
              </a:rPr>
              <a:t>best accuracy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2EDFE6-26C5-47B4-BB41-D9AE3691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20065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673"/>
                </a:solidFill>
              </a:defRPr>
            </a:pPr>
            <a:r>
              <a:rPr sz="1050">
                <a:solidFill>
                  <a:srgbClr val="5B6673"/>
                </a:solidFill>
              </a:rPr>
              <a:t>destekleyici metrik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FA2D82-62DC-4617-B25B-FFC1DEA1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381500"/>
            <a:ext cx="3581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8892B"/>
                </a:solidFill>
              </a:defRPr>
            </a:pPr>
            <a:r>
              <a:rPr sz="3600" b="1">
                <a:solidFill>
                  <a:srgbClr val="C8892B"/>
                </a:solidFill>
              </a:rPr>
              <a:t>0.0089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E61956-019A-4D44-920E-A2ED4478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972050"/>
            <a:ext cx="358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B6673"/>
                </a:solidFill>
              </a:defRPr>
            </a:pPr>
            <a:r>
              <a:rPr sz="1275" b="1">
                <a:solidFill>
                  <a:srgbClr val="5B6673"/>
                </a:solidFill>
              </a:rPr>
              <a:t>top-label ECE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B3E46E-33D2-4424-8D8C-6BF53A8B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0065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673"/>
                </a:solidFill>
              </a:defRPr>
            </a:pPr>
            <a:r>
              <a:rPr sz="1050">
                <a:solidFill>
                  <a:srgbClr val="5B6673"/>
                </a:solidFill>
              </a:rPr>
              <a:t>kalibrasyon göstergesi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B44CE5-33D6-4B8F-9890-C59C0104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4381500"/>
            <a:ext cx="3581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B23A48"/>
                </a:solidFill>
              </a:defRPr>
            </a:pPr>
            <a:r>
              <a:rPr sz="3600" b="1">
                <a:solidFill>
                  <a:srgbClr val="B23A48"/>
                </a:solidFill>
              </a:rPr>
              <a:t>+0.1028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6D8483-0A00-4701-B498-E011A0C2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4972050"/>
            <a:ext cx="358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B6673"/>
                </a:solidFill>
              </a:defRPr>
            </a:pPr>
            <a:r>
              <a:rPr sz="1275" b="1">
                <a:solidFill>
                  <a:srgbClr val="5B6673"/>
                </a:solidFill>
              </a:rPr>
              <a:t>baseline lift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6C9C1F-782D-4704-B391-48CBF919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520065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673"/>
                </a:solidFill>
              </a:defRPr>
            </a:pPr>
            <a:r>
              <a:rPr sz="1050">
                <a:solidFill>
                  <a:srgbClr val="5B6673"/>
                </a:solidFill>
              </a:rPr>
              <a:t>macro-F1 farkı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F00DBC-628C-42FF-8797-842C97B1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5785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6673"/>
                </a:solidFill>
              </a:defRPr>
            </a:pPr>
            <a:r>
              <a:rPr sz="1500">
                <a:solidFill>
                  <a:srgbClr val="5B6673"/>
                </a:solidFill>
              </a:rPr>
              <a:t>77.800 satır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C1256D-1CE1-4CCF-85FE-193681D0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65785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6673"/>
                </a:solidFill>
              </a:defRPr>
            </a:pPr>
            <a:r>
              <a:rPr sz="1500">
                <a:solidFill>
                  <a:srgbClr val="5B6673"/>
                </a:solidFill>
              </a:rPr>
              <a:t>5 sınıf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151544-C442-4630-A9F7-188BA265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657850"/>
            <a:ext cx="409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6673"/>
                </a:solidFill>
              </a:defRPr>
            </a:pPr>
            <a:r>
              <a:rPr sz="1500">
                <a:solidFill>
                  <a:srgbClr val="5B6673"/>
                </a:solidFill>
              </a:rPr>
              <a:t>3 baseline + 6 transformer koşusu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E40559-245C-4FE8-BA47-081CE18C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6578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6673"/>
                </a:solidFill>
              </a:defRPr>
            </a:pPr>
            <a:r>
              <a:rPr sz="1500">
                <a:solidFill>
                  <a:srgbClr val="5B6673"/>
                </a:solidFill>
              </a:rPr>
              <a:t>temperature scaling + threshold sweep</a:t>
            </a:r>
          </a:p>
        </p:txBody>
      </p:sp>
    </p:spTree>
    <p:extLst>
      <p:ext uri="{BB962C8B-B14F-4D97-AF65-F5344CB8AC3E}">
        <p14:creationId xmlns:p14="http://schemas.microsoft.com/office/powerpoint/2010/main" val="5878671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702B50-1608-4AC1-A02A-9B5E8840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72390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12B"/>
                </a:solidFill>
              </a:defRPr>
            </a:pPr>
            <a:r>
              <a:rPr sz="3150" b="1">
                <a:solidFill>
                  <a:srgbClr val="17212B"/>
                </a:solidFill>
              </a:rPr>
              <a:t>Accuracy tek başına moderasyon kalitesini anlatmıyor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3CEF792-B4D0-44A3-9611-B59BB4CF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69151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673"/>
                </a:solidFill>
              </a:defRPr>
            </a:pPr>
            <a:r>
              <a:rPr sz="1575">
                <a:solidFill>
                  <a:srgbClr val="5B6673"/>
                </a:solidFill>
              </a:rPr>
              <a:t>Sınıf dengesizliği, aynı accuracy değerinin farklı hata profilleri saklamasına neden olur.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F1F390D-38C1-47EE-BBAC-9C7593BB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8ED3D-2527-423C-BF0D-CD58088F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7239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12B"/>
                </a:solidFill>
              </a:defRPr>
            </a:pPr>
            <a:r>
              <a:rPr sz="3225" b="1">
                <a:solidFill>
                  <a:srgbClr val="17212B"/>
                </a:solidFill>
              </a:rPr>
              <a:t>Bu veri setinde başarıyı tek bir skorla değil, karar davranışıyla okuyoruz.</a:t>
            </a:r>
          </a:p>
        </p:txBody>
      </p:sp>
      <p:sp>
        <p:nvSpPr>
          <p:cNvPr id="5" name="bullet-0">
            <a:extLst xmlns:a="http://schemas.openxmlformats.org/drawingml/2006/main">
              <a:ext uri="{FF2B5EF4-FFF2-40B4-BE49-F238E27FC236}">
                <a16:creationId xmlns:a16="http://schemas.microsoft.com/office/drawing/2014/main" id="{98330FAB-56D7-4D1E-A4A4-D4E878A3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723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B"/>
                </a:solidFill>
              </a:defRPr>
            </a:pPr>
            <a:r>
              <a:rPr sz="1575">
                <a:solidFill>
                  <a:srgbClr val="17212B"/>
                </a:solidFill>
              </a:rPr>
              <a:t>• Macro-F1 küçük sınıfları accuracy kadar kolay ezmez.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84179BE6-C15E-4DE4-9DDF-D42266A5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723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B"/>
                </a:solidFill>
              </a:defRPr>
            </a:pPr>
            <a:r>
              <a:rPr sz="1575">
                <a:solidFill>
                  <a:srgbClr val="17212B"/>
                </a:solidFill>
              </a:rPr>
              <a:t>• ECE model güveninin ne kadar kalibre olduğunu gösterir.</a:t>
            </a:r>
          </a:p>
        </p:txBody>
      </p:sp>
      <p:sp>
        <p:nvSpPr>
          <p:cNvPr id="7" name="bullet-2">
            <a:extLst xmlns:a="http://schemas.openxmlformats.org/drawingml/2006/main">
              <a:ext uri="{FF2B5EF4-FFF2-40B4-BE49-F238E27FC236}">
                <a16:creationId xmlns:a16="http://schemas.microsoft.com/office/drawing/2014/main" id="{D8E008A5-AE30-4190-AE6C-7C6DA53E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723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B"/>
                </a:solidFill>
              </a:defRPr>
            </a:pPr>
            <a:r>
              <a:rPr sz="1575">
                <a:solidFill>
                  <a:srgbClr val="17212B"/>
                </a:solidFill>
              </a:rPr>
              <a:t>• Threshold seçimi moderation tarafında precision/recall dengesini değiştirir.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55352-09FA-45B8-9D91-E7BE3335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52450"/>
            <a:ext cx="8991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Kritik metriklerin anlamı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0D052E-8273-4A9E-8ED6-C02B1936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933450"/>
            <a:ext cx="1428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Metrik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6CB990-FF08-42BC-93F0-BC3454EA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933450"/>
            <a:ext cx="3619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Ne ölçer?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CCA8A2-E395-4C70-9C2E-95089CCF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933450"/>
            <a:ext cx="3143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Bu projedeki rolü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2D5AB8-4BAA-4957-8C82-0279E44D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81100"/>
            <a:ext cx="899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solidFill>
              <a:srgbClr val="D5DD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A4CD40-2FC8-4969-A22D-6262FF44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276350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7C7B"/>
                </a:solidFill>
              </a:defRPr>
            </a:pPr>
            <a:r>
              <a:rPr sz="1350" b="1">
                <a:solidFill>
                  <a:srgbClr val="0E7C7B"/>
                </a:solidFill>
              </a:rPr>
              <a:t>Accuracy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CE5583-FFC6-4A87-93F9-06C0E114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276350"/>
            <a:ext cx="361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7C7B"/>
                </a:solidFill>
              </a:defRPr>
            </a:pPr>
            <a:r>
              <a:rPr sz="1350" b="1">
                <a:solidFill>
                  <a:srgbClr val="0E7C7B"/>
                </a:solidFill>
              </a:rPr>
              <a:t>Tüm test örneklerinde doğru oranı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C46793-55A5-4220-9CB4-B9DCB6A2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1276350"/>
            <a:ext cx="314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7C7B"/>
                </a:solidFill>
              </a:defRPr>
            </a:pPr>
            <a:r>
              <a:rPr sz="1350" b="1">
                <a:solidFill>
                  <a:srgbClr val="0E7C7B"/>
                </a:solidFill>
              </a:rPr>
              <a:t>Büyük sınıflar baskın gelir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7636A3-2A7C-4799-94C6-D2EACAB8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562100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Macro-F1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5530A3-0A2D-4BF8-BB44-F276DB1A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562100"/>
            <a:ext cx="361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Sınıf F1 ortalaması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6CB439-8FCA-4EEF-89AB-DDBCE11A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1562100"/>
            <a:ext cx="314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Ana seçim metriği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112016-1609-443E-A051-673A407F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47850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PR-AUC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196C09-B740-4F30-8D95-ECD5B152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847850"/>
            <a:ext cx="361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Sınıf olasılık ayrımı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B5E027-82CD-4068-9B19-31D28980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1847850"/>
            <a:ext cx="314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Dengesiz veri için güçlü okuma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7E1623-D173-4C68-8B02-B0A18A10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14550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ECE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4EEDC0-5CD8-4B56-BDAD-74934C1B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114550"/>
            <a:ext cx="361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Güven skoru kalitesi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E53E49-FFC4-49AB-9A4E-CBB90415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2114550"/>
            <a:ext cx="314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Düşük daha iyi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AFD6E6-33AF-4725-B751-EC1C7B0F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00300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Threshold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7ECBBB-6827-4B68-BB57-AFABBBA6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0300"/>
            <a:ext cx="361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Toxic/other karar eşiği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8F5A21-3E04-4F9D-BB07-03A08A04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2400300"/>
            <a:ext cx="314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Operasyonel politika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603DEA-44ED-4321-B513-4F202C18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19400"/>
            <a:ext cx="8991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E7C7B"/>
                </a:solidFill>
              </a:defRPr>
            </a:pPr>
            <a:r>
              <a:rPr sz="1125" b="1">
                <a:solidFill>
                  <a:srgbClr val="0E7C7B"/>
                </a:solidFill>
              </a:rPr>
              <a:t>Bu slayttaki okuma</a:t>
            </a:r>
          </a:p>
        </p:txBody>
      </p:sp>
      <p:sp>
        <p:nvSpPr>
          <p:cNvPr id="29" name="bullet-0">
            <a:extLst xmlns:a="http://schemas.openxmlformats.org/drawingml/2006/main">
              <a:ext uri="{FF2B5EF4-FFF2-40B4-BE49-F238E27FC236}">
                <a16:creationId xmlns:a16="http://schemas.microsoft.com/office/drawing/2014/main" id="{F4F3F4E2-8F47-49EC-BE57-F4756A40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86100"/>
            <a:ext cx="8991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12B"/>
                </a:solidFill>
              </a:defRPr>
            </a:pPr>
            <a:r>
              <a:rPr sz="1425">
                <a:solidFill>
                  <a:srgbClr val="17212B"/>
                </a:solidFill>
              </a:rPr>
              <a:t>• En iyi model accuracy 0.9423 üretse de ana iddia macro-F1 0.8997 ve sınıf bazlı hata analizine dayanıyor.</a:t>
            </a:r>
          </a:p>
        </p:txBody>
      </p:sp>
      <p:sp>
        <p:nvSpPr>
          <p:cNvPr id="30" name="bullet-1">
            <a:extLst xmlns:a="http://schemas.openxmlformats.org/drawingml/2006/main">
              <a:ext uri="{FF2B5EF4-FFF2-40B4-BE49-F238E27FC236}">
                <a16:creationId xmlns:a16="http://schemas.microsoft.com/office/drawing/2014/main" id="{AEAB6651-4384-4571-BE8E-163DAEC2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09950"/>
            <a:ext cx="8991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12B"/>
                </a:solidFill>
              </a:defRPr>
            </a:pPr>
            <a:r>
              <a:rPr sz="1425">
                <a:solidFill>
                  <a:srgbClr val="17212B"/>
                </a:solidFill>
              </a:rPr>
              <a:t>• `SEXIST` test desteği 141; bu yüzden sınıf bazlı tablo zorunlu.</a:t>
            </a:r>
          </a:p>
        </p:txBody>
      </p:sp>
    </p:spTree>
    <p:extLst>
      <p:ext uri="{BB962C8B-B14F-4D97-AF65-F5344CB8AC3E}">
        <p14:creationId xmlns:p14="http://schemas.microsoft.com/office/powerpoint/2010/main" val="10675860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02C030-FB05-448E-BCF9-5556128C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6916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12B"/>
                </a:solidFill>
              </a:defRPr>
            </a:pPr>
            <a:r>
              <a:rPr sz="3150" b="1">
                <a:solidFill>
                  <a:srgbClr val="17212B"/>
                </a:solidFill>
              </a:rPr>
              <a:t>Veri denetimi: büyük ama dengesiz ve heterojen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B4171BF-67C5-40CC-8790-7E3F32DF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5619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673"/>
                </a:solidFill>
              </a:defRPr>
            </a:pPr>
            <a:r>
              <a:rPr sz="1575">
                <a:solidFill>
                  <a:srgbClr val="5B6673"/>
                </a:solidFill>
              </a:rPr>
              <a:t>77.800 satır; medyan uzunluk 103 karakter, p95 uzunluk 643 karakter.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1731FA7-2C28-4E44-99EF-00241A73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pic>
        <p:nvPicPr>
          <p:cNvPr id="4" name="class-distributi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7e1bb66f8f4341"/>
          <a:stretch xmlns:a="http://schemas.openxmlformats.org/drawingml/2006/main"/>
        </p:blipFill>
        <p:spPr>
          <a:xfrm xmlns:a="http://schemas.openxmlformats.org/drawingml/2006/main">
            <a:off x="1195388" y="1927860"/>
            <a:ext cx="6410325" cy="3846195"/>
          </a:xfrm>
          <a:prstGeom xmlns:a="http://schemas.openxmlformats.org/drawingml/2006/main" prst="rect">
            <a:avLst/>
          </a:prstGeom>
        </p:spPr>
      </p:pic>
      <p:pic>
        <p:nvPicPr>
          <p:cNvPr id="5" name="source-distributi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3f4685bef9426b"/>
          <a:stretch xmlns:a="http://schemas.openxmlformats.org/drawingml/2006/main"/>
        </p:blipFill>
        <p:spPr>
          <a:xfrm xmlns:a="http://schemas.openxmlformats.org/drawingml/2006/main">
            <a:off x="1195388" y="5945505"/>
            <a:ext cx="6410325" cy="384619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107105-5F3B-4C9A-B17C-ABD97932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24050"/>
            <a:ext cx="171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Sınıf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CC8A81-E9A3-4763-BE74-07A3BF58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924050"/>
            <a:ext cx="1238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Satır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560A82-CB6D-4F76-B299-DCAB82FC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92405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Pay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361646-9BC3-429A-98FE-8C700E24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71700"/>
            <a:ext cx="9220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solidFill>
              <a:srgbClr val="D5DD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2B95EF-70F6-4B80-B87C-19167BE3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6695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7C7B"/>
                </a:solidFill>
              </a:defRPr>
            </a:pPr>
            <a:r>
              <a:rPr sz="1350" b="1">
                <a:solidFill>
                  <a:srgbClr val="0E7C7B"/>
                </a:solidFill>
              </a:rPr>
              <a:t>OTHER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6E4307-1182-442D-8920-429949F1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266950"/>
            <a:ext cx="123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7C7B"/>
                </a:solidFill>
              </a:defRPr>
            </a:pPr>
            <a:r>
              <a:rPr sz="1350" b="1">
                <a:solidFill>
                  <a:srgbClr val="0E7C7B"/>
                </a:solidFill>
              </a:rPr>
              <a:t>37663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6D62BB-DE60-402E-A375-F8628088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266950"/>
            <a:ext cx="857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7C7B"/>
                </a:solidFill>
              </a:defRPr>
            </a:pPr>
            <a:r>
              <a:rPr sz="1350" b="1">
                <a:solidFill>
                  <a:srgbClr val="0E7C7B"/>
                </a:solidFill>
              </a:rPr>
              <a:t>48.4%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28DD49-9C6B-4882-97A8-9C886D63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5270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PROFANITY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88C1F5-F5DB-4677-8541-83892635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52700"/>
            <a:ext cx="123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18252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82CDF8-41FB-42EE-8DF7-9BA00850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552700"/>
            <a:ext cx="857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23.5%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B74C7E-6B23-474B-ACC4-872A29F4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3845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INSULT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658438-E70D-4BF8-B4AC-797922AA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838450"/>
            <a:ext cx="123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10777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7F610B-253E-4CFF-910C-25EA47DB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838450"/>
            <a:ext cx="857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13.9%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E8CB07-0649-4D4E-8DFE-C1C73654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2420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RACIST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97DB0D-D320-4A1B-A3B0-E2986AB9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124200"/>
            <a:ext cx="123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10163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26C2D2-C7FD-402D-B9B7-8DE052CA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124200"/>
            <a:ext cx="857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13.1%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B2E286-F1C0-4A8D-9958-1980146A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9090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SEXIST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887218-3366-4567-951D-C3248E81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390900"/>
            <a:ext cx="123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945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3BEA13-A285-4E13-B404-E5206792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390900"/>
            <a:ext cx="857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1.2%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42CC01-5ED5-4CDF-B00C-28ABDF89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48100"/>
            <a:ext cx="171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Kaynak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53D765-A117-42D2-A380-F6DA8046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848100"/>
            <a:ext cx="1238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Satır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AF5B30-9137-4034-8612-6B09BBBE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8481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Pay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4ED7D5-ADD4-4E16-A3FB-E5C5E237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95750"/>
            <a:ext cx="9220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solidFill>
              <a:srgbClr val="D5DD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BD7379-239B-473F-9CD6-B962ABA7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9100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bully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CAFBF0-8905-49BB-8563-4B62128A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191000"/>
            <a:ext cx="123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2525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E5485A-6C9A-470F-995E-F55596B1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191000"/>
            <a:ext cx="857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3.2%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2B8FCE-A3E5-495C-8C3C-3C30EE7D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7675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jigsaw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C83E35-EFED-4F23-8D8A-62DB5C94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476750"/>
            <a:ext cx="123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35624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B20381-4A00-4FFA-96FE-C1E52FA4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476750"/>
            <a:ext cx="857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45.8%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471897-1D35-4214-91B7-696FC632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6250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offenseval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372465-319C-4733-8401-446B8000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762500"/>
            <a:ext cx="123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87E819-97BB-49F2-9F8C-4E0D5ADD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762500"/>
            <a:ext cx="857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0.0%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DCE131-6494-426C-B4EB-75F03A38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04825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told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499614-C2FF-416C-B8D0-052A242A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048250"/>
            <a:ext cx="123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39551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C17CEE-A5BE-4CD5-A1CD-B8F2EAB4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048250"/>
            <a:ext cx="857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50.8%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F9DD0B-BC7B-4240-B781-5BCA5919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1495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troff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FD79C1-691A-43F4-B31F-A7A188BC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314950"/>
            <a:ext cx="123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94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57BFDB-FEF4-43FE-8BE3-F03057D0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314950"/>
            <a:ext cx="857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0.1%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5FC7050-337D-4050-A779-95E8BE4C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72150"/>
            <a:ext cx="9220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E7C7B"/>
                </a:solidFill>
              </a:defRPr>
            </a:pPr>
            <a:r>
              <a:rPr sz="1125" b="1">
                <a:solidFill>
                  <a:srgbClr val="0E7C7B"/>
                </a:solidFill>
              </a:rPr>
              <a:t>Neden önemli?</a:t>
            </a:r>
          </a:p>
        </p:txBody>
      </p:sp>
      <p:sp>
        <p:nvSpPr>
          <p:cNvPr id="45" name="bullet-0">
            <a:extLst xmlns:a="http://schemas.openxmlformats.org/drawingml/2006/main">
              <a:ext uri="{FF2B5EF4-FFF2-40B4-BE49-F238E27FC236}">
                <a16:creationId xmlns:a16="http://schemas.microsoft.com/office/drawing/2014/main" id="{8B338343-6B8B-4B00-B7F4-0B8CF9A2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038850"/>
            <a:ext cx="9220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12B"/>
                </a:solidFill>
              </a:defRPr>
            </a:pPr>
            <a:r>
              <a:rPr sz="1425">
                <a:solidFill>
                  <a:srgbClr val="17212B"/>
                </a:solidFill>
              </a:rPr>
              <a:t>• Kaynak heterojenliği domain shift riskini artırır.</a:t>
            </a:r>
          </a:p>
        </p:txBody>
      </p:sp>
      <p:sp>
        <p:nvSpPr>
          <p:cNvPr id="46" name="bullet-1">
            <a:extLst xmlns:a="http://schemas.openxmlformats.org/drawingml/2006/main">
              <a:ext uri="{FF2B5EF4-FFF2-40B4-BE49-F238E27FC236}">
                <a16:creationId xmlns:a16="http://schemas.microsoft.com/office/drawing/2014/main" id="{62E52731-F043-4AEE-9E8A-23C83D13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362700"/>
            <a:ext cx="9220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12B"/>
                </a:solidFill>
              </a:defRPr>
            </a:pPr>
            <a:r>
              <a:rPr sz="1425">
                <a:solidFill>
                  <a:srgbClr val="17212B"/>
                </a:solidFill>
              </a:rPr>
              <a:t>• `SEXIST` tüm verinin yaklaşık %1.2’si; macro-F1 bu yüzden ana başarı metriği.</a:t>
            </a:r>
          </a:p>
        </p:txBody>
      </p:sp>
    </p:spTree>
    <p:extLst>
      <p:ext uri="{BB962C8B-B14F-4D97-AF65-F5344CB8AC3E}">
        <p14:creationId xmlns:p14="http://schemas.microsoft.com/office/powerpoint/2010/main" val="178525002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A88344-9162-44AB-9A5B-68F604FE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168021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12B"/>
                </a:solidFill>
              </a:defRPr>
            </a:pPr>
            <a:r>
              <a:rPr sz="3150" b="1">
                <a:solidFill>
                  <a:srgbClr val="17212B"/>
                </a:solidFill>
              </a:rPr>
              <a:t>Deney hattı sabit split ve ortak metriklerle kuruldu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45BC6FD-798D-4C16-AE88-1AB90FF4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68961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673"/>
                </a:solidFill>
              </a:defRPr>
            </a:pPr>
            <a:r>
              <a:rPr sz="1575">
                <a:solidFill>
                  <a:srgbClr val="5B6673"/>
                </a:solidFill>
              </a:rPr>
              <a:t>Aynı split, aynı label sırası ve aynı post-hoc değerlendirme bütün modellerde korunur.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461FE60-4A8A-46E8-9897-62394E86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EA5BB-9744-49C3-8296-AF34DE15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1809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Aşama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8B0E3-F447-4036-9B6C-39B3A708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057400"/>
            <a:ext cx="533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Uygulama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33406E-35BC-4EE2-BDBC-A90FD4F9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57400"/>
            <a:ext cx="4381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Gerekçe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20D3E-2578-4512-9DCA-59923EFF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1238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solidFill>
              <a:srgbClr val="D5DD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792EE7-8C04-4789-B739-24AB66CA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180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7C7B"/>
                </a:solidFill>
              </a:defRPr>
            </a:pPr>
            <a:r>
              <a:rPr sz="1350" b="1">
                <a:solidFill>
                  <a:srgbClr val="0E7C7B"/>
                </a:solidFill>
              </a:rPr>
              <a:t>Split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06DF40-38A1-4553-9698-1A299FFB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003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7C7B"/>
                </a:solidFill>
              </a:defRPr>
            </a:pPr>
            <a:r>
              <a:rPr sz="1350" b="1">
                <a:solidFill>
                  <a:srgbClr val="0E7C7B"/>
                </a:solidFill>
              </a:rPr>
              <a:t>Stratified 70/15/15, seed=42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5EF4AC-EB9F-43B9-A5A5-B5E80F34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00300"/>
            <a:ext cx="438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7C7B"/>
                </a:solidFill>
              </a:defRPr>
            </a:pPr>
            <a:r>
              <a:rPr sz="1350" b="1">
                <a:solidFill>
                  <a:srgbClr val="0E7C7B"/>
                </a:solidFill>
              </a:rPr>
              <a:t>Test set karşılaştırması sabit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418287-7F78-47AA-9791-87FCC842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180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Label order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65E6A6-B82C-4987-9700-ADE34C61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8605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OTHER, PROFANITY, INSULT, RACIST, SEXIST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282D34-F192-4B72-B05F-E2B621FC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86050"/>
            <a:ext cx="438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Tüm CSV/plotlarda aynı sıra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7E09F6-4AA9-4756-9107-3F2BC1A0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180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Preprocess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B21E27-0224-4009-B000-AB7581B7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718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raw / light / light_masked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36A13B-76F3-449D-AEB1-D35D91B7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71800"/>
            <a:ext cx="438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Baseline ablation + transformer light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400DDD-DF69-4E22-B2D1-A090F21B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180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Baseline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627697-4A3E-49BD-87B4-23C14877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5755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TF-IDF + SGD log-loss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F9420B-CFF6-4A0D-8A55-E7C40129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57550"/>
            <a:ext cx="438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Güçlü, hızlı alt sınır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B3F466-2B44-4A46-BD56-F3CA24D5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180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Transformers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E61CB0-E37D-4F40-825E-DB2D226D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2425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BERTurk, ELECTRA, XLM-R, BERTweet, ConvBERTurk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D52D83-0EFA-4D29-99E1-478B14E1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24250"/>
            <a:ext cx="438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Türkçe ve multilingual karşılaştırma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67FD3E-C077-4DC8-AE50-A31E2547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180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Calibration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5F9068-D2B2-440C-BCE6-D0C8DD89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100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Validation logits ile temperature scaling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4A2365-EB14-411C-A327-0CE5A590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10000"/>
            <a:ext cx="438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Test metrikleri kalibre olasılıktan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DB8D4C-8FEC-4A98-8288-774CE7A8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2057400"/>
            <a:ext cx="400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Eğitim ayarı</a:t>
            </a:r>
          </a:p>
        </p:txBody>
      </p:sp>
      <p:sp>
        <p:nvSpPr>
          <p:cNvPr id="27" name="bullet-0">
            <a:extLst xmlns:a="http://schemas.openxmlformats.org/drawingml/2006/main">
              <a:ext uri="{FF2B5EF4-FFF2-40B4-BE49-F238E27FC236}">
                <a16:creationId xmlns:a16="http://schemas.microsoft.com/office/drawing/2014/main" id="{A8977F40-D2CB-44F6-93A6-252BFF0B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24574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12B"/>
                </a:solidFill>
              </a:defRPr>
            </a:pPr>
            <a:r>
              <a:rPr sz="1500">
                <a:solidFill>
                  <a:srgbClr val="17212B"/>
                </a:solidFill>
              </a:rPr>
              <a:t>• 1 epoch, max_length=128</a:t>
            </a:r>
          </a:p>
        </p:txBody>
      </p:sp>
      <p:sp>
        <p:nvSpPr>
          <p:cNvPr id="28" name="bullet-1">
            <a:extLst xmlns:a="http://schemas.openxmlformats.org/drawingml/2006/main">
              <a:ext uri="{FF2B5EF4-FFF2-40B4-BE49-F238E27FC236}">
                <a16:creationId xmlns:a16="http://schemas.microsoft.com/office/drawing/2014/main" id="{24156BCF-93D3-4435-AD84-92E12041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28003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12B"/>
                </a:solidFill>
              </a:defRPr>
            </a:pPr>
            <a:r>
              <a:rPr sz="1500">
                <a:solidFill>
                  <a:srgbClr val="17212B"/>
                </a:solidFill>
              </a:rPr>
              <a:t>• batch=8, grad_acc=2</a:t>
            </a:r>
          </a:p>
        </p:txBody>
      </p:sp>
      <p:sp>
        <p:nvSpPr>
          <p:cNvPr id="29" name="bullet-2">
            <a:extLst xmlns:a="http://schemas.openxmlformats.org/drawingml/2006/main">
              <a:ext uri="{FF2B5EF4-FFF2-40B4-BE49-F238E27FC236}">
                <a16:creationId xmlns:a16="http://schemas.microsoft.com/office/drawing/2014/main" id="{1143E84D-4E6C-4019-B1D0-BEFB3701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31242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12B"/>
                </a:solidFill>
              </a:defRPr>
            </a:pPr>
            <a:r>
              <a:rPr sz="1500">
                <a:solidFill>
                  <a:srgbClr val="17212B"/>
                </a:solidFill>
              </a:rPr>
              <a:t>• weight_decay=0.01</a:t>
            </a:r>
          </a:p>
        </p:txBody>
      </p:sp>
      <p:sp>
        <p:nvSpPr>
          <p:cNvPr id="30" name="bullet-3">
            <a:extLst xmlns:a="http://schemas.openxmlformats.org/drawingml/2006/main">
              <a:ext uri="{FF2B5EF4-FFF2-40B4-BE49-F238E27FC236}">
                <a16:creationId xmlns:a16="http://schemas.microsoft.com/office/drawing/2014/main" id="{C9C35035-7851-4211-90E0-5EEBB37C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34671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12B"/>
                </a:solidFill>
              </a:defRPr>
            </a:pPr>
            <a:r>
              <a:rPr sz="1500">
                <a:solidFill>
                  <a:srgbClr val="17212B"/>
                </a:solidFill>
              </a:rPr>
              <a:t>• warmup_ratio=0.06</a:t>
            </a:r>
          </a:p>
        </p:txBody>
      </p:sp>
      <p:sp>
        <p:nvSpPr>
          <p:cNvPr id="31" name="bullet-4">
            <a:extLst xmlns:a="http://schemas.openxmlformats.org/drawingml/2006/main">
              <a:ext uri="{FF2B5EF4-FFF2-40B4-BE49-F238E27FC236}">
                <a16:creationId xmlns:a16="http://schemas.microsoft.com/office/drawing/2014/main" id="{7610DB85-712A-42D1-8A7E-F35C7432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37909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12B"/>
                </a:solidFill>
              </a:defRPr>
            </a:pPr>
            <a:r>
              <a:rPr sz="1500">
                <a:solidFill>
                  <a:srgbClr val="17212B"/>
                </a:solidFill>
              </a:rPr>
              <a:t>• class_weight açık</a:t>
            </a:r>
          </a:p>
        </p:txBody>
      </p:sp>
      <p:sp>
        <p:nvSpPr>
          <p:cNvPr id="32" name="bullet-5">
            <a:extLst xmlns:a="http://schemas.openxmlformats.org/drawingml/2006/main">
              <a:ext uri="{FF2B5EF4-FFF2-40B4-BE49-F238E27FC236}">
                <a16:creationId xmlns:a16="http://schemas.microsoft.com/office/drawing/2014/main" id="{8AFF591F-56C4-4DC9-9475-8470665A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41338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12B"/>
                </a:solidFill>
              </a:defRPr>
            </a:pPr>
            <a:r>
              <a:rPr sz="1500">
                <a:solidFill>
                  <a:srgbClr val="17212B"/>
                </a:solidFill>
              </a:rPr>
              <a:t>• OOM fallback: batch=4, grad_acc=4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E6292F-79A6-4F5F-9514-9FF26D8A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4591050"/>
            <a:ext cx="400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Üretilen artefactler</a:t>
            </a:r>
          </a:p>
        </p:txBody>
      </p:sp>
      <p:sp>
        <p:nvSpPr>
          <p:cNvPr id="34" name="bullet-0">
            <a:extLst xmlns:a="http://schemas.openxmlformats.org/drawingml/2006/main">
              <a:ext uri="{FF2B5EF4-FFF2-40B4-BE49-F238E27FC236}">
                <a16:creationId xmlns:a16="http://schemas.microsoft.com/office/drawing/2014/main" id="{A5B0282E-10EC-46EE-857D-2C28D3C4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49911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12B"/>
                </a:solidFill>
              </a:defRPr>
            </a:pPr>
            <a:r>
              <a:rPr sz="1500">
                <a:solidFill>
                  <a:srgbClr val="17212B"/>
                </a:solidFill>
              </a:rPr>
              <a:t>• metrics.json, per_class_report.csv</a:t>
            </a:r>
          </a:p>
        </p:txBody>
      </p:sp>
      <p:sp>
        <p:nvSpPr>
          <p:cNvPr id="35" name="bullet-1">
            <a:extLst xmlns:a="http://schemas.openxmlformats.org/drawingml/2006/main">
              <a:ext uri="{FF2B5EF4-FFF2-40B4-BE49-F238E27FC236}">
                <a16:creationId xmlns:a16="http://schemas.microsoft.com/office/drawing/2014/main" id="{9F6DCAEC-3B02-41C2-A7A1-5AA8F8F0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53149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12B"/>
                </a:solidFill>
              </a:defRPr>
            </a:pPr>
            <a:r>
              <a:rPr sz="1500">
                <a:solidFill>
                  <a:srgbClr val="17212B"/>
                </a:solidFill>
              </a:rPr>
              <a:t>• confusion_matrix.csv/png</a:t>
            </a:r>
          </a:p>
        </p:txBody>
      </p:sp>
      <p:sp>
        <p:nvSpPr>
          <p:cNvPr id="36" name="bullet-2">
            <a:extLst xmlns:a="http://schemas.openxmlformats.org/drawingml/2006/main">
              <a:ext uri="{FF2B5EF4-FFF2-40B4-BE49-F238E27FC236}">
                <a16:creationId xmlns:a16="http://schemas.microsoft.com/office/drawing/2014/main" id="{7BAF4D0E-C8F5-439C-90C7-F44643CF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56578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12B"/>
                </a:solidFill>
              </a:defRPr>
            </a:pPr>
            <a:r>
              <a:rPr sz="1500">
                <a:solidFill>
                  <a:srgbClr val="17212B"/>
                </a:solidFill>
              </a:rPr>
              <a:t>• reliability ve threshold plotları</a:t>
            </a:r>
          </a:p>
        </p:txBody>
      </p:sp>
      <p:sp>
        <p:nvSpPr>
          <p:cNvPr id="37" name="bullet-3">
            <a:extLst xmlns:a="http://schemas.openxmlformats.org/drawingml/2006/main">
              <a:ext uri="{FF2B5EF4-FFF2-40B4-BE49-F238E27FC236}">
                <a16:creationId xmlns:a16="http://schemas.microsoft.com/office/drawing/2014/main" id="{8A8748EC-8174-4D4C-9FA8-B0688849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59817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12B"/>
                </a:solidFill>
              </a:defRPr>
            </a:pPr>
            <a:r>
              <a:rPr sz="1500">
                <a:solidFill>
                  <a:srgbClr val="17212B"/>
                </a:solidFill>
              </a:rPr>
              <a:t>• final_model_comparison.csv</a:t>
            </a:r>
          </a:p>
        </p:txBody>
      </p:sp>
    </p:spTree>
    <p:extLst>
      <p:ext uri="{BB962C8B-B14F-4D97-AF65-F5344CB8AC3E}">
        <p14:creationId xmlns:p14="http://schemas.microsoft.com/office/powerpoint/2010/main" val="42951234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41516C-C936-48D9-8296-8E4BCB64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168021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12B"/>
                </a:solidFill>
              </a:defRPr>
            </a:pPr>
            <a:r>
              <a:rPr sz="3150" b="1">
                <a:solidFill>
                  <a:srgbClr val="17212B"/>
                </a:solidFill>
              </a:rPr>
              <a:t>HPO sınırlı ama savunulabilir tutuldu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DEF5B59-648A-4AAD-97DB-FAFC7026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63246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673"/>
                </a:solidFill>
              </a:defRPr>
            </a:pPr>
            <a:r>
              <a:rPr sz="1575">
                <a:solidFill>
                  <a:srgbClr val="5B6673"/>
                </a:solidFill>
              </a:rPr>
              <a:t>BERTurk üzerinde 6 kısa trial; seçilen ayar diğer transformer koşularına taşındı.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7EF85FB-0FF4-4D18-BDF4-7137E47C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F99A71-8169-4E4F-9090-9CA52C2F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571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#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A4C61-735F-4AC0-B588-D6F2AD2A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95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LR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747B19-47BF-418A-9EDD-4368FBBF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019300"/>
            <a:ext cx="1047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Class wt.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673D0E-DAB5-4D38-BEFF-30B6C733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19300"/>
            <a:ext cx="1428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Val macro-F1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D2A8D-A6E8-4F37-903F-83BB1671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019300"/>
            <a:ext cx="1428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Classwise ECE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78A6A1-2C66-4D41-9D24-D33520F8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19300"/>
            <a:ext cx="95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Runtime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46AF06-5C45-4178-A538-75A2ED61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1143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solidFill>
              <a:srgbClr val="D5DD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E6EB1C-42D7-4005-9FB6-5A924846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57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7C7B"/>
                </a:solidFill>
              </a:defRPr>
            </a:pPr>
            <a:r>
              <a:rPr sz="1350" b="1">
                <a:solidFill>
                  <a:srgbClr val="0E7C7B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34886E-14BA-4ECA-8E11-E669A3CD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62200"/>
            <a:ext cx="95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7C7B"/>
                </a:solidFill>
              </a:defRPr>
            </a:pPr>
            <a:r>
              <a:rPr sz="1350" b="1">
                <a:solidFill>
                  <a:srgbClr val="0E7C7B"/>
                </a:solidFill>
              </a:rPr>
              <a:t>2e-05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EA10F7-1B6B-4855-A190-794C8C04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36220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7C7B"/>
                </a:solidFill>
              </a:defRPr>
            </a:pPr>
            <a:r>
              <a:rPr sz="1350" b="1">
                <a:solidFill>
                  <a:srgbClr val="0E7C7B"/>
                </a:solidFill>
              </a:rPr>
              <a:t>yes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20B0F9-7EBB-48A8-A423-7A25BF0D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62200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7C7B"/>
                </a:solidFill>
              </a:defRPr>
            </a:pPr>
            <a:r>
              <a:rPr sz="1350" b="1">
                <a:solidFill>
                  <a:srgbClr val="0E7C7B"/>
                </a:solidFill>
              </a:rPr>
              <a:t>0.6587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D3542D-8FFE-454A-95A2-3A75ED1F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62200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7C7B"/>
                </a:solidFill>
              </a:defRPr>
            </a:pPr>
            <a:r>
              <a:rPr sz="1350" b="1">
                <a:solidFill>
                  <a:srgbClr val="0E7C7B"/>
                </a:solidFill>
              </a:rPr>
              <a:t>0.0263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FAAE66-4961-49AC-B753-70CBA05C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62200"/>
            <a:ext cx="95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7C7B"/>
                </a:solidFill>
              </a:defRPr>
            </a:pPr>
            <a:r>
              <a:rPr sz="1350" b="1">
                <a:solidFill>
                  <a:srgbClr val="0E7C7B"/>
                </a:solidFill>
              </a:rPr>
              <a:t>80s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CB6247-F79F-4B62-A3EB-2EEB74B5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57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5059F9-2FBB-4162-BCBD-9300C361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47950"/>
            <a:ext cx="95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3e-05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B1F612-5A8A-48CF-B158-37A9A206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6479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yes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9A47CD-1E2E-4C33-B759-B1C501F2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47950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0.7267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8F2B8F-F506-4192-9041-BC6E5E83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47950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0.0279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7EE8B7-9875-4104-8591-D3680EBA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47950"/>
            <a:ext cx="95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80s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E3D422-6C5B-4A5C-98AB-F8F3AD12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57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D6FE42-2D8F-448B-9DB2-7EA67114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33700"/>
            <a:ext cx="95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1e-05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330119-87E1-4B40-9BBA-3CFFBF26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93370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yes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EEDD3F-45BB-4155-8F6E-7415ED20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33700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0.5607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3284D4-62CF-4F1D-BE8D-298504BC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33700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0.0387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C8DB0C-27B3-46F9-A4EB-56C47D2D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33700"/>
            <a:ext cx="95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79s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0F38EB-6A22-4EF9-AA7D-CA76E466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57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565E01-D49A-4671-BC66-9A74A60A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19450"/>
            <a:ext cx="95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2e-05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55FB23-A82F-438D-B7F5-A5F57169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2194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yes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F4B8D5-E8B5-46FD-BB83-56BF37EB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19450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0.6545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84FEEA-4DEA-4E00-8D0E-8E3246A8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19450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0.0275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95F720-DE1C-415D-B239-DFD7FDEE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19450"/>
            <a:ext cx="95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79s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60B311-4EDD-41C2-B07C-1FC8F055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57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9AE4A6-3F87-49FE-9EDD-F7F29DAD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86150"/>
            <a:ext cx="95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2e-05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2BB2A3-9C8D-4DE5-9BF5-8C514E09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861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yes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28FD16-210E-4245-A3F8-6F5336CB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86150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0.667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0312C1-B49E-41DA-BAED-C98F92D6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486150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0.0244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FDB363-F819-49C2-B7C5-096240A8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86150"/>
            <a:ext cx="95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80s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B9534E2-A622-461F-8212-4BF612EF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57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84E6EAC-82BB-4C1E-A975-0B358F87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71900"/>
            <a:ext cx="95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2e-05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2092460-AE86-4FFF-9957-68041447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77190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no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705C4A0-C4A4-4284-89D9-7583009B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71900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0.667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301448E-8D64-4791-B224-BB807E72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771900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0.0152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B1E1A67-3A6B-4641-BFB5-2BD962F5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71900"/>
            <a:ext cx="95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77s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A022C78-549C-49F1-8F91-09EF9FF8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201930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Seçilen ayar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521B76E-89FD-4A61-A12A-E5AEC6B5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2381250"/>
            <a:ext cx="2000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Parametre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63491CB-190E-486B-B040-437148EE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5650" y="2381250"/>
            <a:ext cx="171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Değer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F9EB2E4-D687-44CA-BA82-85C4870E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262890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solidFill>
              <a:srgbClr val="D5DDD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7EE5913-AB71-4C26-A3AE-E0FCB9FD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272415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7C7B"/>
                </a:solidFill>
              </a:defRPr>
            </a:pPr>
            <a:r>
              <a:rPr sz="1350" b="1">
                <a:solidFill>
                  <a:srgbClr val="0E7C7B"/>
                </a:solidFill>
              </a:rPr>
              <a:t>trial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4C37CF3-4276-46C1-BAC1-075E34FB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5650" y="272415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7C7B"/>
                </a:solidFill>
              </a:defRPr>
            </a:pPr>
            <a:r>
              <a:rPr sz="1350" b="1">
                <a:solidFill>
                  <a:srgbClr val="0E7C7B"/>
                </a:solidFill>
              </a:rPr>
              <a:t>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09BE178-DE5B-4431-912F-5B661C6F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300990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learning_rate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1C1547E-B62D-4EB2-A9B7-8811B1FE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5650" y="300990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3e-05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F819F65-F04B-43FC-A1A1-72AFDFF9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329565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weight_decay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8853B36-0A4F-4800-B586-1795CEFE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5650" y="329565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0.01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F60280C-944B-475F-B737-5F20ADC3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358140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warmup_ratio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704EBEE-B0D0-451C-84D6-EAE2DAA2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5650" y="358140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0.06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DBFDE5C-FAEE-4199-B1DB-7627264A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384810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class_weight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57E51B0-636A-41EB-8996-0AAAD607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5650" y="384810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true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35C5CE0-0903-4C12-85B1-008A3D81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424815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E7C7B"/>
                </a:solidFill>
              </a:defRPr>
            </a:pPr>
            <a:r>
              <a:rPr sz="1125" b="1">
                <a:solidFill>
                  <a:srgbClr val="0E7C7B"/>
                </a:solidFill>
              </a:rPr>
              <a:t>Seçim kuralı</a:t>
            </a:r>
          </a:p>
        </p:txBody>
      </p:sp>
      <p:sp>
        <p:nvSpPr>
          <p:cNvPr id="62" name="bullet-0">
            <a:extLst xmlns:a="http://schemas.openxmlformats.org/drawingml/2006/main">
              <a:ext uri="{FF2B5EF4-FFF2-40B4-BE49-F238E27FC236}">
                <a16:creationId xmlns:a16="http://schemas.microsoft.com/office/drawing/2014/main" id="{9E64F1B1-1FB9-4577-AC31-DED4FF35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451485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12B"/>
                </a:solidFill>
              </a:defRPr>
            </a:pPr>
            <a:r>
              <a:rPr sz="1425">
                <a:solidFill>
                  <a:srgbClr val="17212B"/>
                </a:solidFill>
              </a:rPr>
              <a:t>• Önce validation macro-F1 maksimize edildi.</a:t>
            </a:r>
          </a:p>
        </p:txBody>
      </p:sp>
      <p:sp>
        <p:nvSpPr>
          <p:cNvPr id="63" name="bullet-1">
            <a:extLst xmlns:a="http://schemas.openxmlformats.org/drawingml/2006/main">
              <a:ext uri="{FF2B5EF4-FFF2-40B4-BE49-F238E27FC236}">
                <a16:creationId xmlns:a16="http://schemas.microsoft.com/office/drawing/2014/main" id="{2A7EEA9B-9D24-4C1E-A021-187AC8D2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483870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12B"/>
                </a:solidFill>
              </a:defRPr>
            </a:pPr>
            <a:r>
              <a:rPr sz="1425">
                <a:solidFill>
                  <a:srgbClr val="17212B"/>
                </a:solidFill>
              </a:rPr>
              <a:t>• 0.003 içindeki eşitliklerde classwise ECE ve runtime’a bakıldı.</a:t>
            </a:r>
          </a:p>
        </p:txBody>
      </p:sp>
      <p:sp>
        <p:nvSpPr>
          <p:cNvPr id="64" name="bullet-2">
            <a:extLst xmlns:a="http://schemas.openxmlformats.org/drawingml/2006/main">
              <a:ext uri="{FF2B5EF4-FFF2-40B4-BE49-F238E27FC236}">
                <a16:creationId xmlns:a16="http://schemas.microsoft.com/office/drawing/2014/main" id="{A7DCCF49-B329-4E9C-BE87-CF935C32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516255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12B"/>
                </a:solidFill>
              </a:defRPr>
            </a:pPr>
            <a:r>
              <a:rPr sz="1425">
                <a:solidFill>
                  <a:srgbClr val="17212B"/>
                </a:solidFill>
              </a:rPr>
              <a:t>• Bu tam Optuna araması değil; raporda limited HPO olarak yazıldı.</a:t>
            </a:r>
          </a:p>
        </p:txBody>
      </p:sp>
    </p:spTree>
    <p:extLst>
      <p:ext uri="{BB962C8B-B14F-4D97-AF65-F5344CB8AC3E}">
        <p14:creationId xmlns:p14="http://schemas.microsoft.com/office/powerpoint/2010/main" val="109279805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DEB3D2-E544-4106-B559-A577779B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6916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12B"/>
                </a:solidFill>
              </a:defRPr>
            </a:pPr>
            <a:r>
              <a:rPr sz="3150" b="1">
                <a:solidFill>
                  <a:srgbClr val="17212B"/>
                </a:solidFill>
              </a:rPr>
              <a:t>Model karşılaştırması macro-F1 üzerinden okunmalı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11184C6-AA5F-4B91-95C4-8CA6BF6D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52768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673"/>
                </a:solidFill>
              </a:defRPr>
            </a:pPr>
            <a:r>
              <a:rPr sz="1575">
                <a:solidFill>
                  <a:srgbClr val="5B6673"/>
                </a:solidFill>
              </a:rPr>
              <a:t>En iyi koşu berturk_light; baseline’a göre macro-F1 artışı +0.1028.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F17FDAD-66C4-48C1-8983-ACCE851F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pic>
        <p:nvPicPr>
          <p:cNvPr id="4" name="comparison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99f611052442b6"/>
          <a:stretch xmlns:a="http://schemas.openxmlformats.org/drawingml/2006/main"/>
        </p:blipFill>
        <p:spPr>
          <a:xfrm xmlns:a="http://schemas.openxmlformats.org/drawingml/2006/main">
            <a:off x="685800" y="3417916"/>
            <a:ext cx="9334500" cy="492182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146CA3-C754-4978-95F8-6A8D1D7F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962150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A2CB09-5B9E-4F9F-84E9-36D6BF51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1962150"/>
            <a:ext cx="8096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F1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E7789F-9892-408B-985E-239280C8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1962150"/>
            <a:ext cx="10001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PR-AUC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6563D2-A86A-475A-BC8F-8ACE459A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1962150"/>
            <a:ext cx="8096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ECE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2B61CF-CDC9-4418-A204-321F3F0F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20980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solidFill>
              <a:srgbClr val="D5DD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3E64DC-B054-420E-817F-1A80918C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30505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E7C7B"/>
                </a:solidFill>
              </a:defRPr>
            </a:pPr>
            <a:r>
              <a:rPr sz="1275" b="1">
                <a:solidFill>
                  <a:srgbClr val="0E7C7B"/>
                </a:solidFill>
              </a:rPr>
              <a:t>BERTurk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C3622A-4505-4B52-A86E-FDB01C4B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2305050"/>
            <a:ext cx="809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E7C7B"/>
                </a:solidFill>
              </a:defRPr>
            </a:pPr>
            <a:r>
              <a:rPr sz="1275" b="1">
                <a:solidFill>
                  <a:srgbClr val="0E7C7B"/>
                </a:solidFill>
              </a:rPr>
              <a:t>0.8997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57B267-E67D-45F5-BF78-B976431F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2305050"/>
            <a:ext cx="10001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E7C7B"/>
                </a:solidFill>
              </a:defRPr>
            </a:pPr>
            <a:r>
              <a:rPr sz="1275" b="1">
                <a:solidFill>
                  <a:srgbClr val="0E7C7B"/>
                </a:solidFill>
              </a:rPr>
              <a:t>0.9456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2770BF-BB01-4DC0-8D04-5BBEEAC5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2305050"/>
            <a:ext cx="809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E7C7B"/>
                </a:solidFill>
              </a:defRPr>
            </a:pPr>
            <a:r>
              <a:rPr sz="1275" b="1">
                <a:solidFill>
                  <a:srgbClr val="0E7C7B"/>
                </a:solidFill>
              </a:rPr>
              <a:t>0.0089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DB070C-F237-4677-A17F-9A67C324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57175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BERTurk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9A5A80-51C5-4DF4-8B91-A441CF7C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2571750"/>
            <a:ext cx="809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0.8981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3E3E75-2430-4FCB-98B0-7109F254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2571750"/>
            <a:ext cx="10001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0.951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EB5218-3823-42A7-9172-9313969D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2571750"/>
            <a:ext cx="809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0.0111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057F2A-44E9-49C1-8603-4238A43D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85750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ConvBERTurk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2A5AA8-4048-4707-BBA7-00F71A5C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2857500"/>
            <a:ext cx="809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0.8894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A49B6F-C5A5-4EAA-B2F6-D5265E50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2857500"/>
            <a:ext cx="10001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0.9389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2DB8FC-4662-4CF0-9656-FA293198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2857500"/>
            <a:ext cx="809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0.0184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F81508-48D3-4421-9CC7-61CA400B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12420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Turkish ELECTRA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1FB186-6CCE-4E69-95A2-61F85550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3124200"/>
            <a:ext cx="809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0.88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F59594-2755-4544-8244-71BE05F8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3124200"/>
            <a:ext cx="10001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0.9406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80713E-BE00-4FC0-BC63-D93DDA85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3124200"/>
            <a:ext cx="809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0.0193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E4960A-838B-4301-ABB2-6F03A045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39090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TurkishBERTweet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F2BB19-C59F-4F88-A6B3-F1357BF2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3390900"/>
            <a:ext cx="809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0.8643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37EB7D-01C1-409F-AFDF-36BD8C0B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3390900"/>
            <a:ext cx="10001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0.926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4C7E54-2F2E-4DFA-9128-FB8F2E8C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3390900"/>
            <a:ext cx="809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0.0133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5AD28B-DD27-4614-ACD0-B37376BE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65760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XLM-RoBERTa base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3E4BBA-06BB-4A50-A237-47496263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3657600"/>
            <a:ext cx="809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0.8496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67FB16-8959-43DA-8C88-E514DD88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3657600"/>
            <a:ext cx="10001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0.9113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A6841E-B866-41BA-A43B-45E360C3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3657600"/>
            <a:ext cx="809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0.0168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32E485-B0BA-42E1-9619-57BFFB74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92430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TF-IDF + SGD log-loss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585DF9-854B-492A-8107-1B054CE9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3924300"/>
            <a:ext cx="809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0.7969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1CFCD2-8D44-4ED9-B23E-60754A14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3924300"/>
            <a:ext cx="10001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0.8592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94FF6E-DF57-4A70-9FA0-9175A85E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3924300"/>
            <a:ext cx="809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0.0083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07502F-5751-43B6-8DDA-2D4B8C55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343400"/>
            <a:ext cx="723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E7C7B"/>
                </a:solidFill>
              </a:defRPr>
            </a:pPr>
            <a:r>
              <a:rPr sz="1125" b="1">
                <a:solidFill>
                  <a:srgbClr val="0E7C7B"/>
                </a:solidFill>
              </a:rPr>
              <a:t>Okuma</a:t>
            </a:r>
          </a:p>
        </p:txBody>
      </p:sp>
      <p:sp>
        <p:nvSpPr>
          <p:cNvPr id="39" name="bullet-0">
            <a:extLst xmlns:a="http://schemas.openxmlformats.org/drawingml/2006/main">
              <a:ext uri="{FF2B5EF4-FFF2-40B4-BE49-F238E27FC236}">
                <a16:creationId xmlns:a16="http://schemas.microsoft.com/office/drawing/2014/main" id="{4F4B55EA-1B63-4389-B281-9AAAC6DC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1010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12B"/>
                </a:solidFill>
              </a:defRPr>
            </a:pPr>
            <a:r>
              <a:rPr sz="1425">
                <a:solidFill>
                  <a:srgbClr val="17212B"/>
                </a:solidFill>
              </a:rPr>
              <a:t>• BERTurk light en yüksek macro-F1 değerini verdi.</a:t>
            </a:r>
          </a:p>
        </p:txBody>
      </p:sp>
      <p:sp>
        <p:nvSpPr>
          <p:cNvPr id="40" name="bullet-1">
            <a:extLst xmlns:a="http://schemas.openxmlformats.org/drawingml/2006/main">
              <a:ext uri="{FF2B5EF4-FFF2-40B4-BE49-F238E27FC236}">
                <a16:creationId xmlns:a16="http://schemas.microsoft.com/office/drawing/2014/main" id="{1EE87D41-5073-4C35-96C6-7A58EC6C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93395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12B"/>
                </a:solidFill>
              </a:defRPr>
            </a:pPr>
            <a:r>
              <a:rPr sz="1425">
                <a:solidFill>
                  <a:srgbClr val="17212B"/>
                </a:solidFill>
              </a:rPr>
              <a:t>• BERTurk raw PR-AUC’ta çok güçlü ama macro-F1’de light koşusunun az gerisinde.</a:t>
            </a:r>
          </a:p>
        </p:txBody>
      </p:sp>
      <p:sp>
        <p:nvSpPr>
          <p:cNvPr id="41" name="bullet-2">
            <a:extLst xmlns:a="http://schemas.openxmlformats.org/drawingml/2006/main">
              <a:ext uri="{FF2B5EF4-FFF2-40B4-BE49-F238E27FC236}">
                <a16:creationId xmlns:a16="http://schemas.microsoft.com/office/drawing/2014/main" id="{6ED43309-596E-455C-A4C4-AE6B2852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23875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12B"/>
                </a:solidFill>
              </a:defRPr>
            </a:pPr>
            <a:r>
              <a:rPr sz="1425">
                <a:solidFill>
                  <a:srgbClr val="17212B"/>
                </a:solidFill>
              </a:rPr>
              <a:t>• XLM-R multilingual kontrol olarak geride kaldı; Türkçe odaklı modeller avantajlı.</a:t>
            </a:r>
          </a:p>
        </p:txBody>
      </p:sp>
    </p:spTree>
    <p:extLst>
      <p:ext uri="{BB962C8B-B14F-4D97-AF65-F5344CB8AC3E}">
        <p14:creationId xmlns:p14="http://schemas.microsoft.com/office/powerpoint/2010/main" val="156239028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8C2DB5-2B9B-4F8C-8F21-0C767432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70307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12B"/>
                </a:solidFill>
              </a:defRPr>
            </a:pPr>
            <a:r>
              <a:rPr sz="3150" b="1">
                <a:solidFill>
                  <a:srgbClr val="17212B"/>
                </a:solidFill>
              </a:rPr>
              <a:t>Confusion matrix hatanın nerede toplandığını gösteriyor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4ED2006-5549-4690-9E2D-7ACD8A87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61341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673"/>
                </a:solidFill>
              </a:defRPr>
            </a:pPr>
            <a:r>
              <a:rPr sz="1575">
                <a:solidFill>
                  <a:srgbClr val="5B6673"/>
                </a:solidFill>
              </a:rPr>
              <a:t>Raw sayımlar hata büyüklüğünü, normalized görünüm sınıf içi oranı gösterir.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E889B6D-85EF-4B5C-90E8-8C2F0CE8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pic>
        <p:nvPicPr>
          <p:cNvPr id="4" name="best-confusi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56b09492b0447b"/>
          <a:stretch xmlns:a="http://schemas.openxmlformats.org/drawingml/2006/main"/>
        </p:blipFill>
        <p:spPr>
          <a:xfrm xmlns:a="http://schemas.openxmlformats.org/drawingml/2006/main">
            <a:off x="628650" y="3667442"/>
            <a:ext cx="5238750" cy="4365625"/>
          </a:xfrm>
          <a:prstGeom xmlns:a="http://schemas.openxmlformats.org/drawingml/2006/main" prst="rect">
            <a:avLst/>
          </a:prstGeom>
        </p:spPr>
      </p:pic>
      <p:pic>
        <p:nvPicPr>
          <p:cNvPr id="5" name="best-confusion-normalize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7859811db24029"/>
          <a:stretch xmlns:a="http://schemas.openxmlformats.org/drawingml/2006/main"/>
        </p:blipFill>
        <p:spPr>
          <a:xfrm xmlns:a="http://schemas.openxmlformats.org/drawingml/2006/main">
            <a:off x="6057900" y="3667442"/>
            <a:ext cx="5238750" cy="4365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2420DD-694D-47A2-915B-A5BDB8FB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1866900"/>
            <a:ext cx="6096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En büyük karışmalar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3E9F97-2024-4060-A806-BC4F619A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2209800"/>
            <a:ext cx="2000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True -&gt; Pred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57C01B-480F-4125-8FEE-7962B07D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2209800"/>
            <a:ext cx="76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Adet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DBC6EE-CC5D-4DB4-AAB9-3B500159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2209800"/>
            <a:ext cx="76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Oran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A60662-C1BD-4698-A181-5C2B7C53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2457450"/>
            <a:ext cx="609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solidFill>
              <a:srgbClr val="D5DD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8B2590-666E-4BB8-80C3-DE88E6CC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255270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E7C7B"/>
                </a:solidFill>
              </a:defRPr>
            </a:pPr>
            <a:r>
              <a:rPr sz="1275" b="1">
                <a:solidFill>
                  <a:srgbClr val="0E7C7B"/>
                </a:solidFill>
              </a:rPr>
              <a:t>OTHER -&gt; INSULT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1D3F8-937B-4542-BE15-78791C71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2552700"/>
            <a:ext cx="76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E7C7B"/>
                </a:solidFill>
              </a:defRPr>
            </a:pPr>
            <a:r>
              <a:rPr sz="1275" b="1">
                <a:solidFill>
                  <a:srgbClr val="0E7C7B"/>
                </a:solidFill>
              </a:rPr>
              <a:t>108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4A56E4-F3B7-4A08-88D3-4A2774E7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2552700"/>
            <a:ext cx="76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E7C7B"/>
                </a:solidFill>
              </a:defRPr>
            </a:pPr>
            <a:r>
              <a:rPr sz="1275" b="1">
                <a:solidFill>
                  <a:srgbClr val="0E7C7B"/>
                </a:solidFill>
              </a:rPr>
              <a:t>0.02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C251BA-CE8E-4089-ACE3-968188CD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281940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INSULT -&gt; OTHER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A71878-3D4F-440A-B5F3-B6D101F7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2819400"/>
            <a:ext cx="76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92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544111-811C-4675-98E9-E7DA235F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2819400"/>
            <a:ext cx="76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0.06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716D56-2B83-47E4-9377-84FB30DE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10515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INSULT -&gt; PROFANITY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A27B36-0975-4567-BA59-C7ED884D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3105150"/>
            <a:ext cx="76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77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628B43-257E-472F-AE64-26EB3647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3105150"/>
            <a:ext cx="76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0.05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06C608-4AAF-41BB-8851-A28B942B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37185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PROFANITY -&gt; INSULT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147698-F587-4D5F-AFE0-F04D38A2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3371850"/>
            <a:ext cx="76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59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17F5B0-55A1-4AC2-B3D4-E85CBA9A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3371850"/>
            <a:ext cx="76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0.02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DCB838-C84B-42BF-95C2-A01DE6F7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63855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PROFANITY -&gt; RACIST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7E4920-F582-4CBE-9380-822D5607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3638550"/>
            <a:ext cx="76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56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5E1B22-2ECA-4513-AFA0-6D57D474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3638550"/>
            <a:ext cx="76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0.02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C931BE-82AF-4E5F-A931-659D50DA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4000500"/>
            <a:ext cx="6096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E7C7B"/>
                </a:solidFill>
              </a:defRPr>
            </a:pPr>
            <a:r>
              <a:rPr sz="1125" b="1">
                <a:solidFill>
                  <a:srgbClr val="0E7C7B"/>
                </a:solidFill>
              </a:rPr>
              <a:t>Yorum</a:t>
            </a:r>
          </a:p>
        </p:txBody>
      </p:sp>
      <p:sp>
        <p:nvSpPr>
          <p:cNvPr id="27" name="bullet-0">
            <a:extLst xmlns:a="http://schemas.openxmlformats.org/drawingml/2006/main">
              <a:ext uri="{FF2B5EF4-FFF2-40B4-BE49-F238E27FC236}">
                <a16:creationId xmlns:a16="http://schemas.microsoft.com/office/drawing/2014/main" id="{501ADD1E-B6B0-49A0-A60D-B9BF98F1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4267200"/>
            <a:ext cx="609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12B"/>
                </a:solidFill>
              </a:defRPr>
            </a:pPr>
            <a:r>
              <a:rPr sz="1425">
                <a:solidFill>
                  <a:srgbClr val="17212B"/>
                </a:solidFill>
              </a:rPr>
              <a:t>• `INSULT` örneklerinin bir bölümü `OTHER` veya `PROFANITY` ile karışıyor.</a:t>
            </a:r>
          </a:p>
        </p:txBody>
      </p:sp>
      <p:sp>
        <p:nvSpPr>
          <p:cNvPr id="28" name="bullet-1">
            <a:extLst xmlns:a="http://schemas.openxmlformats.org/drawingml/2006/main">
              <a:ext uri="{FF2B5EF4-FFF2-40B4-BE49-F238E27FC236}">
                <a16:creationId xmlns:a16="http://schemas.microsoft.com/office/drawing/2014/main" id="{D414AD80-A144-480B-8BAF-E790244E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4591050"/>
            <a:ext cx="609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12B"/>
                </a:solidFill>
              </a:defRPr>
            </a:pPr>
            <a:r>
              <a:rPr sz="1425">
                <a:solidFill>
                  <a:srgbClr val="17212B"/>
                </a:solidFill>
              </a:rPr>
              <a:t>• `SEXIST` recall yüksek olsa da düşük destek yüzünden precision kırılgan.</a:t>
            </a:r>
          </a:p>
        </p:txBody>
      </p:sp>
      <p:sp>
        <p:nvSpPr>
          <p:cNvPr id="29" name="bullet-2">
            <a:extLst xmlns:a="http://schemas.openxmlformats.org/drawingml/2006/main">
              <a:ext uri="{FF2B5EF4-FFF2-40B4-BE49-F238E27FC236}">
                <a16:creationId xmlns:a16="http://schemas.microsoft.com/office/drawing/2014/main" id="{CF50F857-73FB-4A33-877D-FC5AC9EC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4914900"/>
            <a:ext cx="609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12B"/>
                </a:solidFill>
              </a:defRPr>
            </a:pPr>
            <a:r>
              <a:rPr sz="1425">
                <a:solidFill>
                  <a:srgbClr val="17212B"/>
                </a:solidFill>
              </a:rPr>
              <a:t>• `RACIST` diagonal oranı güçlü; hata daha çok komşu toksik sınıflara dağılıyor.</a:t>
            </a:r>
          </a:p>
        </p:txBody>
      </p:sp>
    </p:spTree>
    <p:extLst>
      <p:ext uri="{BB962C8B-B14F-4D97-AF65-F5344CB8AC3E}">
        <p14:creationId xmlns:p14="http://schemas.microsoft.com/office/powerpoint/2010/main" val="186885910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2513309-6BAF-44E9-AB68-3CF9F2D2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6916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12B"/>
                </a:solidFill>
              </a:defRPr>
            </a:pPr>
            <a:r>
              <a:rPr sz="3150" b="1">
                <a:solidFill>
                  <a:srgbClr val="17212B"/>
                </a:solidFill>
              </a:rPr>
              <a:t>Sınıf bazlı sonuçlar accuracy’nin sakladığı riski açıyor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08D604A-4B22-4BC1-8F22-FD99D4DB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438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673"/>
                </a:solidFill>
              </a:defRPr>
            </a:pPr>
            <a:r>
              <a:rPr sz="1575">
                <a:solidFill>
                  <a:srgbClr val="5B6673"/>
                </a:solidFill>
              </a:rPr>
              <a:t>`SEXIST`, `INSULT` ve `RACIST` sınıfları moderasyon açısından ayrı yorumlanmalı.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E9F2E97-05A8-44C3-A771-A6708DF8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pic>
        <p:nvPicPr>
          <p:cNvPr id="4" name="per-class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b51df12d343ee"/>
          <a:stretch xmlns:a="http://schemas.openxmlformats.org/drawingml/2006/main"/>
        </p:blipFill>
        <p:spPr>
          <a:xfrm xmlns:a="http://schemas.openxmlformats.org/drawingml/2006/main">
            <a:off x="685800" y="3074670"/>
            <a:ext cx="9315450" cy="558927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D485E3-BC7A-4A45-B552-65AE644D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94310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Label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10D80B-D3EC-4A89-97DD-C13C7A34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1943100"/>
            <a:ext cx="9048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Prec.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A4DBB0-92A2-4A3C-8885-94959103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1943100"/>
            <a:ext cx="9048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Rec.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0043ED-C78B-412E-991C-E921099F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19431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F1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617615-E5F6-4950-B8FD-7F6AB590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0" y="1943100"/>
            <a:ext cx="1047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Support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E44A0F-93D5-4FA9-AEF4-C29BEA8F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19075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solidFill>
              <a:srgbClr val="D5DD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B9C5E8-0212-4851-B5A2-38CB39DD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286000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7C7B"/>
                </a:solidFill>
              </a:defRPr>
            </a:pPr>
            <a:r>
              <a:rPr sz="1350" b="1">
                <a:solidFill>
                  <a:srgbClr val="0E7C7B"/>
                </a:solidFill>
              </a:rPr>
              <a:t>OTHER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991FA6-1E0B-4B57-A2EC-76313867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2286000"/>
            <a:ext cx="904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7C7B"/>
                </a:solidFill>
              </a:defRPr>
            </a:pPr>
            <a:r>
              <a:rPr sz="1350" b="1">
                <a:solidFill>
                  <a:srgbClr val="0E7C7B"/>
                </a:solidFill>
              </a:rPr>
              <a:t>0.974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E32D8B-98E6-493B-A25C-33D1B9C5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2286000"/>
            <a:ext cx="904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7C7B"/>
                </a:solidFill>
              </a:defRPr>
            </a:pPr>
            <a:r>
              <a:rPr sz="1350" b="1">
                <a:solidFill>
                  <a:srgbClr val="0E7C7B"/>
                </a:solidFill>
              </a:rPr>
              <a:t>0.969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77583A-26DE-4FE4-8675-9FCD0631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286000"/>
            <a:ext cx="857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7C7B"/>
                </a:solidFill>
              </a:defRPr>
            </a:pPr>
            <a:r>
              <a:rPr sz="1350" b="1">
                <a:solidFill>
                  <a:srgbClr val="0E7C7B"/>
                </a:solidFill>
              </a:rPr>
              <a:t>0.971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4412BB-8A45-4476-B61C-C8C6405E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0" y="228600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7C7B"/>
                </a:solidFill>
              </a:defRPr>
            </a:pPr>
            <a:r>
              <a:rPr sz="1350" b="1">
                <a:solidFill>
                  <a:srgbClr val="0E7C7B"/>
                </a:solidFill>
              </a:rPr>
              <a:t>5649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33F08C-BE92-418E-8029-AA14E278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571750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PROFANITY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E07CCC-D314-4BB5-A5F4-8473D753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2571750"/>
            <a:ext cx="904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0.952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8014B8-5DDE-4634-8FDE-F67807E4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2571750"/>
            <a:ext cx="904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0.946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D0AFD4-80AC-42B6-A9CF-DBDD27BD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571750"/>
            <a:ext cx="857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0.949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7E2A57-00A2-457C-8E88-6E115521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0" y="25717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2738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9C4FE9-EE3F-451F-A33A-C13C428D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857500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INSULT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5BCCDC-B568-49F0-8207-313A5F7D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2857500"/>
            <a:ext cx="904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0.876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CD791E-F4DB-4A45-BFA9-AFE374E4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2857500"/>
            <a:ext cx="904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0.86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0D8AAB-31DC-45C7-A88E-B85F59F3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857500"/>
            <a:ext cx="857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0.868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19BA4C-36D6-4095-98C3-33E122E8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0" y="285750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1617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BCDACA-4336-4F11-8642-B4885EFE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143250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RACIST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41EB6B-665E-4C89-BC36-9DE5596A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3143250"/>
            <a:ext cx="904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0.902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70867D-A995-4AC3-BD3E-70F7CF59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3143250"/>
            <a:ext cx="904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0.932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F98342-0A6D-49C6-9A59-665F8B52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143250"/>
            <a:ext cx="857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0.917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E2EE0B-A47C-4F02-81B5-8B9A5860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0" y="31432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1525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057E4A-10DC-44C2-BAE8-7B3734C8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409950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SEXIST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2B6684-5967-49BD-946E-FE757169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3409950"/>
            <a:ext cx="904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0.738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1BB6E0-622D-45EE-935B-62DC9CC4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3409950"/>
            <a:ext cx="904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0.858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241435-F31D-4EB3-98C1-721D509C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409950"/>
            <a:ext cx="857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0.793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ACB6F4-8AD5-487E-AF07-D2960C60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0" y="34099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141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27CC9F-3F16-46F3-AAE3-D257B4B1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829050"/>
            <a:ext cx="723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E7C7B"/>
                </a:solidFill>
              </a:defRPr>
            </a:pPr>
            <a:r>
              <a:rPr sz="1125" b="1">
                <a:solidFill>
                  <a:srgbClr val="0E7C7B"/>
                </a:solidFill>
              </a:rPr>
              <a:t>Sınıf yorumu</a:t>
            </a:r>
          </a:p>
        </p:txBody>
      </p:sp>
      <p:sp>
        <p:nvSpPr>
          <p:cNvPr id="37" name="bullet-0">
            <a:extLst xmlns:a="http://schemas.openxmlformats.org/drawingml/2006/main">
              <a:ext uri="{FF2B5EF4-FFF2-40B4-BE49-F238E27FC236}">
                <a16:creationId xmlns:a16="http://schemas.microsoft.com/office/drawing/2014/main" id="{5891EF6E-5795-4F71-BF4C-F9293C86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09575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12B"/>
                </a:solidFill>
              </a:defRPr>
            </a:pPr>
            <a:r>
              <a:rPr sz="1425">
                <a:solidFill>
                  <a:srgbClr val="17212B"/>
                </a:solidFill>
              </a:rPr>
              <a:t>• `OTHER` ve `PROFANITY` çok güçlü; büyük destek etkisi var.</a:t>
            </a:r>
          </a:p>
        </p:txBody>
      </p:sp>
      <p:sp>
        <p:nvSpPr>
          <p:cNvPr id="38" name="bullet-1">
            <a:extLst xmlns:a="http://schemas.openxmlformats.org/drawingml/2006/main">
              <a:ext uri="{FF2B5EF4-FFF2-40B4-BE49-F238E27FC236}">
                <a16:creationId xmlns:a16="http://schemas.microsoft.com/office/drawing/2014/main" id="{18015E35-78E4-48B3-BF85-238CE295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41960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12B"/>
                </a:solidFill>
              </a:defRPr>
            </a:pPr>
            <a:r>
              <a:rPr sz="1425">
                <a:solidFill>
                  <a:srgbClr val="17212B"/>
                </a:solidFill>
              </a:rPr>
              <a:t>• `INSULT` daha semantik sınırda kaldığı için F1 düşüyor.</a:t>
            </a:r>
          </a:p>
        </p:txBody>
      </p:sp>
      <p:sp>
        <p:nvSpPr>
          <p:cNvPr id="39" name="bullet-2">
            <a:extLst xmlns:a="http://schemas.openxmlformats.org/drawingml/2006/main">
              <a:ext uri="{FF2B5EF4-FFF2-40B4-BE49-F238E27FC236}">
                <a16:creationId xmlns:a16="http://schemas.microsoft.com/office/drawing/2014/main" id="{FA12EEAC-A514-4298-BF8E-FF194929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74345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12B"/>
                </a:solidFill>
              </a:defRPr>
            </a:pPr>
            <a:r>
              <a:rPr sz="1425">
                <a:solidFill>
                  <a:srgbClr val="17212B"/>
                </a:solidFill>
              </a:rPr>
              <a:t>• `SEXIST` testte yalnızca 141 örnek; sonuç iyi ama güven aralığı geniş olabilir.</a:t>
            </a:r>
          </a:p>
        </p:txBody>
      </p:sp>
    </p:spTree>
    <p:extLst>
      <p:ext uri="{BB962C8B-B14F-4D97-AF65-F5344CB8AC3E}">
        <p14:creationId xmlns:p14="http://schemas.microsoft.com/office/powerpoint/2010/main" val="73214545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BEB5F6-2349-498B-A1AA-5FDDD3CF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6916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12B"/>
                </a:solidFill>
              </a:defRPr>
            </a:pPr>
            <a:r>
              <a:rPr sz="3150" b="1">
                <a:solidFill>
                  <a:srgbClr val="17212B"/>
                </a:solidFill>
              </a:rPr>
              <a:t>Kalibrasyon: yüksek skorun güvenilir olasılık üretmesi gerekiyor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9825AC4-30F3-4E66-B333-A2603F09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343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673"/>
                </a:solidFill>
              </a:defRPr>
            </a:pPr>
            <a:r>
              <a:rPr sz="1575">
                <a:solidFill>
                  <a:srgbClr val="5B6673"/>
                </a:solidFill>
              </a:rPr>
              <a:t>Temperature scaling validation logits üzerinde öğrenildi; test metrikleri kalibre olasılıklardan raporlandı.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F6842F0-7B5F-4CC5-96C6-0CE5EE2A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pic>
        <p:nvPicPr>
          <p:cNvPr id="4" name="reliability-plo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2320889379400b"/>
          <a:stretch xmlns:a="http://schemas.openxmlformats.org/drawingml/2006/main"/>
        </p:blipFill>
        <p:spPr>
          <a:xfrm xmlns:a="http://schemas.openxmlformats.org/drawingml/2006/main">
            <a:off x="949496" y="1946910"/>
            <a:ext cx="8749958" cy="784479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070A73-BE27-46D2-BBF3-2681A31E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943100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130D17-D3BC-4402-9B27-B96578EE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1943100"/>
            <a:ext cx="1047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Top ECE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DDDF1C-C1B7-4CF6-8DCD-2D4F027A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1943100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Class ECE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0C11ED-C48E-4835-A457-32EAE547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1943100"/>
            <a:ext cx="1047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Log loss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4DE00B-0ABC-4A50-B9D5-384080E2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19075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solidFill>
              <a:srgbClr val="D5DD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5DCEDF-1443-4FDC-A17D-D4B5A9D8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28600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E7C7B"/>
                </a:solidFill>
              </a:defRPr>
            </a:pPr>
            <a:r>
              <a:rPr sz="1275" b="1">
                <a:solidFill>
                  <a:srgbClr val="0E7C7B"/>
                </a:solidFill>
              </a:rPr>
              <a:t>BERTurk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791C14-228E-416F-9751-F1E23032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228600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E7C7B"/>
                </a:solidFill>
              </a:defRPr>
            </a:pPr>
            <a:r>
              <a:rPr sz="1275" b="1">
                <a:solidFill>
                  <a:srgbClr val="0E7C7B"/>
                </a:solidFill>
              </a:rPr>
              <a:t>0.0089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487C95-D9C6-4212-9B94-9D18CB45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2286000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E7C7B"/>
                </a:solidFill>
              </a:defRPr>
            </a:pPr>
            <a:r>
              <a:rPr sz="1275" b="1">
                <a:solidFill>
                  <a:srgbClr val="0E7C7B"/>
                </a:solidFill>
              </a:rPr>
              <a:t>0.0078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C9836C-6F1C-498F-AD2B-61D0299A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228600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E7C7B"/>
                </a:solidFill>
              </a:defRPr>
            </a:pPr>
            <a:r>
              <a:rPr sz="1275" b="1">
                <a:solidFill>
                  <a:srgbClr val="0E7C7B"/>
                </a:solidFill>
              </a:rPr>
              <a:t>0.1708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3A2913-F5BA-43E5-9F62-9000E202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55270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BERTurk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68AD62-97A2-4EDF-A4E3-E0051DDD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255270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0.0111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D8971B-323B-4D21-9B7A-FF936E1D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2552700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0.0094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C0F9F3-70D7-4FC0-972D-520DF851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255270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0.1659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C02A0C-7569-4A61-B58C-6C72382F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83845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ConvBERTurk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553B62-5A66-4C5F-8C38-CC1A9A17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28384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0.0184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0B6E55-804F-4C10-A485-D99B0B1B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2838450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0.0113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A841EF-5FD6-4196-AB59-B886BDDF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28384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0.1925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7FE5FF-69DE-4F1D-80BA-E9942297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10515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Turkish ELECTRA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0DAAA0-0653-44E0-9A9E-41D308EB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31051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0.0193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01680F-046E-4B88-B7E7-4CCED4C6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3105150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0.0116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436916-4678-4083-B599-96586630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31051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0.1999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C24168-3FDC-4C40-95E4-F77D2EA0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37185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TurkishBERTweet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9DF63B-8926-4DB9-805F-E226B0FD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33718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0.0133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AC7932-E0B7-4D3F-91BA-7E538325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3371850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0.0126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6CCD26-3596-42C4-9C48-D7F2D733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33718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0.2221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99007B-1D18-4B90-94E9-08170EDD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63855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XLM-RoBERTa base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380035-83E8-4016-9E8A-279F8C8F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36385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0.0168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6E58F8-D330-4D13-B9D5-2C69FE4D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3638550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0.0137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E32CCE-8C2E-4EE5-8036-A5CF9D06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36385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0.2694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414801-CB37-4A6C-98DA-4A4FF2E3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038600"/>
            <a:ext cx="723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E7C7B"/>
                </a:solidFill>
              </a:defRPr>
            </a:pPr>
            <a:r>
              <a:rPr sz="1125" b="1">
                <a:solidFill>
                  <a:srgbClr val="0E7C7B"/>
                </a:solidFill>
              </a:rPr>
              <a:t>Okuma</a:t>
            </a:r>
          </a:p>
        </p:txBody>
      </p:sp>
      <p:sp>
        <p:nvSpPr>
          <p:cNvPr id="35" name="bullet-0">
            <a:extLst xmlns:a="http://schemas.openxmlformats.org/drawingml/2006/main">
              <a:ext uri="{FF2B5EF4-FFF2-40B4-BE49-F238E27FC236}">
                <a16:creationId xmlns:a16="http://schemas.microsoft.com/office/drawing/2014/main" id="{EC089CA5-7700-4AF1-BE93-8952207C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30530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12B"/>
                </a:solidFill>
              </a:defRPr>
            </a:pPr>
            <a:r>
              <a:rPr sz="1425">
                <a:solidFill>
                  <a:srgbClr val="17212B"/>
                </a:solidFill>
              </a:rPr>
              <a:t>• Top-label ECE tek başına yeterli değil; classwise ECE küçük sınıf güvenini ayrıca gösterir.</a:t>
            </a:r>
          </a:p>
        </p:txBody>
      </p:sp>
      <p:sp>
        <p:nvSpPr>
          <p:cNvPr id="36" name="bullet-1">
            <a:extLst xmlns:a="http://schemas.openxmlformats.org/drawingml/2006/main">
              <a:ext uri="{FF2B5EF4-FFF2-40B4-BE49-F238E27FC236}">
                <a16:creationId xmlns:a16="http://schemas.microsoft.com/office/drawing/2014/main" id="{DA57D890-C038-4544-841B-98520AC2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2915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12B"/>
                </a:solidFill>
              </a:defRPr>
            </a:pPr>
            <a:r>
              <a:rPr sz="1425">
                <a:solidFill>
                  <a:srgbClr val="17212B"/>
                </a:solidFill>
              </a:rPr>
              <a:t>• BERTurk light hem macro-F1 hem classwise ECE açısından en dengeli koşu.</a:t>
            </a:r>
          </a:p>
        </p:txBody>
      </p:sp>
    </p:spTree>
    <p:extLst>
      <p:ext uri="{BB962C8B-B14F-4D97-AF65-F5344CB8AC3E}">
        <p14:creationId xmlns:p14="http://schemas.microsoft.com/office/powerpoint/2010/main" val="148248530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9EA1B3-021A-426E-A4F0-DCD829DD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6916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12B"/>
                </a:solidFill>
              </a:defRPr>
            </a:pPr>
            <a:r>
              <a:rPr sz="3150" b="1">
                <a:solidFill>
                  <a:srgbClr val="17212B"/>
                </a:solidFill>
              </a:rPr>
              <a:t>Threshold seçimi moderasyon davranışını değiştiriyor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A65C75C-9783-4059-83C3-01CC1BB7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1818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673"/>
                </a:solidFill>
              </a:defRPr>
            </a:pPr>
            <a:r>
              <a:rPr sz="1575">
                <a:solidFill>
                  <a:srgbClr val="5B6673"/>
                </a:solidFill>
              </a:rPr>
              <a:t>`best_f1` daha dengeli, `recall_floor_90` daha muhafazakar yüksek precision politikasıdır.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177A186-DF04-461F-B7FB-6B0A20D9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pic>
        <p:nvPicPr>
          <p:cNvPr id="4" name="threshold-curv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a29f4603f94460"/>
          <a:stretch xmlns:a="http://schemas.openxmlformats.org/drawingml/2006/main"/>
        </p:blipFill>
        <p:spPr>
          <a:xfrm xmlns:a="http://schemas.openxmlformats.org/drawingml/2006/main">
            <a:off x="685800" y="3086100"/>
            <a:ext cx="9277350" cy="556641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F91BD6-D629-429E-A45F-4B6AF685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943100"/>
            <a:ext cx="2000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Policy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42D2E2-BCEB-44E9-9984-538667F8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1943100"/>
            <a:ext cx="76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Thr.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151725-BAFF-4EBE-940A-F38A2050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1943100"/>
            <a:ext cx="9048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Prec.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A8A5E3-BEEE-4370-A255-6CBB1B2D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1943100"/>
            <a:ext cx="9048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Rec.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C4E0A-17E8-4AC5-9B47-F40235A2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1943100"/>
            <a:ext cx="9048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F1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6FBA2D-A12A-49B1-B7C6-E6180A64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6350" y="1943100"/>
            <a:ext cx="9048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Flagged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55B47F-31A2-4935-AFC8-59B60E87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19075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solidFill>
              <a:srgbClr val="D5DD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3C8268-81A0-4255-83B4-AE398396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28600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E7C7B"/>
                </a:solidFill>
              </a:defRPr>
            </a:pPr>
            <a:r>
              <a:rPr sz="1275" b="1">
                <a:solidFill>
                  <a:srgbClr val="0E7C7B"/>
                </a:solidFill>
              </a:rPr>
              <a:t>best_f1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EB40F5-F350-4F84-BB60-BE45AE2B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2286000"/>
            <a:ext cx="76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E7C7B"/>
                </a:solidFill>
              </a:defRPr>
            </a:pPr>
            <a:r>
              <a:rPr sz="1275" b="1">
                <a:solidFill>
                  <a:srgbClr val="0E7C7B"/>
                </a:solidFill>
              </a:rPr>
              <a:t>0.58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96E939-9EEE-4F52-8700-5D6A5A42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2286000"/>
            <a:ext cx="904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E7C7B"/>
                </a:solidFill>
              </a:defRPr>
            </a:pPr>
            <a:r>
              <a:rPr sz="1275" b="1">
                <a:solidFill>
                  <a:srgbClr val="0E7C7B"/>
                </a:solidFill>
              </a:rPr>
              <a:t>0.9734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B7E7DD-8BCB-4C0B-88DF-F7F22C67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2286000"/>
            <a:ext cx="904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E7C7B"/>
                </a:solidFill>
              </a:defRPr>
            </a:pPr>
            <a:r>
              <a:rPr sz="1275" b="1">
                <a:solidFill>
                  <a:srgbClr val="0E7C7B"/>
                </a:solidFill>
              </a:rPr>
              <a:t>0.9736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C2EAD8-2B66-44FE-9E8B-35E6342F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2286000"/>
            <a:ext cx="904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E7C7B"/>
                </a:solidFill>
              </a:defRPr>
            </a:pPr>
            <a:r>
              <a:rPr sz="1275" b="1">
                <a:solidFill>
                  <a:srgbClr val="0E7C7B"/>
                </a:solidFill>
              </a:rPr>
              <a:t>0.9735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EDA5F7-D9EC-4596-9AF1-A161D6FF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6350" y="2286000"/>
            <a:ext cx="904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E7C7B"/>
                </a:solidFill>
              </a:defRPr>
            </a:pPr>
            <a:r>
              <a:rPr sz="1275" b="1">
                <a:solidFill>
                  <a:srgbClr val="0E7C7B"/>
                </a:solidFill>
              </a:rPr>
              <a:t>51.6%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93F0F3-EC57-4FAE-BF80-EE666364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55270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recall_floor_90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172B0B-BDA6-41E6-AFFC-074FE224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2552700"/>
            <a:ext cx="76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0.95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178542-B09C-4747-9AA4-16A3FD6F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2552700"/>
            <a:ext cx="904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0.9934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41D670-6FF2-4CF8-8FF9-92889A24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2552700"/>
            <a:ext cx="904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0.9226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829551-0250-420A-9CB2-B7E2D759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2552700"/>
            <a:ext cx="904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0.9567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1C106B-45CC-4AD8-8521-4CF6BE35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6350" y="2552700"/>
            <a:ext cx="9048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47.9%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B344CA-7904-4583-BD3C-AF3F43FB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990850"/>
            <a:ext cx="723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E7C7B"/>
                </a:solidFill>
              </a:defRPr>
            </a:pPr>
            <a:r>
              <a:rPr sz="1125" b="1">
                <a:solidFill>
                  <a:srgbClr val="0E7C7B"/>
                </a:solidFill>
              </a:rPr>
              <a:t>Karar etkisi</a:t>
            </a:r>
          </a:p>
        </p:txBody>
      </p:sp>
      <p:sp>
        <p:nvSpPr>
          <p:cNvPr id="25" name="bullet-0">
            <a:extLst xmlns:a="http://schemas.openxmlformats.org/drawingml/2006/main">
              <a:ext uri="{FF2B5EF4-FFF2-40B4-BE49-F238E27FC236}">
                <a16:creationId xmlns:a16="http://schemas.microsoft.com/office/drawing/2014/main" id="{17C6EB2C-A05F-44A4-BB5C-34352728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5755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12B"/>
                </a:solidFill>
              </a:defRPr>
            </a:pPr>
            <a:r>
              <a:rPr sz="1425">
                <a:solidFill>
                  <a:srgbClr val="17212B"/>
                </a:solidFill>
              </a:rPr>
              <a:t>• `best_f1` yaklaşık yarı veri akışını toxic olarak işaretler.</a:t>
            </a:r>
          </a:p>
        </p:txBody>
      </p:sp>
      <p:sp>
        <p:nvSpPr>
          <p:cNvPr id="26" name="bullet-1">
            <a:extLst xmlns:a="http://schemas.openxmlformats.org/drawingml/2006/main">
              <a:ext uri="{FF2B5EF4-FFF2-40B4-BE49-F238E27FC236}">
                <a16:creationId xmlns:a16="http://schemas.microsoft.com/office/drawing/2014/main" id="{2D8D4284-BCA3-4754-BD25-5B1FAE15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58140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12B"/>
                </a:solidFill>
              </a:defRPr>
            </a:pPr>
            <a:r>
              <a:rPr sz="1425">
                <a:solidFill>
                  <a:srgbClr val="17212B"/>
                </a:solidFill>
              </a:rPr>
              <a:t>• `recall_floor_90` precision’ı artırır ama recall ve F1’den ödün verir.</a:t>
            </a:r>
          </a:p>
        </p:txBody>
      </p:sp>
      <p:sp>
        <p:nvSpPr>
          <p:cNvPr id="27" name="bullet-2">
            <a:extLst xmlns:a="http://schemas.openxmlformats.org/drawingml/2006/main">
              <a:ext uri="{FF2B5EF4-FFF2-40B4-BE49-F238E27FC236}">
                <a16:creationId xmlns:a16="http://schemas.microsoft.com/office/drawing/2014/main" id="{D35F19F4-D261-4F03-9AEA-294305DF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88620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12B"/>
                </a:solidFill>
              </a:defRPr>
            </a:pPr>
            <a:r>
              <a:rPr sz="1425">
                <a:solidFill>
                  <a:srgbClr val="17212B"/>
                </a:solidFill>
              </a:rPr>
              <a:t>• Bu nedenle deployment için skor değil politika raporlanmalıdır.</a:t>
            </a:r>
          </a:p>
        </p:txBody>
      </p:sp>
    </p:spTree>
    <p:extLst>
      <p:ext uri="{BB962C8B-B14F-4D97-AF65-F5344CB8AC3E}">
        <p14:creationId xmlns:p14="http://schemas.microsoft.com/office/powerpoint/2010/main" val="97965249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4A0DF0-669F-453D-8760-929AA109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"/>
            <a:ext cx="166497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12B"/>
                </a:solidFill>
              </a:defRPr>
            </a:pPr>
            <a:r>
              <a:rPr sz="3150" b="1">
                <a:solidFill>
                  <a:srgbClr val="17212B"/>
                </a:solidFill>
              </a:rPr>
              <a:t>Sonuç: raporlanması gereken şey skor değil, güvenilir karar davranışı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6B58512-D421-4818-A49D-1CFE4CC2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62050"/>
            <a:ext cx="910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673"/>
                </a:solidFill>
              </a:defRPr>
            </a:pPr>
            <a:r>
              <a:rPr sz="1575">
                <a:solidFill>
                  <a:srgbClr val="5B6673"/>
                </a:solidFill>
              </a:rPr>
              <a:t>Final paket model karşılaştırmasını, sınıf bazlı hata analizini, kalibrasyonu ve threshold politikasını birlikte veriyor.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1C4B9CE-59EE-4A9C-8F34-216A3591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66F3D1-99E7-4D6F-AEE5-781E94D1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7429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Güçlü bulgular</a:t>
            </a:r>
          </a:p>
        </p:txBody>
      </p:sp>
      <p:sp>
        <p:nvSpPr>
          <p:cNvPr id="5" name="bullet-0">
            <a:extLst xmlns:a="http://schemas.openxmlformats.org/drawingml/2006/main">
              <a:ext uri="{FF2B5EF4-FFF2-40B4-BE49-F238E27FC236}">
                <a16:creationId xmlns:a16="http://schemas.microsoft.com/office/drawing/2014/main" id="{A5131628-8DDB-43DF-9355-F16F972C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742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• BERTurk light test macro-F1 0.8997 ile en iyi genel dengeyi verdi.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74A6FBD4-879C-467F-8E9C-20475CA0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742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• TF-IDF baseline güçlü kaldı ama transformer en iyi baseline’dan +0.1028 macro-F1 ileride.</a:t>
            </a:r>
          </a:p>
        </p:txBody>
      </p:sp>
      <p:sp>
        <p:nvSpPr>
          <p:cNvPr id="7" name="bullet-2">
            <a:extLst xmlns:a="http://schemas.openxmlformats.org/drawingml/2006/main">
              <a:ext uri="{FF2B5EF4-FFF2-40B4-BE49-F238E27FC236}">
                <a16:creationId xmlns:a16="http://schemas.microsoft.com/office/drawing/2014/main" id="{6995EF68-E1E6-4E79-8288-F07AA0DD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742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• `SEXIST` sınıfı düşük destek yüzünden hala en kırılgan sınıf.</a:t>
            </a:r>
          </a:p>
        </p:txBody>
      </p:sp>
      <p:sp>
        <p:nvSpPr>
          <p:cNvPr id="8" name="bullet-3">
            <a:extLst xmlns:a="http://schemas.openxmlformats.org/drawingml/2006/main">
              <a:ext uri="{FF2B5EF4-FFF2-40B4-BE49-F238E27FC236}">
                <a16:creationId xmlns:a16="http://schemas.microsoft.com/office/drawing/2014/main" id="{C03888B1-DEF8-4728-A07D-5722FC43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52850"/>
            <a:ext cx="742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• Kalibrasyon ve threshold sweep sonuçları moderasyon kararının modele ek olarak politika gerektirdiğini gösterdi.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8E0FAE-1694-4153-8F51-1CF752F4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76450"/>
            <a:ext cx="8648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Teslim paketi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6BB3F2-1AE5-4EB0-BE50-964186B5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19350"/>
            <a:ext cx="171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Parça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73557C-C55B-4355-8F23-9DE0A3BF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419350"/>
            <a:ext cx="533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Dosya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95A73D-EDBE-4786-92A8-D515183C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67000"/>
            <a:ext cx="8648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solidFill>
              <a:srgbClr val="D5DD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5F8757-978E-49B6-8D24-DEF4B2FF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6225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Kod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EA5DEE-1287-43D4-B585-F280D03D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76225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train_transformer.py, run_full_suite.py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81276C-1BEB-48EB-8B59-77B8C427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4800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Final sonuç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E10E71-E57D-413F-B364-EB04DEB5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0480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results/final_model_comparison.csv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E4B693-A626-4BE9-ABF5-6F9D1D7A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3375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Detaylı rapor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261B23-F2CC-4091-B97D-DEAE540E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results/detailed_report.md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5ADEC3-E4EE-4072-A9A7-781A006B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1950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Sunum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7BC7CC-10F4-4AB2-8333-7AC89633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6195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output/Project4_Turkish_Toxic_Language_Detection.pptx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BAD2E3-341C-456E-8C0B-772877FB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8620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QA render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14F024-A892-42BA-81E6-63408497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862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presentation/previews/final_pptx/*.png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9FF67A-CE72-4A67-8071-F59BA8E9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267200"/>
            <a:ext cx="8648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6673"/>
                </a:solidFill>
              </a:defRPr>
            </a:pPr>
            <a:r>
              <a:rPr sz="1125" b="1">
                <a:solidFill>
                  <a:srgbClr val="5B6673"/>
                </a:solidFill>
              </a:rPr>
              <a:t>Sınırlılıklar</a:t>
            </a:r>
          </a:p>
        </p:txBody>
      </p:sp>
      <p:sp>
        <p:nvSpPr>
          <p:cNvPr id="24" name="bullet-0">
            <a:extLst xmlns:a="http://schemas.openxmlformats.org/drawingml/2006/main">
              <a:ext uri="{FF2B5EF4-FFF2-40B4-BE49-F238E27FC236}">
                <a16:creationId xmlns:a16="http://schemas.microsoft.com/office/drawing/2014/main" id="{F7D77F6C-8645-4AC5-A9EC-78F4F5A2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610100"/>
            <a:ext cx="8648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12B"/>
                </a:solidFill>
              </a:defRPr>
            </a:pPr>
            <a:r>
              <a:rPr sz="1500">
                <a:solidFill>
                  <a:srgbClr val="17212B"/>
                </a:solidFill>
              </a:rPr>
              <a:t>• HPO yalnız BERTurk üzerinde sınırlı aramayla yapıldı.</a:t>
            </a:r>
          </a:p>
        </p:txBody>
      </p:sp>
      <p:sp>
        <p:nvSpPr>
          <p:cNvPr id="25" name="bullet-1">
            <a:extLst xmlns:a="http://schemas.openxmlformats.org/drawingml/2006/main">
              <a:ext uri="{FF2B5EF4-FFF2-40B4-BE49-F238E27FC236}">
                <a16:creationId xmlns:a16="http://schemas.microsoft.com/office/drawing/2014/main" id="{E3054A5F-907E-491D-B7D3-1C310528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953000"/>
            <a:ext cx="8648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12B"/>
                </a:solidFill>
              </a:defRPr>
            </a:pPr>
            <a:r>
              <a:rPr sz="1500">
                <a:solidFill>
                  <a:srgbClr val="17212B"/>
                </a:solidFill>
              </a:rPr>
              <a:t>• Kısa epoch tercihi laptop GPU runtime sınırından kaynaklandı.</a:t>
            </a:r>
          </a:p>
        </p:txBody>
      </p:sp>
      <p:sp>
        <p:nvSpPr>
          <p:cNvPr id="26" name="bullet-2">
            <a:extLst xmlns:a="http://schemas.openxmlformats.org/drawingml/2006/main">
              <a:ext uri="{FF2B5EF4-FFF2-40B4-BE49-F238E27FC236}">
                <a16:creationId xmlns:a16="http://schemas.microsoft.com/office/drawing/2014/main" id="{386B82ED-7D94-4A48-B311-73B9E942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276850"/>
            <a:ext cx="8648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12B"/>
                </a:solidFill>
              </a:defRPr>
            </a:pPr>
            <a:r>
              <a:rPr sz="1500">
                <a:solidFill>
                  <a:srgbClr val="17212B"/>
                </a:solidFill>
              </a:rPr>
              <a:t>• Veri pseudo-label ve kaynak birleşimi içerdiği için altın standart olarak yorumlanmamalı.</a:t>
            </a:r>
          </a:p>
        </p:txBody>
      </p:sp>
    </p:spTree>
    <p:extLst>
      <p:ext uri="{BB962C8B-B14F-4D97-AF65-F5344CB8AC3E}">
        <p14:creationId xmlns:p14="http://schemas.microsoft.com/office/powerpoint/2010/main" val="66903386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35E7F3-DCE5-4D96-8B08-C0A55E33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17297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12B"/>
                </a:solidFill>
              </a:defRPr>
            </a:pPr>
            <a:r>
              <a:rPr sz="3150" b="1">
                <a:solidFill>
                  <a:srgbClr val="17212B"/>
                </a:solidFill>
              </a:rPr>
              <a:t>Appendix: tüm ana transformer confusion matrix görünümleri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82A6385-3AE1-4ADA-921E-5F670AD5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90600"/>
            <a:ext cx="74104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673"/>
                </a:solidFill>
              </a:defRPr>
            </a:pPr>
            <a:r>
              <a:rPr sz="1575">
                <a:solidFill>
                  <a:srgbClr val="5B6673"/>
                </a:solidFill>
              </a:rPr>
              <a:t>Küçük çoklu görünüm, ana anlatının ek kanıtıdır; baseline matrix’leri detaylı raporda yer alır.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3082F5E-1DC4-49DA-90CE-7A228E6B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D833B-592D-4623-9C60-6C57B084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90700"/>
            <a:ext cx="561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berturk_light</a:t>
            </a:r>
          </a:p>
        </p:txBody>
      </p:sp>
      <p:pic>
        <p:nvPicPr>
          <p:cNvPr id="5" name="appendix-image-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10ac2247a84a54"/>
          <a:stretch xmlns:a="http://schemas.openxmlformats.org/drawingml/2006/main"/>
        </p:blipFill>
        <p:spPr>
          <a:xfrm xmlns:a="http://schemas.openxmlformats.org/drawingml/2006/main">
            <a:off x="1070864" y="2045970"/>
            <a:ext cx="4462272" cy="371856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45EFBB-2392-4D93-BDB9-C8C87BB6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90700"/>
            <a:ext cx="561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berturk_raw</a:t>
            </a:r>
          </a:p>
        </p:txBody>
      </p:sp>
      <p:pic>
        <p:nvPicPr>
          <p:cNvPr id="7" name="appendix-image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957780a88248d1"/>
          <a:stretch xmlns:a="http://schemas.openxmlformats.org/drawingml/2006/main"/>
        </p:blipFill>
        <p:spPr>
          <a:xfrm xmlns:a="http://schemas.openxmlformats.org/drawingml/2006/main">
            <a:off x="6912864" y="2045970"/>
            <a:ext cx="4462272" cy="371856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D0ED62-CAB8-403F-883C-D29E41C7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790700"/>
            <a:ext cx="561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convberturk_light</a:t>
            </a:r>
          </a:p>
        </p:txBody>
      </p:sp>
      <p:pic>
        <p:nvPicPr>
          <p:cNvPr id="9" name="appendix-image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14384cdcab42a6"/>
          <a:stretch xmlns:a="http://schemas.openxmlformats.org/drawingml/2006/main"/>
        </p:blipFill>
        <p:spPr>
          <a:xfrm xmlns:a="http://schemas.openxmlformats.org/drawingml/2006/main">
            <a:off x="12754864" y="2045970"/>
            <a:ext cx="4462272" cy="371856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7423E2-B712-4D81-9C97-5DE713D1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0"/>
            <a:ext cx="561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electra_light</a:t>
            </a:r>
          </a:p>
        </p:txBody>
      </p:sp>
      <p:pic>
        <p:nvPicPr>
          <p:cNvPr id="11" name="appendix-image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c5dccb49364f34"/>
          <a:stretch xmlns:a="http://schemas.openxmlformats.org/drawingml/2006/main"/>
        </p:blipFill>
        <p:spPr>
          <a:xfrm xmlns:a="http://schemas.openxmlformats.org/drawingml/2006/main">
            <a:off x="1070864" y="6149340"/>
            <a:ext cx="4462272" cy="371856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DC1A7E-90ED-4AD7-9BB2-9BB1D8CC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905500"/>
            <a:ext cx="561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turkishbertweet_light</a:t>
            </a:r>
          </a:p>
        </p:txBody>
      </p:sp>
      <p:pic>
        <p:nvPicPr>
          <p:cNvPr id="13" name="appendix-image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21c1c6506e44ca"/>
          <a:stretch xmlns:a="http://schemas.openxmlformats.org/drawingml/2006/main"/>
        </p:blipFill>
        <p:spPr>
          <a:xfrm xmlns:a="http://schemas.openxmlformats.org/drawingml/2006/main">
            <a:off x="6912864" y="6149340"/>
            <a:ext cx="4462272" cy="371856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6138C1-78B3-49E3-9557-7931BDCB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905500"/>
            <a:ext cx="561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xlm_r_light</a:t>
            </a:r>
          </a:p>
        </p:txBody>
      </p:sp>
      <p:pic>
        <p:nvPicPr>
          <p:cNvPr id="15" name="appendix-image-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b8f426d9e846c4"/>
          <a:stretch xmlns:a="http://schemas.openxmlformats.org/drawingml/2006/main"/>
        </p:blipFill>
        <p:spPr>
          <a:xfrm xmlns:a="http://schemas.openxmlformats.org/drawingml/2006/main">
            <a:off x="12754864" y="6149340"/>
            <a:ext cx="4462272" cy="37185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6986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2026-05-11T12:05:38.2570000Z</dcterms:created>
  <dcterms:modified xsi:type="dcterms:W3CDTF">2026-05-11T12:05:38.2570000Z</dcterms:modified>
</coreProperties>
</file>